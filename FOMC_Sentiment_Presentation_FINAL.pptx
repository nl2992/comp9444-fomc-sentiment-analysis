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media/image34.svg" ContentType="image/svg+xml"/>
  <Override PartName="/ppt/media/image36.svg" ContentType="image/svg+xml"/>
  <Override PartName="/ppt/media/image3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handoutMasterIdLst>
    <p:handoutMasterId r:id="rId35"/>
  </p:handoutMasterIdLst>
  <p:sldIdLst>
    <p:sldId id="265" r:id="rId2"/>
    <p:sldId id="421" r:id="rId3"/>
    <p:sldId id="444" r:id="rId4"/>
    <p:sldId id="458" r:id="rId5"/>
    <p:sldId id="457" r:id="rId6"/>
    <p:sldId id="456" r:id="rId7"/>
    <p:sldId id="455" r:id="rId8"/>
    <p:sldId id="471" r:id="rId9"/>
    <p:sldId id="454" r:id="rId10"/>
    <p:sldId id="446" r:id="rId11"/>
    <p:sldId id="472" r:id="rId12"/>
    <p:sldId id="448" r:id="rId13"/>
    <p:sldId id="473" r:id="rId14"/>
    <p:sldId id="474" r:id="rId15"/>
    <p:sldId id="449" r:id="rId16"/>
    <p:sldId id="451" r:id="rId17"/>
    <p:sldId id="460" r:id="rId18"/>
    <p:sldId id="450" r:id="rId19"/>
    <p:sldId id="447" r:id="rId20"/>
    <p:sldId id="453" r:id="rId21"/>
    <p:sldId id="443" r:id="rId22"/>
    <p:sldId id="459" r:id="rId23"/>
    <p:sldId id="461" r:id="rId24"/>
    <p:sldId id="464" r:id="rId25"/>
    <p:sldId id="465" r:id="rId26"/>
    <p:sldId id="462" r:id="rId27"/>
    <p:sldId id="468" r:id="rId28"/>
    <p:sldId id="469" r:id="rId29"/>
    <p:sldId id="463" r:id="rId30"/>
    <p:sldId id="467" r:id="rId31"/>
    <p:sldId id="466" r:id="rId32"/>
    <p:sldId id="47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0B10CE5-6882-2DE7-9902-BAC4E601EA9A}" name="Ramtin Gharleghi" initials="RG" userId="S::z5190098@ad.unsw.edu.au::2d9e2e9d-6010-4e5a-81fc-9c56bfbf9f7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BDBDC"/>
    <a:srgbClr val="003265"/>
    <a:srgbClr val="4372C4"/>
    <a:srgbClr val="D6DDE5"/>
    <a:srgbClr val="CCE0FF"/>
    <a:srgbClr val="99C2FF"/>
    <a:srgbClr val="66A3E0"/>
    <a:srgbClr val="0F9293"/>
    <a:srgbClr val="003469"/>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47"/>
    <p:restoredTop sz="93338" autoAdjust="0"/>
  </p:normalViewPr>
  <p:slideViewPr>
    <p:cSldViewPr snapToGrid="0">
      <p:cViewPr>
        <p:scale>
          <a:sx n="76" d="100"/>
          <a:sy n="76" d="100"/>
        </p:scale>
        <p:origin x="-1856" y="8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handoutMaster" Target="handoutMasters/handout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4FCFEB-8D6C-C3C9-0E3B-0D626B8D4C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a:extLst>
              <a:ext uri="{FF2B5EF4-FFF2-40B4-BE49-F238E27FC236}">
                <a16:creationId xmlns:a16="http://schemas.microsoft.com/office/drawing/2014/main" id="{9C6318B1-E95B-2162-25FC-6A643F492AD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92CE1B-BB9F-45A9-BACC-98FF3D2D4F2E}" type="datetimeFigureOut">
              <a:rPr lang="en-AU" smtClean="0"/>
              <a:t>15/11/2024</a:t>
            </a:fld>
            <a:endParaRPr lang="en-AU"/>
          </a:p>
        </p:txBody>
      </p:sp>
      <p:sp>
        <p:nvSpPr>
          <p:cNvPr id="4" name="Footer Placeholder 3">
            <a:extLst>
              <a:ext uri="{FF2B5EF4-FFF2-40B4-BE49-F238E27FC236}">
                <a16:creationId xmlns:a16="http://schemas.microsoft.com/office/drawing/2014/main" id="{6E133E35-C80A-9E70-5C2C-35376FBF37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a:extLst>
              <a:ext uri="{FF2B5EF4-FFF2-40B4-BE49-F238E27FC236}">
                <a16:creationId xmlns:a16="http://schemas.microsoft.com/office/drawing/2014/main" id="{0FB7AB53-2769-CE79-0FFA-D4B76B84D5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4EF8CF-0F8A-4BD6-9CE5-A84D18797DC9}" type="slidenum">
              <a:rPr lang="en-AU" smtClean="0"/>
              <a:t>‹#›</a:t>
            </a:fld>
            <a:endParaRPr lang="en-AU"/>
          </a:p>
        </p:txBody>
      </p:sp>
    </p:spTree>
    <p:extLst>
      <p:ext uri="{BB962C8B-B14F-4D97-AF65-F5344CB8AC3E}">
        <p14:creationId xmlns:p14="http://schemas.microsoft.com/office/powerpoint/2010/main" val="104049067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7A9E51-4ABD-4B03-A80E-627F14CF22A5}" type="datetimeFigureOut">
              <a:rPr lang="en-AU" smtClean="0"/>
              <a:t>15/11/2024</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EFAD0F-5D97-4C49-B145-C57DEFFF189B}" type="slidenum">
              <a:rPr lang="en-AU" smtClean="0"/>
              <a:t>‹#›</a:t>
            </a:fld>
            <a:endParaRPr lang="en-AU"/>
          </a:p>
        </p:txBody>
      </p:sp>
    </p:spTree>
    <p:extLst>
      <p:ext uri="{BB962C8B-B14F-4D97-AF65-F5344CB8AC3E}">
        <p14:creationId xmlns:p14="http://schemas.microsoft.com/office/powerpoint/2010/main" val="5489710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EFAD0F-5D97-4C49-B145-C57DEFFF189B}" type="slidenum">
              <a:rPr lang="en-AU" smtClean="0"/>
              <a:t>2</a:t>
            </a:fld>
            <a:endParaRPr lang="en-AU"/>
          </a:p>
        </p:txBody>
      </p:sp>
    </p:spTree>
    <p:extLst>
      <p:ext uri="{BB962C8B-B14F-4D97-AF65-F5344CB8AC3E}">
        <p14:creationId xmlns:p14="http://schemas.microsoft.com/office/powerpoint/2010/main" val="3053627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split - we can cut; just mention 80/20 split for our training</a:t>
            </a:r>
          </a:p>
        </p:txBody>
      </p:sp>
      <p:sp>
        <p:nvSpPr>
          <p:cNvPr id="4" name="Slide Number Placeholder 3"/>
          <p:cNvSpPr>
            <a:spLocks noGrp="1"/>
          </p:cNvSpPr>
          <p:nvPr>
            <p:ph type="sldNum" sz="quarter" idx="5"/>
          </p:nvPr>
        </p:nvSpPr>
        <p:spPr/>
        <p:txBody>
          <a:bodyPr/>
          <a:lstStyle/>
          <a:p>
            <a:fld id="{19EFAD0F-5D97-4C49-B145-C57DEFFF189B}" type="slidenum">
              <a:rPr lang="en-AU" smtClean="0"/>
              <a:t>10</a:t>
            </a:fld>
            <a:endParaRPr lang="en-AU"/>
          </a:p>
        </p:txBody>
      </p:sp>
    </p:spTree>
    <p:extLst>
      <p:ext uri="{BB962C8B-B14F-4D97-AF65-F5344CB8AC3E}">
        <p14:creationId xmlns:p14="http://schemas.microsoft.com/office/powerpoint/2010/main" val="402618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EFAD0F-5D97-4C49-B145-C57DEFFF189B}" type="slidenum">
              <a:rPr lang="en-AU" smtClean="0"/>
              <a:t>16</a:t>
            </a:fld>
            <a:endParaRPr lang="en-AU"/>
          </a:p>
        </p:txBody>
      </p:sp>
    </p:spTree>
    <p:extLst>
      <p:ext uri="{BB962C8B-B14F-4D97-AF65-F5344CB8AC3E}">
        <p14:creationId xmlns:p14="http://schemas.microsoft.com/office/powerpoint/2010/main" val="3167443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EFAD0F-5D97-4C49-B145-C57DEFFF189B}" type="slidenum">
              <a:rPr lang="en-AU" smtClean="0"/>
              <a:t>20</a:t>
            </a:fld>
            <a:endParaRPr lang="en-AU"/>
          </a:p>
        </p:txBody>
      </p:sp>
    </p:spTree>
    <p:extLst>
      <p:ext uri="{BB962C8B-B14F-4D97-AF65-F5344CB8AC3E}">
        <p14:creationId xmlns:p14="http://schemas.microsoft.com/office/powerpoint/2010/main" val="40073952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9CC69-1DB5-8B4C-E984-537775889A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746AB9C-35E1-72A7-C1BD-2A68ABDF5C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63BADF0C-51C6-7419-3D8D-CE50A38B869C}"/>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65DC2B86-F199-D6C7-6508-0F212835FAC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76CA229-935C-8099-0E86-5ECC48D06E93}"/>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4175518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DEDE7-E9E0-024D-ECA2-08E54B25DB1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C017D77A-76FB-85A4-F394-25213E4C8E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EDFCDC2-DAA7-2417-8C12-59AD99F73D00}"/>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5294E4FE-3DEB-1A78-A982-79D37BE3DDB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0F844F9-28BE-776B-9E9D-2D8B60BFE349}"/>
              </a:ext>
            </a:extLst>
          </p:cNvPr>
          <p:cNvSpPr>
            <a:spLocks noGrp="1"/>
          </p:cNvSpPr>
          <p:nvPr>
            <p:ph type="sldNum" sz="quarter" idx="12"/>
          </p:nvPr>
        </p:nvSpPr>
        <p:spPr/>
        <p:txBody>
          <a:bodyPr/>
          <a:lstStyle/>
          <a:p>
            <a:fld id="{6BAD6A8B-B5C3-4437-A9DE-A8C2149171DD}" type="slidenum">
              <a:rPr lang="en-AU" smtClean="0"/>
              <a:t>‹#›</a:t>
            </a:fld>
            <a:endParaRPr lang="en-AU"/>
          </a:p>
        </p:txBody>
      </p:sp>
      <p:cxnSp>
        <p:nvCxnSpPr>
          <p:cNvPr id="8" name="Straight Connector 7">
            <a:extLst>
              <a:ext uri="{FF2B5EF4-FFF2-40B4-BE49-F238E27FC236}">
                <a16:creationId xmlns:a16="http://schemas.microsoft.com/office/drawing/2014/main" id="{A479EB26-B223-BE53-A0DF-2A109701338B}"/>
              </a:ext>
            </a:extLst>
          </p:cNvPr>
          <p:cNvCxnSpPr/>
          <p:nvPr userDrawn="1"/>
        </p:nvCxnSpPr>
        <p:spPr>
          <a:xfrm>
            <a:off x="838200" y="1398494"/>
            <a:ext cx="10726271"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620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646D2-4849-55F2-9EDF-A792D2D5D8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2DA57F27-84A0-5427-C58F-7B0A3B7D359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151D2F-4DB1-E58D-F5B2-22856EBD9F09}"/>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2564215E-C1E7-0772-7B69-C49D663C038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2C38AE6-A79D-47C3-230B-1AC81712ABCB}"/>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156065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A1BEC-192D-937E-DA59-2C1E6F928567}"/>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B84B18E9-9BA1-6BDC-7D49-312A5A52B1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412D44C6-412A-DD4D-862D-B5E514E9B1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C7240C3E-1460-3B32-C784-A5390B819409}"/>
              </a:ext>
            </a:extLst>
          </p:cNvPr>
          <p:cNvSpPr>
            <a:spLocks noGrp="1"/>
          </p:cNvSpPr>
          <p:nvPr>
            <p:ph type="dt" sz="half" idx="10"/>
          </p:nvPr>
        </p:nvSpPr>
        <p:spPr/>
        <p:txBody>
          <a:bodyPr/>
          <a:lstStyle/>
          <a:p>
            <a:endParaRPr lang="en-AU"/>
          </a:p>
        </p:txBody>
      </p:sp>
      <p:sp>
        <p:nvSpPr>
          <p:cNvPr id="6" name="Footer Placeholder 5">
            <a:extLst>
              <a:ext uri="{FF2B5EF4-FFF2-40B4-BE49-F238E27FC236}">
                <a16:creationId xmlns:a16="http://schemas.microsoft.com/office/drawing/2014/main" id="{8D6C3E9E-91F4-68EB-3214-136D87F19ED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FAA5AB8-7D83-5F63-650F-2F42E603A9D0}"/>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298495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89673-788D-CEB8-3CAB-5325857C7632}"/>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E7A4327-CB54-2F05-89B1-AE24F04363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E392B2-77BB-A618-6A0F-13C2A2CD9F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B2758D8B-E275-A357-1522-80C6F2515F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DB81CE-9484-C3CC-76E1-DBC0AAD00E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87C95D1-9F2A-BFEE-8F8A-A71FEA5D4B6C}"/>
              </a:ext>
            </a:extLst>
          </p:cNvPr>
          <p:cNvSpPr>
            <a:spLocks noGrp="1"/>
          </p:cNvSpPr>
          <p:nvPr>
            <p:ph type="dt" sz="half" idx="10"/>
          </p:nvPr>
        </p:nvSpPr>
        <p:spPr/>
        <p:txBody>
          <a:bodyPr/>
          <a:lstStyle/>
          <a:p>
            <a:endParaRPr lang="en-AU"/>
          </a:p>
        </p:txBody>
      </p:sp>
      <p:sp>
        <p:nvSpPr>
          <p:cNvPr id="8" name="Footer Placeholder 7">
            <a:extLst>
              <a:ext uri="{FF2B5EF4-FFF2-40B4-BE49-F238E27FC236}">
                <a16:creationId xmlns:a16="http://schemas.microsoft.com/office/drawing/2014/main" id="{BD2A9D27-286A-0CD0-536E-3C31470F9E37}"/>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C683C16E-2B21-4D45-0DB5-880C81E3FE32}"/>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1580152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30EBF-8DA3-0A25-1033-CC234E8A462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545438F8-89A1-A067-F8E9-70C1687FAED1}"/>
              </a:ext>
            </a:extLst>
          </p:cNvPr>
          <p:cNvSpPr>
            <a:spLocks noGrp="1"/>
          </p:cNvSpPr>
          <p:nvPr>
            <p:ph type="dt" sz="half" idx="10"/>
          </p:nvPr>
        </p:nvSpPr>
        <p:spPr/>
        <p:txBody>
          <a:bodyPr/>
          <a:lstStyle/>
          <a:p>
            <a:endParaRPr lang="en-AU"/>
          </a:p>
        </p:txBody>
      </p:sp>
      <p:sp>
        <p:nvSpPr>
          <p:cNvPr id="4" name="Footer Placeholder 3">
            <a:extLst>
              <a:ext uri="{FF2B5EF4-FFF2-40B4-BE49-F238E27FC236}">
                <a16:creationId xmlns:a16="http://schemas.microsoft.com/office/drawing/2014/main" id="{25613E1D-0C4A-5D32-26F9-1BCEB8481A5E}"/>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D2DFB03E-F9B4-2433-81E1-3BD50D86FCF8}"/>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63586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8F21A5-757D-D6A3-9443-5A6371AF2C16}"/>
              </a:ext>
            </a:extLst>
          </p:cNvPr>
          <p:cNvSpPr>
            <a:spLocks noGrp="1"/>
          </p:cNvSpPr>
          <p:nvPr>
            <p:ph type="dt" sz="half" idx="10"/>
          </p:nvPr>
        </p:nvSpPr>
        <p:spPr/>
        <p:txBody>
          <a:bodyPr/>
          <a:lstStyle/>
          <a:p>
            <a:endParaRPr lang="en-AU"/>
          </a:p>
        </p:txBody>
      </p:sp>
      <p:sp>
        <p:nvSpPr>
          <p:cNvPr id="3" name="Footer Placeholder 2">
            <a:extLst>
              <a:ext uri="{FF2B5EF4-FFF2-40B4-BE49-F238E27FC236}">
                <a16:creationId xmlns:a16="http://schemas.microsoft.com/office/drawing/2014/main" id="{42F14B1B-5FF6-8469-6441-EB5B8B69B1E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512CD0E0-0D21-6F48-935E-F6B75CC63DE4}"/>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3517152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DA84B-7940-7822-2557-A9F64C4F63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431BFA02-B7AD-C565-8B71-EBFE90B147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1DC65417-3DB2-4D8D-8200-BD30635C58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250B6C3-E111-C7CB-AC6A-CC00EF12A63A}"/>
              </a:ext>
            </a:extLst>
          </p:cNvPr>
          <p:cNvSpPr>
            <a:spLocks noGrp="1"/>
          </p:cNvSpPr>
          <p:nvPr>
            <p:ph type="dt" sz="half" idx="10"/>
          </p:nvPr>
        </p:nvSpPr>
        <p:spPr/>
        <p:txBody>
          <a:bodyPr/>
          <a:lstStyle/>
          <a:p>
            <a:endParaRPr lang="en-AU"/>
          </a:p>
        </p:txBody>
      </p:sp>
      <p:sp>
        <p:nvSpPr>
          <p:cNvPr id="6" name="Footer Placeholder 5">
            <a:extLst>
              <a:ext uri="{FF2B5EF4-FFF2-40B4-BE49-F238E27FC236}">
                <a16:creationId xmlns:a16="http://schemas.microsoft.com/office/drawing/2014/main" id="{F88C9C6B-73DF-DF29-7D8E-406889E845D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E5FA417-731E-9727-AF6F-6D28C1550517}"/>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15778389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92BEE-A08A-4C6E-7CF0-B5E142A6A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0CB7E99-09CB-4FCE-7697-4152BD23EA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B76087A-FE5D-60D9-AE0C-90223805AB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EC7038-77D9-3267-A27B-7B49BB1DB3B1}"/>
              </a:ext>
            </a:extLst>
          </p:cNvPr>
          <p:cNvSpPr>
            <a:spLocks noGrp="1"/>
          </p:cNvSpPr>
          <p:nvPr>
            <p:ph type="dt" sz="half" idx="10"/>
          </p:nvPr>
        </p:nvSpPr>
        <p:spPr/>
        <p:txBody>
          <a:bodyPr/>
          <a:lstStyle/>
          <a:p>
            <a:endParaRPr lang="en-AU"/>
          </a:p>
        </p:txBody>
      </p:sp>
      <p:sp>
        <p:nvSpPr>
          <p:cNvPr id="6" name="Footer Placeholder 5">
            <a:extLst>
              <a:ext uri="{FF2B5EF4-FFF2-40B4-BE49-F238E27FC236}">
                <a16:creationId xmlns:a16="http://schemas.microsoft.com/office/drawing/2014/main" id="{C54014C3-2621-ED8B-BAFE-7382D98EBBE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C83137F-F472-9F0A-46F3-68538886EFBC}"/>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802597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E9202-C610-B140-08AE-44A7A81AE15D}"/>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52C6ED7-FC32-3714-E040-43D1C4BE2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5690846-30E1-0BAF-95AF-2C33ADEE6F96}"/>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02EBE872-C7C3-B46E-9774-8FB6415FB2A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F6FBA00-691F-09A6-F95B-E68F8744BC6C}"/>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186755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9E502C-2424-B094-C539-7DA0B74C68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C953B7A-E936-2389-15BD-97911F5B1F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E08DFD5-019B-E5BD-82F1-29E012B370F6}"/>
              </a:ext>
            </a:extLst>
          </p:cNvPr>
          <p:cNvSpPr>
            <a:spLocks noGrp="1"/>
          </p:cNvSpPr>
          <p:nvPr>
            <p:ph type="dt" sz="half" idx="10"/>
          </p:nvPr>
        </p:nvSpPr>
        <p:spPr/>
        <p:txBody>
          <a:bodyPr/>
          <a:lstStyle/>
          <a:p>
            <a:endParaRPr lang="en-AU"/>
          </a:p>
        </p:txBody>
      </p:sp>
      <p:sp>
        <p:nvSpPr>
          <p:cNvPr id="5" name="Footer Placeholder 4">
            <a:extLst>
              <a:ext uri="{FF2B5EF4-FFF2-40B4-BE49-F238E27FC236}">
                <a16:creationId xmlns:a16="http://schemas.microsoft.com/office/drawing/2014/main" id="{BEF73B12-943B-CDB8-92BA-AA488F9AD7B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BFD7ABB-25EC-73C5-D340-E23440DCE824}"/>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9510053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70D427A-31A8-804F-A88E-B2237F6FF8DD}"/>
              </a:ext>
            </a:extLst>
          </p:cNvPr>
          <p:cNvSpPr/>
          <p:nvPr userDrawn="1"/>
        </p:nvSpPr>
        <p:spPr>
          <a:xfrm rot="5400000">
            <a:off x="5706291" y="372292"/>
            <a:ext cx="779419" cy="12192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4"/>
          </a:p>
        </p:txBody>
      </p:sp>
      <p:pic>
        <p:nvPicPr>
          <p:cNvPr id="8" name="Picture 7" descr="A picture containing food&#10;&#10;Description automatically generated">
            <a:extLst>
              <a:ext uri="{FF2B5EF4-FFF2-40B4-BE49-F238E27FC236}">
                <a16:creationId xmlns:a16="http://schemas.microsoft.com/office/drawing/2014/main" id="{3919BA19-F123-3B46-B077-C952C919A7DB}"/>
              </a:ext>
            </a:extLst>
          </p:cNvPr>
          <p:cNvPicPr>
            <a:picLocks noChangeAspect="1"/>
          </p:cNvPicPr>
          <p:nvPr userDrawn="1"/>
        </p:nvPicPr>
        <p:blipFill>
          <a:blip r:embed="rId2"/>
          <a:stretch>
            <a:fillRect/>
          </a:stretch>
        </p:blipFill>
        <p:spPr>
          <a:xfrm>
            <a:off x="11507849" y="6139546"/>
            <a:ext cx="598271" cy="701040"/>
          </a:xfrm>
          <a:prstGeom prst="rect">
            <a:avLst/>
          </a:prstGeom>
        </p:spPr>
      </p:pic>
      <p:sp>
        <p:nvSpPr>
          <p:cNvPr id="4" name="Title Placeholder 1">
            <a:extLst>
              <a:ext uri="{FF2B5EF4-FFF2-40B4-BE49-F238E27FC236}">
                <a16:creationId xmlns:a16="http://schemas.microsoft.com/office/drawing/2014/main" id="{EC14B686-A7B8-C34E-BD3F-17AD72808B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lvl1pPr>
              <a:defRPr>
                <a:latin typeface="Arial" panose="020B0604020202020204" pitchFamily="34" charset="0"/>
                <a:ea typeface="Roboto" panose="02000000000000000000" pitchFamily="2" charset="0"/>
                <a:cs typeface="Arial" panose="020B0604020202020204" pitchFamily="34" charset="0"/>
              </a:defRPr>
            </a:lvl1pPr>
          </a:lstStyle>
          <a:p>
            <a:r>
              <a:rPr lang="en-GB"/>
              <a:t>Click to edit Master title style</a:t>
            </a:r>
            <a:endParaRPr lang="en-US"/>
          </a:p>
        </p:txBody>
      </p:sp>
      <p:sp>
        <p:nvSpPr>
          <p:cNvPr id="5" name="Text Placeholder 2">
            <a:extLst>
              <a:ext uri="{FF2B5EF4-FFF2-40B4-BE49-F238E27FC236}">
                <a16:creationId xmlns:a16="http://schemas.microsoft.com/office/drawing/2014/main" id="{99B41C51-D68E-9449-86C7-CBC06D1C8A04}"/>
              </a:ext>
            </a:extLst>
          </p:cNvPr>
          <p:cNvSpPr>
            <a:spLocks noGrp="1"/>
          </p:cNvSpPr>
          <p:nvPr>
            <p:ph idx="1"/>
          </p:nvPr>
        </p:nvSpPr>
        <p:spPr>
          <a:xfrm>
            <a:off x="838200" y="1825625"/>
            <a:ext cx="10515600" cy="4088158"/>
          </a:xfrm>
          <a:prstGeom prst="rect">
            <a:avLst/>
          </a:prstGeom>
        </p:spPr>
        <p:txBody>
          <a:bodyPr vert="horz" lIns="91440" tIns="45720" rIns="91440" bIns="45720" rtlCol="0">
            <a:normAutofit/>
          </a:bodyPr>
          <a:lstStyle>
            <a:lvl1pPr>
              <a:defRPr>
                <a:latin typeface="Arial" panose="020B0604020202020204" pitchFamily="34" charset="0"/>
                <a:ea typeface="Roboto" panose="02000000000000000000" pitchFamily="2" charset="0"/>
                <a:cs typeface="Arial" panose="020B0604020202020204" pitchFamily="34" charset="0"/>
              </a:defRPr>
            </a:lvl1pPr>
            <a:lvl2pPr>
              <a:defRPr>
                <a:latin typeface="Arial" panose="020B0604020202020204" pitchFamily="34" charset="0"/>
                <a:ea typeface="Roboto" panose="02000000000000000000" pitchFamily="2" charset="0"/>
                <a:cs typeface="Arial" panose="020B0604020202020204" pitchFamily="34" charset="0"/>
              </a:defRPr>
            </a:lvl2pPr>
            <a:lvl3pPr>
              <a:defRPr>
                <a:latin typeface="Arial" panose="020B0604020202020204" pitchFamily="34" charset="0"/>
                <a:ea typeface="Roboto" panose="02000000000000000000" pitchFamily="2" charset="0"/>
                <a:cs typeface="Arial" panose="020B0604020202020204" pitchFamily="34" charset="0"/>
              </a:defRPr>
            </a:lvl3pPr>
            <a:lvl4pPr>
              <a:defRPr>
                <a:latin typeface="Arial" panose="020B0604020202020204" pitchFamily="34" charset="0"/>
                <a:ea typeface="Roboto" panose="02000000000000000000" pitchFamily="2" charset="0"/>
                <a:cs typeface="Arial" panose="020B0604020202020204" pitchFamily="34" charset="0"/>
              </a:defRPr>
            </a:lvl4pPr>
            <a:lvl5pPr>
              <a:defRPr>
                <a:latin typeface="Arial" panose="020B0604020202020204" pitchFamily="34" charset="0"/>
                <a:ea typeface="Roboto" panose="02000000000000000000" pitchFamily="2" charset="0"/>
                <a:cs typeface="Arial" panose="020B0604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Date Placeholder 1">
            <a:extLst>
              <a:ext uri="{FF2B5EF4-FFF2-40B4-BE49-F238E27FC236}">
                <a16:creationId xmlns:a16="http://schemas.microsoft.com/office/drawing/2014/main" id="{A183BF01-419E-0890-7FE1-A0EF7A192F51}"/>
              </a:ext>
            </a:extLst>
          </p:cNvPr>
          <p:cNvSpPr>
            <a:spLocks noGrp="1"/>
          </p:cNvSpPr>
          <p:nvPr>
            <p:ph type="dt" sz="half" idx="10"/>
          </p:nvPr>
        </p:nvSpPr>
        <p:spPr/>
        <p:txBody>
          <a:bodyPr/>
          <a:lstStyle/>
          <a:p>
            <a:endParaRPr lang="en-AU"/>
          </a:p>
        </p:txBody>
      </p:sp>
      <p:sp>
        <p:nvSpPr>
          <p:cNvPr id="3" name="Footer Placeholder 2">
            <a:extLst>
              <a:ext uri="{FF2B5EF4-FFF2-40B4-BE49-F238E27FC236}">
                <a16:creationId xmlns:a16="http://schemas.microsoft.com/office/drawing/2014/main" id="{B1BC6101-507B-F3EE-D41C-583775C6FD7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4985946-5ABD-9B6F-9732-CD57BE2421A0}"/>
              </a:ext>
            </a:extLst>
          </p:cNvPr>
          <p:cNvSpPr>
            <a:spLocks noGrp="1"/>
          </p:cNvSpPr>
          <p:nvPr>
            <p:ph type="sldNum" sz="quarter" idx="12"/>
          </p:nvPr>
        </p:nvSpPr>
        <p:spPr/>
        <p:txBody>
          <a:bodyPr/>
          <a:lstStyle/>
          <a:p>
            <a:fld id="{6BAD6A8B-B5C3-4437-A9DE-A8C2149171DD}" type="slidenum">
              <a:rPr lang="en-AU" smtClean="0"/>
              <a:t>‹#›</a:t>
            </a:fld>
            <a:endParaRPr lang="en-AU"/>
          </a:p>
        </p:txBody>
      </p:sp>
    </p:spTree>
    <p:extLst>
      <p:ext uri="{BB962C8B-B14F-4D97-AF65-F5344CB8AC3E}">
        <p14:creationId xmlns:p14="http://schemas.microsoft.com/office/powerpoint/2010/main" val="2495491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F9CB962-B705-314A-93E0-7EFEF584C6D7}"/>
              </a:ext>
            </a:extLst>
          </p:cNvPr>
          <p:cNvSpPr/>
          <p:nvPr userDrawn="1"/>
        </p:nvSpPr>
        <p:spPr>
          <a:xfrm>
            <a:off x="1" y="1"/>
            <a:ext cx="5543550" cy="6858000"/>
          </a:xfrm>
          <a:prstGeom prst="rect">
            <a:avLst/>
          </a:prstGeom>
          <a:solidFill>
            <a:srgbClr val="FFD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08A4A11-68D0-0342-99AF-D474A68AB20A}"/>
              </a:ext>
            </a:extLst>
          </p:cNvPr>
          <p:cNvPicPr>
            <a:picLocks noChangeAspect="1"/>
          </p:cNvPicPr>
          <p:nvPr userDrawn="1"/>
        </p:nvPicPr>
        <p:blipFill>
          <a:blip r:embed="rId2"/>
          <a:stretch>
            <a:fillRect/>
          </a:stretch>
        </p:blipFill>
        <p:spPr>
          <a:xfrm rot="2999759">
            <a:off x="1292068" y="-612610"/>
            <a:ext cx="5135041" cy="7002330"/>
          </a:xfrm>
          <a:prstGeom prst="rect">
            <a:avLst/>
          </a:prstGeom>
        </p:spPr>
      </p:pic>
      <p:pic>
        <p:nvPicPr>
          <p:cNvPr id="11" name="Picture 10">
            <a:extLst>
              <a:ext uri="{FF2B5EF4-FFF2-40B4-BE49-F238E27FC236}">
                <a16:creationId xmlns:a16="http://schemas.microsoft.com/office/drawing/2014/main" id="{C6E5ACA8-1A29-9F40-A4E7-578A7ACF5CD2}"/>
              </a:ext>
            </a:extLst>
          </p:cNvPr>
          <p:cNvPicPr>
            <a:picLocks noChangeAspect="1"/>
          </p:cNvPicPr>
          <p:nvPr userDrawn="1"/>
        </p:nvPicPr>
        <p:blipFill>
          <a:blip r:embed="rId3"/>
          <a:stretch>
            <a:fillRect/>
          </a:stretch>
        </p:blipFill>
        <p:spPr>
          <a:xfrm>
            <a:off x="415055" y="4792776"/>
            <a:ext cx="1760572" cy="1842248"/>
          </a:xfrm>
          <a:prstGeom prst="rect">
            <a:avLst/>
          </a:prstGeom>
        </p:spPr>
      </p:pic>
    </p:spTree>
    <p:extLst>
      <p:ext uri="{BB962C8B-B14F-4D97-AF65-F5344CB8AC3E}">
        <p14:creationId xmlns:p14="http://schemas.microsoft.com/office/powerpoint/2010/main" val="34168561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slide" Target="../slides/slide20.xml"/><Relationship Id="rId1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814D76-5DF1-A4E1-1338-B03D3642B4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DC58865-62AB-234F-36FF-19D673DE87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0927987-368E-CEF9-CAA0-8405857172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AU"/>
          </a:p>
        </p:txBody>
      </p:sp>
      <p:sp>
        <p:nvSpPr>
          <p:cNvPr id="5" name="Footer Placeholder 4">
            <a:extLst>
              <a:ext uri="{FF2B5EF4-FFF2-40B4-BE49-F238E27FC236}">
                <a16:creationId xmlns:a16="http://schemas.microsoft.com/office/drawing/2014/main" id="{56EC300B-6F01-71B4-9B2C-1056A57DE4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8A400E20-46EB-CC1D-6BF8-5489021285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BAD6A8B-B5C3-4437-A9DE-A8C2149171DD}" type="slidenum">
              <a:rPr lang="en-AU" smtClean="0"/>
              <a:t>‹#›</a:t>
            </a:fld>
            <a:endParaRPr lang="en-AU"/>
          </a:p>
        </p:txBody>
      </p:sp>
      <p:pic>
        <p:nvPicPr>
          <p:cNvPr id="7" name="Picture 6" descr="A close up of a logo&#10;&#10;Description automatically generated">
            <a:hlinkClick r:id="rId15" action="ppaction://hlinksldjump"/>
            <a:extLst>
              <a:ext uri="{FF2B5EF4-FFF2-40B4-BE49-F238E27FC236}">
                <a16:creationId xmlns:a16="http://schemas.microsoft.com/office/drawing/2014/main" id="{D2863EAD-FA6C-17F0-8038-1856E8A03365}"/>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192419" y="210039"/>
            <a:ext cx="2857500" cy="444500"/>
          </a:xfrm>
          <a:prstGeom prst="rect">
            <a:avLst/>
          </a:prstGeom>
        </p:spPr>
      </p:pic>
    </p:spTree>
    <p:extLst>
      <p:ext uri="{BB962C8B-B14F-4D97-AF65-F5344CB8AC3E}">
        <p14:creationId xmlns:p14="http://schemas.microsoft.com/office/powerpoint/2010/main" val="41972113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2.png"/><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7.png"/><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image" Target="../media/image35.png"/><Relationship Id="rId5" Type="http://schemas.openxmlformats.org/officeDocument/2006/relationships/image" Target="../media/image36.svg"/><Relationship Id="rId6" Type="http://schemas.openxmlformats.org/officeDocument/2006/relationships/image" Target="../media/image37.png"/><Relationship Id="rId7" Type="http://schemas.openxmlformats.org/officeDocument/2006/relationships/image" Target="../media/image38.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9.xml"/><Relationship Id="rId9" Type="http://schemas.openxmlformats.org/officeDocument/2006/relationships/slide" Target="slide10.xml"/><Relationship Id="rId10" Type="http://schemas.openxmlformats.org/officeDocument/2006/relationships/slide" Target="slide12.xml"/><Relationship Id="rId11" Type="http://schemas.openxmlformats.org/officeDocument/2006/relationships/slide" Target="slide15.xml"/><Relationship Id="rId12" Type="http://schemas.openxmlformats.org/officeDocument/2006/relationships/slide" Target="slide16.xml"/><Relationship Id="rId13" Type="http://schemas.openxmlformats.org/officeDocument/2006/relationships/slide" Target="slide17.xml"/><Relationship Id="rId14" Type="http://schemas.openxmlformats.org/officeDocument/2006/relationships/slide" Target="slide18.xml"/><Relationship Id="rId15" Type="http://schemas.openxmlformats.org/officeDocument/2006/relationships/slide" Target="slide19.xml"/><Relationship Id="rId16" Type="http://schemas.openxmlformats.org/officeDocument/2006/relationships/slide" Target="slide22.xml"/><Relationship Id="rId17" Type="http://schemas.openxmlformats.org/officeDocument/2006/relationships/slide" Target="slide23.xml"/><Relationship Id="rId18" Type="http://schemas.openxmlformats.org/officeDocument/2006/relationships/slide" Target="slide24.xml"/><Relationship Id="rId19" Type="http://schemas.openxmlformats.org/officeDocument/2006/relationships/slide" Target="slide25.xml"/><Relationship Id="rId20" Type="http://schemas.openxmlformats.org/officeDocument/2006/relationships/slide" Target="slide26.xml"/><Relationship Id="rId21" Type="http://schemas.openxmlformats.org/officeDocument/2006/relationships/slide" Target="slide27.xml"/><Relationship Id="rId22" Type="http://schemas.openxmlformats.org/officeDocument/2006/relationships/slide" Target="slide28.xml"/><Relationship Id="rId23" Type="http://schemas.openxmlformats.org/officeDocument/2006/relationships/slide" Target="slide29.xml"/><Relationship Id="rId24" Type="http://schemas.openxmlformats.org/officeDocument/2006/relationships/slide" Target="slide30.xml"/><Relationship Id="rId25" Type="http://schemas.openxmlformats.org/officeDocument/2006/relationships/slide" Target="slide31.xml"/><Relationship Id="rId26" Type="http://schemas.openxmlformats.org/officeDocument/2006/relationships/slide" Target="slide3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arxiv.org/pdf/2308.11519" TargetMode="External"/><Relationship Id="rId3" Type="http://schemas.openxmlformats.org/officeDocument/2006/relationships/hyperlink" Target="https://arxiv.org/html/2312.05589v2"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hyperlink" Target="https://arxiv.org/abs/1908.10063" TargetMode="External"/><Relationship Id="rId3" Type="http://schemas.openxmlformats.org/officeDocument/2006/relationships/hyperlink" Target="https://arxiv.org/abs/2308.10063" TargetMode="External"/><Relationship Id="rId4" Type="http://schemas.openxmlformats.org/officeDocument/2006/relationships/hyperlink" Target="https://arxiv.org/abs/2006.03654" TargetMode="External"/><Relationship Id="rId5" Type="http://schemas.openxmlformats.org/officeDocument/2006/relationships/hyperlink" Target="https://aclanthology.org/P18-1031/" TargetMode="External"/><Relationship Id="rId6" Type="http://schemas.openxmlformats.org/officeDocument/2006/relationships/hyperlink" Target="https://arxiv.org/abs/2308.11519" TargetMode="External"/><Relationship Id="rId7" Type="http://schemas.openxmlformats.org/officeDocument/2006/relationships/hyperlink" Target="https://arxiv.org/abs/1907.11692" TargetMode="External"/><Relationship Id="rId8" Type="http://schemas.openxmlformats.org/officeDocument/2006/relationships/hyperlink" Target="https://www.jstor.org/stable/29789771" TargetMode="External"/><Relationship Id="rId9" Type="http://schemas.openxmlformats.org/officeDocument/2006/relationships/hyperlink" Target="https://arxiv.org/abs/2401.12874v2" TargetMode="External"/><Relationship Id="rId10" Type="http://schemas.openxmlformats.org/officeDocument/2006/relationships/hyperlink" Target="https://www.mdpi.com/2079-9292/13/19/3876" TargetMode="External"/><Relationship Id="rId11" Type="http://schemas.openxmlformats.org/officeDocument/2006/relationships/hyperlink" Target="https://ieeexplore.ieee.org/document/920657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7DFF856-7F9C-9D4C-B764-1C7E4E7233C0}"/>
              </a:ext>
            </a:extLst>
          </p:cNvPr>
          <p:cNvSpPr txBox="1"/>
          <p:nvPr/>
        </p:nvSpPr>
        <p:spPr>
          <a:xfrm>
            <a:off x="542654" y="2255536"/>
            <a:ext cx="4536197" cy="2923877"/>
          </a:xfrm>
          <a:prstGeom prst="rect">
            <a:avLst/>
          </a:prstGeom>
          <a:noFill/>
        </p:spPr>
        <p:txBody>
          <a:bodyPr wrap="square" lIns="91440" tIns="45720" rIns="91440" bIns="45720" rtlCol="0" anchor="t">
            <a:spAutoFit/>
          </a:bodyPr>
          <a:lstStyle/>
          <a:p>
            <a:pPr algn="ctr"/>
            <a:r>
              <a:rPr lang="en-US" sz="4600" b="1" dirty="0">
                <a:latin typeface="Arial"/>
                <a:cs typeface="Arial"/>
              </a:rPr>
              <a:t>COMP9444: FOMC Sentiment Analysis</a:t>
            </a:r>
            <a:endParaRPr lang="en-US" sz="4600" b="1" dirty="0">
              <a:cs typeface="Calibri"/>
            </a:endParaRPr>
          </a:p>
        </p:txBody>
      </p:sp>
      <p:sp>
        <p:nvSpPr>
          <p:cNvPr id="3" name="TextBox 2">
            <a:extLst>
              <a:ext uri="{FF2B5EF4-FFF2-40B4-BE49-F238E27FC236}">
                <a16:creationId xmlns:a16="http://schemas.microsoft.com/office/drawing/2014/main" id="{5CCCC68E-A06E-1747-A719-B74DFB9FB81B}"/>
              </a:ext>
            </a:extLst>
          </p:cNvPr>
          <p:cNvSpPr txBox="1"/>
          <p:nvPr/>
        </p:nvSpPr>
        <p:spPr>
          <a:xfrm>
            <a:off x="5854749" y="2962126"/>
            <a:ext cx="6638005" cy="3046988"/>
          </a:xfrm>
          <a:prstGeom prst="rect">
            <a:avLst/>
          </a:prstGeom>
          <a:noFill/>
        </p:spPr>
        <p:txBody>
          <a:bodyPr wrap="square" lIns="91440" tIns="45720" rIns="91440" bIns="45720" rtlCol="0" anchor="t">
            <a:spAutoFit/>
          </a:bodyPr>
          <a:lstStyle/>
          <a:p>
            <a:pPr fontAlgn="base"/>
            <a:endParaRPr lang="en-US" sz="4000" dirty="0">
              <a:latin typeface="Arial" panose="020B0604020202020204" pitchFamily="34" charset="0"/>
              <a:cs typeface="Arial" panose="020B0604020202020204" pitchFamily="34" charset="0"/>
            </a:endParaRPr>
          </a:p>
          <a:p>
            <a:pPr fontAlgn="base"/>
            <a:endParaRPr lang="en-US" sz="4000" dirty="0">
              <a:latin typeface="Arial" panose="020B0604020202020204" pitchFamily="34" charset="0"/>
              <a:cs typeface="Arial" panose="020B0604020202020204" pitchFamily="34" charset="0"/>
            </a:endParaRPr>
          </a:p>
          <a:p>
            <a:pPr fontAlgn="base"/>
            <a:r>
              <a:rPr lang="en-US" sz="2800" dirty="0">
                <a:latin typeface="Arial" panose="020B0604020202020204" pitchFamily="34" charset="0"/>
                <a:cs typeface="Arial" panose="020B0604020202020204" pitchFamily="34" charset="0"/>
              </a:rPr>
              <a:t>Ying Bi                     (z5444398)</a:t>
            </a:r>
          </a:p>
          <a:p>
            <a:pPr fontAlgn="base"/>
            <a:r>
              <a:rPr lang="en-US" sz="2800" dirty="0">
                <a:latin typeface="Arial" panose="020B0604020202020204" pitchFamily="34" charset="0"/>
                <a:cs typeface="Arial" panose="020B0604020202020204" pitchFamily="34" charset="0"/>
              </a:rPr>
              <a:t>Wing Pui (Nigel) Li  (z5320405)</a:t>
            </a:r>
          </a:p>
          <a:p>
            <a:pPr fontAlgn="base"/>
            <a:r>
              <a:rPr lang="en-US" sz="2800" dirty="0">
                <a:latin typeface="Arial" panose="020B0604020202020204" pitchFamily="34" charset="0"/>
                <a:cs typeface="Arial" panose="020B0604020202020204" pitchFamily="34" charset="0"/>
              </a:rPr>
              <a:t>Zhenhua Liu            (z5433153)</a:t>
            </a:r>
          </a:p>
          <a:p>
            <a:pPr fontAlgn="base"/>
            <a:r>
              <a:rPr lang="en-US" sz="2800" dirty="0">
                <a:latin typeface="Arial" panose="020B0604020202020204" pitchFamily="34" charset="0"/>
                <a:cs typeface="Arial" panose="020B0604020202020204" pitchFamily="34" charset="0"/>
              </a:rPr>
              <a:t>Tong Zhang             (z5542524)</a:t>
            </a:r>
          </a:p>
        </p:txBody>
      </p:sp>
      <p:pic>
        <p:nvPicPr>
          <p:cNvPr id="6" name="Picture 5">
            <a:extLst>
              <a:ext uri="{FF2B5EF4-FFF2-40B4-BE49-F238E27FC236}">
                <a16:creationId xmlns:a16="http://schemas.microsoft.com/office/drawing/2014/main" id="{AF95A7F8-F2A2-EFC0-2817-0AC4F9CF110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44026" y="24512"/>
            <a:ext cx="3349808" cy="2231024"/>
          </a:xfrm>
          <a:prstGeom prst="rect">
            <a:avLst/>
          </a:prstGeom>
        </p:spPr>
      </p:pic>
      <p:pic>
        <p:nvPicPr>
          <p:cNvPr id="7" name="Picture 6">
            <a:extLst>
              <a:ext uri="{FF2B5EF4-FFF2-40B4-BE49-F238E27FC236}">
                <a16:creationId xmlns:a16="http://schemas.microsoft.com/office/drawing/2014/main" id="{E4451454-1966-ABEC-2BCE-90AA80F8BF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8935631" y="0"/>
            <a:ext cx="3204603" cy="2280048"/>
          </a:xfrm>
          <a:prstGeom prst="rect">
            <a:avLst/>
          </a:prstGeom>
        </p:spPr>
      </p:pic>
      <p:pic>
        <p:nvPicPr>
          <p:cNvPr id="4" name="Picture 3" descr="A close up of a logo&#10;&#10;Description automatically generated">
            <a:extLst>
              <a:ext uri="{FF2B5EF4-FFF2-40B4-BE49-F238E27FC236}">
                <a16:creationId xmlns:a16="http://schemas.microsoft.com/office/drawing/2014/main" id="{2A4E96E3-36FF-78E3-BAA2-ECE722B145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1158" y="2678435"/>
            <a:ext cx="4229371" cy="657902"/>
          </a:xfrm>
          <a:prstGeom prst="rect">
            <a:avLst/>
          </a:prstGeom>
        </p:spPr>
      </p:pic>
    </p:spTree>
    <p:extLst>
      <p:ext uri="{BB962C8B-B14F-4D97-AF65-F5344CB8AC3E}">
        <p14:creationId xmlns:p14="http://schemas.microsoft.com/office/powerpoint/2010/main" val="3413601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lstStyle/>
          <a:p>
            <a:r>
              <a:rPr lang="en-GB" dirty="0"/>
              <a:t>Motivation</a:t>
            </a:r>
            <a:endParaRPr lang="en-AU" dirty="0"/>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a:xfrm>
            <a:off x="8626073" y="6356350"/>
            <a:ext cx="2743200" cy="365125"/>
          </a:xfrm>
        </p:spPr>
        <p:txBody>
          <a:bodyPr/>
          <a:lstStyle/>
          <a:p>
            <a:fld id="{6BAD6A8B-B5C3-4437-A9DE-A8C2149171DD}" type="slidenum">
              <a:rPr lang="en-AU" smtClean="0"/>
              <a:t>2</a:t>
            </a:fld>
            <a:endParaRPr lang="en-AU" dirty="0"/>
          </a:p>
        </p:txBody>
      </p:sp>
      <p:sp>
        <p:nvSpPr>
          <p:cNvPr id="5" name="TextBox 4">
            <a:extLst>
              <a:ext uri="{FF2B5EF4-FFF2-40B4-BE49-F238E27FC236}">
                <a16:creationId xmlns:a16="http://schemas.microsoft.com/office/drawing/2014/main" id="{47471554-0422-62B8-814A-4ABC624E8E60}"/>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Nigel Li (z5320405)</a:t>
            </a:r>
          </a:p>
        </p:txBody>
      </p:sp>
      <p:cxnSp>
        <p:nvCxnSpPr>
          <p:cNvPr id="6" name="Google Shape;119;g12f20562990_0_39">
            <a:extLst>
              <a:ext uri="{FF2B5EF4-FFF2-40B4-BE49-F238E27FC236}">
                <a16:creationId xmlns:a16="http://schemas.microsoft.com/office/drawing/2014/main" id="{47F12288-CDF1-A707-87F4-8C0EBE021E74}"/>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grpSp>
        <p:nvGrpSpPr>
          <p:cNvPr id="8" name="Google Shape;121;g12f20562990_0_39">
            <a:extLst>
              <a:ext uri="{FF2B5EF4-FFF2-40B4-BE49-F238E27FC236}">
                <a16:creationId xmlns:a16="http://schemas.microsoft.com/office/drawing/2014/main" id="{ACB11B8C-8D59-C8A1-038D-FB0EC775FC75}"/>
              </a:ext>
            </a:extLst>
          </p:cNvPr>
          <p:cNvGrpSpPr/>
          <p:nvPr/>
        </p:nvGrpSpPr>
        <p:grpSpPr>
          <a:xfrm>
            <a:off x="2610855" y="6225545"/>
            <a:ext cx="6060176" cy="365125"/>
            <a:chOff x="1425588" y="6394039"/>
            <a:chExt cx="9340906" cy="363742"/>
          </a:xfrm>
        </p:grpSpPr>
        <p:sp>
          <p:nvSpPr>
            <p:cNvPr id="9" name="Google Shape;122;g12f20562990_0_39">
              <a:extLst>
                <a:ext uri="{FF2B5EF4-FFF2-40B4-BE49-F238E27FC236}">
                  <a16:creationId xmlns:a16="http://schemas.microsoft.com/office/drawing/2014/main" id="{67E17F02-B31F-02CB-95AD-4DC1B9440C4B}"/>
                </a:ext>
              </a:extLst>
            </p:cNvPr>
            <p:cNvSpPr/>
            <p:nvPr/>
          </p:nvSpPr>
          <p:spPr>
            <a:xfrm>
              <a:off x="1425588" y="6398681"/>
              <a:ext cx="19692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bg1"/>
                  </a:solidFill>
                  <a:latin typeface="+mj-lt"/>
                  <a:ea typeface="Avenir"/>
                  <a:cs typeface="Avenir"/>
                  <a:sym typeface="Avenir"/>
                </a:rPr>
                <a:t>Motivation</a:t>
              </a:r>
              <a:endParaRPr sz="1400" b="1" i="0" u="none" strike="noStrike" cap="none" dirty="0">
                <a:solidFill>
                  <a:schemeClr val="bg1"/>
                </a:solidFill>
                <a:latin typeface="+mj-lt"/>
                <a:sym typeface="Arial"/>
              </a:endParaRPr>
            </a:p>
          </p:txBody>
        </p:sp>
        <p:sp>
          <p:nvSpPr>
            <p:cNvPr id="10" name="Google Shape;123;g12f20562990_0_39">
              <a:extLst>
                <a:ext uri="{FF2B5EF4-FFF2-40B4-BE49-F238E27FC236}">
                  <a16:creationId xmlns:a16="http://schemas.microsoft.com/office/drawing/2014/main" id="{26651636-AB60-9E05-9753-284D95C4F2B8}"/>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11" name="Google Shape;124;g12f20562990_0_39">
              <a:extLst>
                <a:ext uri="{FF2B5EF4-FFF2-40B4-BE49-F238E27FC236}">
                  <a16:creationId xmlns:a16="http://schemas.microsoft.com/office/drawing/2014/main" id="{089AE29A-AACF-F707-A94A-1A9EDB6DD12F}"/>
                </a:ext>
              </a:extLst>
            </p:cNvPr>
            <p:cNvSpPr/>
            <p:nvPr/>
          </p:nvSpPr>
          <p:spPr>
            <a:xfrm>
              <a:off x="5152512" y="6398681"/>
              <a:ext cx="19833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dk1"/>
                  </a:solidFill>
                  <a:latin typeface="+mj-lt"/>
                  <a:sym typeface="Avenir"/>
                </a:rPr>
                <a:t>Literature</a:t>
              </a:r>
              <a:endParaRPr sz="1400" b="1" i="0" u="none" strike="noStrike" cap="none" dirty="0">
                <a:solidFill>
                  <a:srgbClr val="000000"/>
                </a:solidFill>
                <a:latin typeface="+mj-lt"/>
                <a:sym typeface="Arial"/>
              </a:endParaRPr>
            </a:p>
          </p:txBody>
        </p:sp>
        <p:sp>
          <p:nvSpPr>
            <p:cNvPr id="12" name="Google Shape;125;g12f20562990_0_39">
              <a:extLst>
                <a:ext uri="{FF2B5EF4-FFF2-40B4-BE49-F238E27FC236}">
                  <a16:creationId xmlns:a16="http://schemas.microsoft.com/office/drawing/2014/main" id="{BEA6AE0B-B7D3-2CC0-307B-DCABE3A40C1A}"/>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13" name="Google Shape;126;g12f20562990_0_39">
              <a:extLst>
                <a:ext uri="{FF2B5EF4-FFF2-40B4-BE49-F238E27FC236}">
                  <a16:creationId xmlns:a16="http://schemas.microsoft.com/office/drawing/2014/main" id="{7B827E3E-ADC0-01AB-63D9-219EEE05D76F}"/>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17" name="Google Shape;126;g12f20562990_0_39">
            <a:extLst>
              <a:ext uri="{FF2B5EF4-FFF2-40B4-BE49-F238E27FC236}">
                <a16:creationId xmlns:a16="http://schemas.microsoft.com/office/drawing/2014/main" id="{978D0896-6C43-813A-0B19-E5B50BBAA867}"/>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18" name="Google Shape;126;g12f20562990_0_39">
            <a:extLst>
              <a:ext uri="{FF2B5EF4-FFF2-40B4-BE49-F238E27FC236}">
                <a16:creationId xmlns:a16="http://schemas.microsoft.com/office/drawing/2014/main" id="{198B6D5D-FBBB-9B32-FF59-E95D13BFEE6C}"/>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cxnSp>
        <p:nvCxnSpPr>
          <p:cNvPr id="20" name="Google Shape;119;g12f20562990_0_39">
            <a:extLst>
              <a:ext uri="{FF2B5EF4-FFF2-40B4-BE49-F238E27FC236}">
                <a16:creationId xmlns:a16="http://schemas.microsoft.com/office/drawing/2014/main" id="{BBCB15F2-A4DA-F7FB-D576-3846CFA12299}"/>
              </a:ext>
            </a:extLst>
          </p:cNvPr>
          <p:cNvCxnSpPr/>
          <p:nvPr/>
        </p:nvCxnSpPr>
        <p:spPr>
          <a:xfrm>
            <a:off x="523982"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22" name="Google Shape;129;g12f20562990_0_39">
            <a:extLst>
              <a:ext uri="{FF2B5EF4-FFF2-40B4-BE49-F238E27FC236}">
                <a16:creationId xmlns:a16="http://schemas.microsoft.com/office/drawing/2014/main" id="{496DFE4A-826E-0AAA-CC35-86C0CC86FFFB}"/>
              </a:ext>
            </a:extLst>
          </p:cNvPr>
          <p:cNvSpPr/>
          <p:nvPr/>
        </p:nvSpPr>
        <p:spPr>
          <a:xfrm>
            <a:off x="523981" y="2362090"/>
            <a:ext cx="4977351"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i="0" u="none" strike="noStrike" cap="none" dirty="0">
                <a:solidFill>
                  <a:srgbClr val="FFFFFF"/>
                </a:solidFill>
                <a:latin typeface="Arial" panose="020B0604020202020204" pitchFamily="34" charset="0"/>
                <a:ea typeface="Avenir"/>
                <a:cs typeface="Arial" panose="020B0604020202020204" pitchFamily="34" charset="0"/>
                <a:sym typeface="Avenir"/>
              </a:rPr>
              <a:t>Broad array of applications</a:t>
            </a:r>
            <a:endParaRPr lang="en-AU" i="0" u="none" strike="noStrike" cap="none" dirty="0">
              <a:solidFill>
                <a:srgbClr val="000000"/>
              </a:solidFill>
              <a:latin typeface="Arial" panose="020B0604020202020204" pitchFamily="34" charset="0"/>
              <a:ea typeface="Avenir"/>
              <a:cs typeface="Arial" panose="020B0604020202020204" pitchFamily="34" charset="0"/>
              <a:sym typeface="Avenir"/>
            </a:endParaRPr>
          </a:p>
        </p:txBody>
      </p:sp>
      <p:sp>
        <p:nvSpPr>
          <p:cNvPr id="23" name="Google Shape;132;g12f20562990_0_39">
            <a:extLst>
              <a:ext uri="{FF2B5EF4-FFF2-40B4-BE49-F238E27FC236}">
                <a16:creationId xmlns:a16="http://schemas.microsoft.com/office/drawing/2014/main" id="{06E9127F-B78A-9B44-1AF5-9D01B0FD924E}"/>
              </a:ext>
            </a:extLst>
          </p:cNvPr>
          <p:cNvSpPr/>
          <p:nvPr/>
        </p:nvSpPr>
        <p:spPr>
          <a:xfrm>
            <a:off x="6096000" y="945924"/>
            <a:ext cx="5572018"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dirty="0">
                <a:solidFill>
                  <a:schemeClr val="bg1"/>
                </a:solidFill>
                <a:latin typeface="Arial" panose="020B0604020202020204" pitchFamily="34" charset="0"/>
                <a:cs typeface="Arial" panose="020B0604020202020204" pitchFamily="34" charset="0"/>
              </a:rPr>
              <a:t>Applications of FOMC Sentiment Classification</a:t>
            </a:r>
            <a:endParaRPr lang="en-AU" i="0" u="none" strike="noStrike" cap="none" dirty="0">
              <a:solidFill>
                <a:schemeClr val="bg1"/>
              </a:solidFill>
              <a:latin typeface="Arial" panose="020B0604020202020204" pitchFamily="34" charset="0"/>
              <a:ea typeface="Avenir"/>
              <a:cs typeface="Arial" panose="020B0604020202020204" pitchFamily="34" charset="0"/>
              <a:sym typeface="Avenir"/>
            </a:endParaRPr>
          </a:p>
        </p:txBody>
      </p:sp>
      <p:sp>
        <p:nvSpPr>
          <p:cNvPr id="24" name="Rectangle 23">
            <a:extLst>
              <a:ext uri="{FF2B5EF4-FFF2-40B4-BE49-F238E27FC236}">
                <a16:creationId xmlns:a16="http://schemas.microsoft.com/office/drawing/2014/main" id="{DBE2B293-7605-F3E6-7037-96E8B4AA5590}"/>
              </a:ext>
            </a:extLst>
          </p:cNvPr>
          <p:cNvSpPr/>
          <p:nvPr/>
        </p:nvSpPr>
        <p:spPr>
          <a:xfrm>
            <a:off x="523981" y="974036"/>
            <a:ext cx="4977352" cy="1171040"/>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00" dirty="0">
                <a:solidFill>
                  <a:schemeClr val="tx1"/>
                </a:solidFill>
                <a:latin typeface="Arial" panose="020B0604020202020204" pitchFamily="34" charset="0"/>
                <a:cs typeface="Arial" panose="020B0604020202020204" pitchFamily="34" charset="0"/>
              </a:rPr>
              <a:t>One of the core tasks in Natural Language Processing (NLP) is to extract meaningful stances from complex texts. Our project focuses on extracting policy stances from Federal Open Market Committee (FOMC) meeting notes to classify their positions into categories such as </a:t>
            </a:r>
            <a:r>
              <a:rPr lang="en-AU" sz="1000" b="1" dirty="0">
                <a:solidFill>
                  <a:schemeClr val="tx1"/>
                </a:solidFill>
                <a:latin typeface="Arial" panose="020B0604020202020204" pitchFamily="34" charset="0"/>
                <a:cs typeface="Arial" panose="020B0604020202020204" pitchFamily="34" charset="0"/>
              </a:rPr>
              <a:t>Neutral, Hawkish, or Dovish</a:t>
            </a:r>
            <a:r>
              <a:rPr lang="en-AU" sz="1000" dirty="0">
                <a:solidFill>
                  <a:schemeClr val="tx1"/>
                </a:solidFill>
                <a:latin typeface="Arial" panose="020B0604020202020204" pitchFamily="34" charset="0"/>
                <a:cs typeface="Arial" panose="020B0604020202020204" pitchFamily="34" charset="0"/>
              </a:rPr>
              <a:t> (or {0, 1, 2}). The FOMC’s policy stance is a crucial economic indicator that reflects the Federal Reserve's perspective on interest rates, economic growth, and inflation.</a:t>
            </a:r>
          </a:p>
        </p:txBody>
      </p:sp>
      <p:sp>
        <p:nvSpPr>
          <p:cNvPr id="25" name="Rectangle 24">
            <a:extLst>
              <a:ext uri="{FF2B5EF4-FFF2-40B4-BE49-F238E27FC236}">
                <a16:creationId xmlns:a16="http://schemas.microsoft.com/office/drawing/2014/main" id="{22DDCACE-54FD-0932-C5D2-7A8161F9AB97}"/>
              </a:ext>
            </a:extLst>
          </p:cNvPr>
          <p:cNvSpPr/>
          <p:nvPr/>
        </p:nvSpPr>
        <p:spPr>
          <a:xfrm>
            <a:off x="1823658" y="2957903"/>
            <a:ext cx="3677673" cy="582515"/>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dirty="0">
                <a:solidFill>
                  <a:schemeClr val="tx1"/>
                </a:solidFill>
                <a:latin typeface="Arial" panose="020B0604020202020204" pitchFamily="34" charset="0"/>
                <a:cs typeface="Arial" panose="020B0604020202020204" pitchFamily="34" charset="0"/>
              </a:rPr>
              <a:t>Correa et al. (2020) found that sentiment in central banks' financial stability reports serves as </a:t>
            </a:r>
            <a:r>
              <a:rPr lang="en-AU" sz="800" b="1" dirty="0">
                <a:solidFill>
                  <a:schemeClr val="tx1"/>
                </a:solidFill>
                <a:latin typeface="Arial" panose="020B0604020202020204" pitchFamily="34" charset="0"/>
                <a:cs typeface="Arial" panose="020B0604020202020204" pitchFamily="34" charset="0"/>
              </a:rPr>
              <a:t>a useful predictor of banking crise</a:t>
            </a:r>
            <a:r>
              <a:rPr lang="en-AU" sz="800" dirty="0">
                <a:solidFill>
                  <a:schemeClr val="tx1"/>
                </a:solidFill>
                <a:latin typeface="Arial" panose="020B0604020202020204" pitchFamily="34" charset="0"/>
                <a:cs typeface="Arial" panose="020B0604020202020204" pitchFamily="34" charset="0"/>
              </a:rPr>
              <a:t>s, with a 1 percentage point increase in sentiment followed by a 29 percentage point increase in the probability of a crisis</a:t>
            </a:r>
          </a:p>
        </p:txBody>
      </p:sp>
      <p:sp>
        <p:nvSpPr>
          <p:cNvPr id="26" name="Rectangle 25">
            <a:extLst>
              <a:ext uri="{FF2B5EF4-FFF2-40B4-BE49-F238E27FC236}">
                <a16:creationId xmlns:a16="http://schemas.microsoft.com/office/drawing/2014/main" id="{8B21F15F-88D7-90FD-B1C2-AC9E647E1ACB}"/>
              </a:ext>
            </a:extLst>
          </p:cNvPr>
          <p:cNvSpPr/>
          <p:nvPr/>
        </p:nvSpPr>
        <p:spPr>
          <a:xfrm>
            <a:off x="1823658" y="3706521"/>
            <a:ext cx="3677673" cy="582515"/>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dirty="0" err="1">
                <a:solidFill>
                  <a:schemeClr val="tx1"/>
                </a:solidFill>
                <a:latin typeface="Arial" panose="020B0604020202020204" pitchFamily="34" charset="0"/>
                <a:cs typeface="Arial" panose="020B0604020202020204" pitchFamily="34" charset="0"/>
              </a:rPr>
              <a:t>Hilscher</a:t>
            </a:r>
            <a:r>
              <a:rPr lang="en-AU" sz="800" dirty="0">
                <a:solidFill>
                  <a:schemeClr val="tx1"/>
                </a:solidFill>
                <a:latin typeface="Arial" panose="020B0604020202020204" pitchFamily="34" charset="0"/>
                <a:cs typeface="Arial" panose="020B0604020202020204" pitchFamily="34" charset="0"/>
              </a:rPr>
              <a:t> et al. (2024) demonstrated that central bank sentiment predicts policy interest rates and the Taylor rule several quarters into the future, indicating a </a:t>
            </a:r>
            <a:r>
              <a:rPr lang="en-AU" sz="800" b="1" dirty="0">
                <a:solidFill>
                  <a:schemeClr val="tx1"/>
                </a:solidFill>
                <a:latin typeface="Arial" panose="020B0604020202020204" pitchFamily="34" charset="0"/>
                <a:cs typeface="Arial" panose="020B0604020202020204" pitchFamily="34" charset="0"/>
              </a:rPr>
              <a:t>strong correlation between sentiment and Federal Funds Rate movements</a:t>
            </a:r>
          </a:p>
        </p:txBody>
      </p:sp>
      <p:sp>
        <p:nvSpPr>
          <p:cNvPr id="27" name="Rectangle 26">
            <a:extLst>
              <a:ext uri="{FF2B5EF4-FFF2-40B4-BE49-F238E27FC236}">
                <a16:creationId xmlns:a16="http://schemas.microsoft.com/office/drawing/2014/main" id="{16FBDDC8-3909-3084-E120-A22E37B26EC8}"/>
              </a:ext>
            </a:extLst>
          </p:cNvPr>
          <p:cNvSpPr/>
          <p:nvPr/>
        </p:nvSpPr>
        <p:spPr>
          <a:xfrm>
            <a:off x="1823658" y="4455139"/>
            <a:ext cx="3677674" cy="582515"/>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dirty="0">
                <a:solidFill>
                  <a:schemeClr val="tx1"/>
                </a:solidFill>
                <a:latin typeface="Arial" panose="020B0604020202020204" pitchFamily="34" charset="0"/>
                <a:cs typeface="Arial" panose="020B0604020202020204" pitchFamily="34" charset="0"/>
              </a:rPr>
              <a:t>Deng et al. (2024) found that a </a:t>
            </a:r>
            <a:r>
              <a:rPr lang="en-AU" sz="800" b="1" dirty="0">
                <a:solidFill>
                  <a:schemeClr val="tx1"/>
                </a:solidFill>
                <a:latin typeface="Arial" panose="020B0604020202020204" pitchFamily="34" charset="0"/>
                <a:cs typeface="Arial" panose="020B0604020202020204" pitchFamily="34" charset="0"/>
              </a:rPr>
              <a:t>one-unit increase in the sentiment score of Federal Reserve communications is associated with an increase of approximately 500 basis points</a:t>
            </a:r>
            <a:r>
              <a:rPr lang="en-AU" sz="800" dirty="0">
                <a:solidFill>
                  <a:schemeClr val="tx1"/>
                </a:solidFill>
                <a:latin typeface="Arial" panose="020B0604020202020204" pitchFamily="34" charset="0"/>
                <a:cs typeface="Arial" panose="020B0604020202020204" pitchFamily="34" charset="0"/>
              </a:rPr>
              <a:t> in the price of the S&amp;P 500 Exchange-Traded Fund, highlighting the significant impact on stock market returns</a:t>
            </a:r>
          </a:p>
        </p:txBody>
      </p:sp>
      <p:sp>
        <p:nvSpPr>
          <p:cNvPr id="28" name="Rectangle 27">
            <a:extLst>
              <a:ext uri="{FF2B5EF4-FFF2-40B4-BE49-F238E27FC236}">
                <a16:creationId xmlns:a16="http://schemas.microsoft.com/office/drawing/2014/main" id="{80ECA508-A84D-D64C-EACC-E8494F972816}"/>
              </a:ext>
            </a:extLst>
          </p:cNvPr>
          <p:cNvSpPr/>
          <p:nvPr/>
        </p:nvSpPr>
        <p:spPr>
          <a:xfrm>
            <a:off x="1823659" y="5274739"/>
            <a:ext cx="3677672" cy="582515"/>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dirty="0">
                <a:solidFill>
                  <a:schemeClr val="tx1"/>
                </a:solidFill>
                <a:latin typeface="Arial" panose="020B0604020202020204" pitchFamily="34" charset="0"/>
                <a:cs typeface="Arial" panose="020B0604020202020204" pitchFamily="34" charset="0"/>
              </a:rPr>
              <a:t>Correa et al. (2020) developed a financial stability sentiment index using central bank communications from 30 countries, demonstrating that such methodologies can be </a:t>
            </a:r>
            <a:r>
              <a:rPr lang="en-AU" sz="800" b="1" dirty="0">
                <a:solidFill>
                  <a:schemeClr val="tx1"/>
                </a:solidFill>
                <a:latin typeface="Arial" panose="020B0604020202020204" pitchFamily="34" charset="0"/>
                <a:cs typeface="Arial" panose="020B0604020202020204" pitchFamily="34" charset="0"/>
              </a:rPr>
              <a:t>applied to emerging markets </a:t>
            </a:r>
            <a:r>
              <a:rPr lang="en-AU" sz="800" dirty="0">
                <a:solidFill>
                  <a:schemeClr val="tx1"/>
                </a:solidFill>
                <a:latin typeface="Arial" panose="020B0604020202020204" pitchFamily="34" charset="0"/>
                <a:cs typeface="Arial" panose="020B0604020202020204" pitchFamily="34" charset="0"/>
              </a:rPr>
              <a:t>to assess financial vulnerabilities and predict crises</a:t>
            </a:r>
          </a:p>
        </p:txBody>
      </p:sp>
      <p:sp>
        <p:nvSpPr>
          <p:cNvPr id="29" name="Rectangle 28">
            <a:extLst>
              <a:ext uri="{FF2B5EF4-FFF2-40B4-BE49-F238E27FC236}">
                <a16:creationId xmlns:a16="http://schemas.microsoft.com/office/drawing/2014/main" id="{2D37F79A-5A7F-3B3C-7715-5F5A098A1E5C}"/>
              </a:ext>
            </a:extLst>
          </p:cNvPr>
          <p:cNvSpPr/>
          <p:nvPr/>
        </p:nvSpPr>
        <p:spPr>
          <a:xfrm>
            <a:off x="664146" y="2957903"/>
            <a:ext cx="573012" cy="582515"/>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sp>
        <p:nvSpPr>
          <p:cNvPr id="30" name="Rectangle 29">
            <a:extLst>
              <a:ext uri="{FF2B5EF4-FFF2-40B4-BE49-F238E27FC236}">
                <a16:creationId xmlns:a16="http://schemas.microsoft.com/office/drawing/2014/main" id="{AE8B2994-3507-01B1-01D6-51E3A4820BE4}"/>
              </a:ext>
            </a:extLst>
          </p:cNvPr>
          <p:cNvSpPr/>
          <p:nvPr/>
        </p:nvSpPr>
        <p:spPr>
          <a:xfrm>
            <a:off x="664146" y="3712034"/>
            <a:ext cx="573012" cy="582515"/>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sp>
        <p:nvSpPr>
          <p:cNvPr id="31" name="Rectangle 30">
            <a:extLst>
              <a:ext uri="{FF2B5EF4-FFF2-40B4-BE49-F238E27FC236}">
                <a16:creationId xmlns:a16="http://schemas.microsoft.com/office/drawing/2014/main" id="{F5971C47-AB37-8438-AD94-2DFDD2B598DC}"/>
              </a:ext>
            </a:extLst>
          </p:cNvPr>
          <p:cNvSpPr/>
          <p:nvPr/>
        </p:nvSpPr>
        <p:spPr>
          <a:xfrm>
            <a:off x="664146" y="4466164"/>
            <a:ext cx="573012" cy="582515"/>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sp>
        <p:nvSpPr>
          <p:cNvPr id="32" name="Rectangle 31">
            <a:extLst>
              <a:ext uri="{FF2B5EF4-FFF2-40B4-BE49-F238E27FC236}">
                <a16:creationId xmlns:a16="http://schemas.microsoft.com/office/drawing/2014/main" id="{50F5FB6E-A466-DA20-539B-4615C3E8724D}"/>
              </a:ext>
            </a:extLst>
          </p:cNvPr>
          <p:cNvSpPr/>
          <p:nvPr/>
        </p:nvSpPr>
        <p:spPr>
          <a:xfrm>
            <a:off x="664146" y="5274740"/>
            <a:ext cx="573012" cy="582515"/>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pic>
        <p:nvPicPr>
          <p:cNvPr id="51" name="Picture 50" descr="Shape&#10;&#10;Description automatically generated with low confidence">
            <a:extLst>
              <a:ext uri="{FF2B5EF4-FFF2-40B4-BE49-F238E27FC236}">
                <a16:creationId xmlns:a16="http://schemas.microsoft.com/office/drawing/2014/main" id="{2B349BE5-52F8-6A1A-B87E-8D0505DC75F4}"/>
              </a:ext>
            </a:extLst>
          </p:cNvPr>
          <p:cNvPicPr>
            <a:picLocks noChangeAspect="1"/>
          </p:cNvPicPr>
          <p:nvPr/>
        </p:nvPicPr>
        <p:blipFill>
          <a:blip r:embed="rId3"/>
          <a:stretch>
            <a:fillRect/>
          </a:stretch>
        </p:blipFill>
        <p:spPr>
          <a:xfrm>
            <a:off x="713883" y="3012435"/>
            <a:ext cx="473538" cy="473538"/>
          </a:xfrm>
          <a:prstGeom prst="rect">
            <a:avLst/>
          </a:prstGeom>
        </p:spPr>
      </p:pic>
      <p:pic>
        <p:nvPicPr>
          <p:cNvPr id="52" name="Picture 51" descr="Shape&#10;&#10;Description automatically generated with low confidence">
            <a:extLst>
              <a:ext uri="{FF2B5EF4-FFF2-40B4-BE49-F238E27FC236}">
                <a16:creationId xmlns:a16="http://schemas.microsoft.com/office/drawing/2014/main" id="{2B8FEF99-92B5-8D57-EEFF-0E0884488BFC}"/>
              </a:ext>
            </a:extLst>
          </p:cNvPr>
          <p:cNvPicPr>
            <a:picLocks noChangeAspect="1"/>
          </p:cNvPicPr>
          <p:nvPr/>
        </p:nvPicPr>
        <p:blipFill>
          <a:blip r:embed="rId4"/>
          <a:stretch>
            <a:fillRect/>
          </a:stretch>
        </p:blipFill>
        <p:spPr>
          <a:xfrm>
            <a:off x="706372" y="5316913"/>
            <a:ext cx="498165" cy="498165"/>
          </a:xfrm>
          <a:prstGeom prst="rect">
            <a:avLst/>
          </a:prstGeom>
        </p:spPr>
      </p:pic>
      <p:pic>
        <p:nvPicPr>
          <p:cNvPr id="53" name="Picture 52" descr="Shape&#10;&#10;Description automatically generated with low confidence">
            <a:extLst>
              <a:ext uri="{FF2B5EF4-FFF2-40B4-BE49-F238E27FC236}">
                <a16:creationId xmlns:a16="http://schemas.microsoft.com/office/drawing/2014/main" id="{BF18571B-AC0E-FC7A-668A-2D1D959B4CE2}"/>
              </a:ext>
            </a:extLst>
          </p:cNvPr>
          <p:cNvPicPr>
            <a:picLocks noChangeAspect="1"/>
          </p:cNvPicPr>
          <p:nvPr/>
        </p:nvPicPr>
        <p:blipFill>
          <a:blip r:embed="rId5"/>
          <a:stretch>
            <a:fillRect/>
          </a:stretch>
        </p:blipFill>
        <p:spPr>
          <a:xfrm>
            <a:off x="737429" y="4512842"/>
            <a:ext cx="467108" cy="467108"/>
          </a:xfrm>
          <a:prstGeom prst="rect">
            <a:avLst/>
          </a:prstGeom>
        </p:spPr>
      </p:pic>
      <p:pic>
        <p:nvPicPr>
          <p:cNvPr id="54" name="Picture 53" descr="Shape&#10;&#10;Description automatically generated with low confidence">
            <a:extLst>
              <a:ext uri="{FF2B5EF4-FFF2-40B4-BE49-F238E27FC236}">
                <a16:creationId xmlns:a16="http://schemas.microsoft.com/office/drawing/2014/main" id="{538B7B06-A0CF-D838-AF4D-750DD656D37F}"/>
              </a:ext>
            </a:extLst>
          </p:cNvPr>
          <p:cNvPicPr>
            <a:picLocks noChangeAspect="1"/>
          </p:cNvPicPr>
          <p:nvPr/>
        </p:nvPicPr>
        <p:blipFill>
          <a:blip r:embed="rId6"/>
          <a:stretch>
            <a:fillRect/>
          </a:stretch>
        </p:blipFill>
        <p:spPr>
          <a:xfrm>
            <a:off x="720337" y="3766479"/>
            <a:ext cx="460629" cy="460629"/>
          </a:xfrm>
          <a:prstGeom prst="rect">
            <a:avLst/>
          </a:prstGeom>
        </p:spPr>
      </p:pic>
      <p:pic>
        <p:nvPicPr>
          <p:cNvPr id="58" name="Picture 57">
            <a:extLst>
              <a:ext uri="{FF2B5EF4-FFF2-40B4-BE49-F238E27FC236}">
                <a16:creationId xmlns:a16="http://schemas.microsoft.com/office/drawing/2014/main" id="{57F1B123-0EB5-99AE-C9EB-01E5EC3B7D9B}"/>
              </a:ext>
            </a:extLst>
          </p:cNvPr>
          <p:cNvPicPr>
            <a:picLocks noChangeAspect="1"/>
          </p:cNvPicPr>
          <p:nvPr/>
        </p:nvPicPr>
        <p:blipFill>
          <a:blip r:embed="rId7"/>
          <a:stretch>
            <a:fillRect/>
          </a:stretch>
        </p:blipFill>
        <p:spPr>
          <a:xfrm>
            <a:off x="6344155" y="1390039"/>
            <a:ext cx="5179617" cy="4651319"/>
          </a:xfrm>
          <a:prstGeom prst="rect">
            <a:avLst/>
          </a:prstGeom>
        </p:spPr>
      </p:pic>
      <p:sp>
        <p:nvSpPr>
          <p:cNvPr id="59" name="TextBox 58">
            <a:extLst>
              <a:ext uri="{FF2B5EF4-FFF2-40B4-BE49-F238E27FC236}">
                <a16:creationId xmlns:a16="http://schemas.microsoft.com/office/drawing/2014/main" id="{0A92BF4A-3621-856E-FC94-D77D7DDC1949}"/>
              </a:ext>
            </a:extLst>
          </p:cNvPr>
          <p:cNvSpPr txBox="1"/>
          <p:nvPr/>
        </p:nvSpPr>
        <p:spPr>
          <a:xfrm>
            <a:off x="6096000" y="5316914"/>
            <a:ext cx="5572018" cy="696278"/>
          </a:xfrm>
          <a:prstGeom prst="rect">
            <a:avLst/>
          </a:prstGeom>
          <a:noFill/>
          <a:ln w="34925">
            <a:solidFill>
              <a:srgbClr val="FF0000"/>
            </a:solidFill>
          </a:ln>
        </p:spPr>
        <p:txBody>
          <a:bodyPr wrap="square" rtlCol="0">
            <a:spAutoFit/>
          </a:bodyPr>
          <a:lstStyle/>
          <a:p>
            <a:endParaRPr lang="en-US" dirty="0"/>
          </a:p>
        </p:txBody>
      </p:sp>
    </p:spTree>
    <p:extLst>
      <p:ext uri="{BB962C8B-B14F-4D97-AF65-F5344CB8AC3E}">
        <p14:creationId xmlns:p14="http://schemas.microsoft.com/office/powerpoint/2010/main" val="4241363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D8D21C5C-7EB4-1C9A-A9BD-F60F152BDB1E}"/>
              </a:ext>
            </a:extLst>
          </p:cNvPr>
          <p:cNvSpPr/>
          <p:nvPr/>
        </p:nvSpPr>
        <p:spPr>
          <a:xfrm>
            <a:off x="10584816" y="4512402"/>
            <a:ext cx="1020816" cy="1163757"/>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8787661" cy="838835"/>
          </a:xfrm>
        </p:spPr>
        <p:txBody>
          <a:bodyPr/>
          <a:lstStyle/>
          <a:p>
            <a:r>
              <a:rPr lang="en-GB" dirty="0"/>
              <a:t>Problem Statement</a:t>
            </a:r>
            <a:endParaRPr lang="en-AU" dirty="0"/>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3</a:t>
            </a:fld>
            <a:endParaRPr lang="en-AU" dirty="0"/>
          </a:p>
        </p:txBody>
      </p:sp>
      <p:sp>
        <p:nvSpPr>
          <p:cNvPr id="5" name="TextBox 4">
            <a:extLst>
              <a:ext uri="{FF2B5EF4-FFF2-40B4-BE49-F238E27FC236}">
                <a16:creationId xmlns:a16="http://schemas.microsoft.com/office/drawing/2014/main" id="{47471554-0422-62B8-814A-4ABC624E8E60}"/>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Zhenhua Liu (z5433153)</a:t>
            </a:r>
          </a:p>
        </p:txBody>
      </p:sp>
      <p:cxnSp>
        <p:nvCxnSpPr>
          <p:cNvPr id="7" name="Google Shape;119;g12f20562990_0_39">
            <a:extLst>
              <a:ext uri="{FF2B5EF4-FFF2-40B4-BE49-F238E27FC236}">
                <a16:creationId xmlns:a16="http://schemas.microsoft.com/office/drawing/2014/main" id="{F43F143F-490E-97F7-C352-730597B2AD77}"/>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8" name="Slide Number Placeholder 3">
            <a:extLst>
              <a:ext uri="{FF2B5EF4-FFF2-40B4-BE49-F238E27FC236}">
                <a16:creationId xmlns:a16="http://schemas.microsoft.com/office/drawing/2014/main" id="{559722CB-17A1-AC7A-728F-35BE75E0C49D}"/>
              </a:ext>
            </a:extLst>
          </p:cNvPr>
          <p:cNvSpPr txBox="1">
            <a:spLocks/>
          </p:cNvSpPr>
          <p:nvPr/>
        </p:nvSpPr>
        <p:spPr>
          <a:xfrm>
            <a:off x="8326817"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dirty="0"/>
          </a:p>
        </p:txBody>
      </p:sp>
      <p:grpSp>
        <p:nvGrpSpPr>
          <p:cNvPr id="9" name="Google Shape;121;g12f20562990_0_39">
            <a:extLst>
              <a:ext uri="{FF2B5EF4-FFF2-40B4-BE49-F238E27FC236}">
                <a16:creationId xmlns:a16="http://schemas.microsoft.com/office/drawing/2014/main" id="{096C9D67-E8E4-2EE8-91BC-26EE7CF77BDF}"/>
              </a:ext>
            </a:extLst>
          </p:cNvPr>
          <p:cNvGrpSpPr/>
          <p:nvPr/>
        </p:nvGrpSpPr>
        <p:grpSpPr>
          <a:xfrm>
            <a:off x="2610855" y="6225545"/>
            <a:ext cx="6060176" cy="365125"/>
            <a:chOff x="1425588" y="6394039"/>
            <a:chExt cx="9340906" cy="363742"/>
          </a:xfrm>
        </p:grpSpPr>
        <p:sp>
          <p:nvSpPr>
            <p:cNvPr id="10" name="Google Shape;122;g12f20562990_0_39">
              <a:extLst>
                <a:ext uri="{FF2B5EF4-FFF2-40B4-BE49-F238E27FC236}">
                  <a16:creationId xmlns:a16="http://schemas.microsoft.com/office/drawing/2014/main" id="{A219C726-19D0-BEA1-0E6B-C68BBB545B30}"/>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1" name="Google Shape;123;g12f20562990_0_39">
              <a:extLst>
                <a:ext uri="{FF2B5EF4-FFF2-40B4-BE49-F238E27FC236}">
                  <a16:creationId xmlns:a16="http://schemas.microsoft.com/office/drawing/2014/main" id="{FDCB9099-C8E3-EF78-BDF9-A83A855E4DD0}"/>
                </a:ext>
              </a:extLst>
            </p:cNvPr>
            <p:cNvSpPr/>
            <p:nvPr/>
          </p:nvSpPr>
          <p:spPr>
            <a:xfrm>
              <a:off x="3291959" y="6398681"/>
              <a:ext cx="19632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bg1"/>
                  </a:solidFill>
                  <a:latin typeface="+mj-lt"/>
                  <a:ea typeface="Avenir"/>
                  <a:cs typeface="Avenir"/>
                  <a:sym typeface="Avenir"/>
                </a:rPr>
                <a:t>Problem Statement</a:t>
              </a:r>
              <a:endParaRPr sz="1400" b="1" i="0" u="none" strike="noStrike" cap="none" dirty="0">
                <a:solidFill>
                  <a:schemeClr val="bg1"/>
                </a:solidFill>
                <a:latin typeface="+mj-lt"/>
                <a:sym typeface="Arial"/>
              </a:endParaRPr>
            </a:p>
          </p:txBody>
        </p:sp>
        <p:sp>
          <p:nvSpPr>
            <p:cNvPr id="12" name="Google Shape;124;g12f20562990_0_39">
              <a:extLst>
                <a:ext uri="{FF2B5EF4-FFF2-40B4-BE49-F238E27FC236}">
                  <a16:creationId xmlns:a16="http://schemas.microsoft.com/office/drawing/2014/main" id="{AF6980DC-9BB1-22A9-10BE-9F712EDA8426}"/>
                </a:ext>
              </a:extLst>
            </p:cNvPr>
            <p:cNvSpPr/>
            <p:nvPr/>
          </p:nvSpPr>
          <p:spPr>
            <a:xfrm>
              <a:off x="5152512" y="6398681"/>
              <a:ext cx="19833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dk1"/>
                  </a:solidFill>
                  <a:latin typeface="+mj-lt"/>
                  <a:sym typeface="Avenir"/>
                </a:rPr>
                <a:t>Literature</a:t>
              </a:r>
              <a:endParaRPr sz="1400" b="1" i="0" u="none" strike="noStrike" cap="none" dirty="0">
                <a:solidFill>
                  <a:srgbClr val="000000"/>
                </a:solidFill>
                <a:latin typeface="+mj-lt"/>
                <a:sym typeface="Arial"/>
              </a:endParaRPr>
            </a:p>
          </p:txBody>
        </p:sp>
        <p:sp>
          <p:nvSpPr>
            <p:cNvPr id="13" name="Google Shape;125;g12f20562990_0_39">
              <a:extLst>
                <a:ext uri="{FF2B5EF4-FFF2-40B4-BE49-F238E27FC236}">
                  <a16:creationId xmlns:a16="http://schemas.microsoft.com/office/drawing/2014/main" id="{E39AAB3E-9B01-B446-ED13-49818759E8ED}"/>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14" name="Google Shape;126;g12f20562990_0_39">
              <a:extLst>
                <a:ext uri="{FF2B5EF4-FFF2-40B4-BE49-F238E27FC236}">
                  <a16:creationId xmlns:a16="http://schemas.microsoft.com/office/drawing/2014/main" id="{89197A0A-2482-9B20-C401-80E26253970A}"/>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15" name="Google Shape;126;g12f20562990_0_39">
            <a:extLst>
              <a:ext uri="{FF2B5EF4-FFF2-40B4-BE49-F238E27FC236}">
                <a16:creationId xmlns:a16="http://schemas.microsoft.com/office/drawing/2014/main" id="{1445D479-A0D8-052C-575D-957A81645A9E}"/>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16" name="Google Shape;126;g12f20562990_0_39">
            <a:extLst>
              <a:ext uri="{FF2B5EF4-FFF2-40B4-BE49-F238E27FC236}">
                <a16:creationId xmlns:a16="http://schemas.microsoft.com/office/drawing/2014/main" id="{D92EA6CE-5F50-215D-E4EE-F8B01566D473}"/>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35" name="Rectangle 34">
            <a:extLst>
              <a:ext uri="{FF2B5EF4-FFF2-40B4-BE49-F238E27FC236}">
                <a16:creationId xmlns:a16="http://schemas.microsoft.com/office/drawing/2014/main" id="{1D8E2E73-EF27-4690-F31D-0F088AF8E223}"/>
              </a:ext>
            </a:extLst>
          </p:cNvPr>
          <p:cNvSpPr/>
          <p:nvPr/>
        </p:nvSpPr>
        <p:spPr>
          <a:xfrm>
            <a:off x="360694" y="960360"/>
            <a:ext cx="11144035" cy="1171040"/>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600" dirty="0">
                <a:solidFill>
                  <a:schemeClr val="tx1"/>
                </a:solidFill>
                <a:latin typeface="Arial" panose="020B0604020202020204" pitchFamily="34" charset="0"/>
                <a:cs typeface="Arial" panose="020B0604020202020204" pitchFamily="34" charset="0"/>
              </a:rPr>
              <a:t>The Federal Open Market Committee (FOMC) meeting notes contain critical policy perspectives that shape market expectations and economic forecasting. However, extracting sentiment such as </a:t>
            </a:r>
            <a:r>
              <a:rPr lang="en-AU" sz="1600" b="1" dirty="0">
                <a:solidFill>
                  <a:schemeClr val="tx1"/>
                </a:solidFill>
                <a:latin typeface="Arial" panose="020B0604020202020204" pitchFamily="34" charset="0"/>
                <a:cs typeface="Arial" panose="020B0604020202020204" pitchFamily="34" charset="0"/>
              </a:rPr>
              <a:t>"Hawkish," "Neutral," or "Dovish" </a:t>
            </a:r>
            <a:r>
              <a:rPr lang="en-AU" sz="1600" dirty="0">
                <a:solidFill>
                  <a:schemeClr val="tx1"/>
                </a:solidFill>
                <a:latin typeface="Arial" panose="020B0604020202020204" pitchFamily="34" charset="0"/>
                <a:cs typeface="Arial" panose="020B0604020202020204" pitchFamily="34" charset="0"/>
              </a:rPr>
              <a:t>from these documents requires sophisticated natural language processing techniques. Traditional approaches often fail to fully capture the nuance and complexity inherent in these notes.</a:t>
            </a:r>
          </a:p>
        </p:txBody>
      </p:sp>
      <p:sp>
        <p:nvSpPr>
          <p:cNvPr id="44" name="Rectangle 43">
            <a:extLst>
              <a:ext uri="{FF2B5EF4-FFF2-40B4-BE49-F238E27FC236}">
                <a16:creationId xmlns:a16="http://schemas.microsoft.com/office/drawing/2014/main" id="{469D87C2-1734-2C8C-E530-B703A68DFA5F}"/>
              </a:ext>
            </a:extLst>
          </p:cNvPr>
          <p:cNvSpPr/>
          <p:nvPr/>
        </p:nvSpPr>
        <p:spPr>
          <a:xfrm>
            <a:off x="408977" y="2484472"/>
            <a:ext cx="4657843" cy="802945"/>
          </a:xfrm>
          <a:prstGeom prst="rect">
            <a:avLst/>
          </a:prstGeom>
          <a:solidFill>
            <a:schemeClr val="accent1">
              <a:lumMod val="20000"/>
              <a:lumOff val="80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solidFill>
                  <a:schemeClr val="tx1"/>
                </a:solidFill>
                <a:latin typeface="Arial"/>
                <a:cs typeface="Arial"/>
              </a:rPr>
              <a:t>There is a need for a robust system to </a:t>
            </a:r>
            <a:r>
              <a:rPr lang="en-US" sz="1200" dirty="0" err="1">
                <a:solidFill>
                  <a:schemeClr val="tx1"/>
                </a:solidFill>
                <a:latin typeface="Arial"/>
                <a:cs typeface="Arial"/>
              </a:rPr>
              <a:t>analyse</a:t>
            </a:r>
            <a:r>
              <a:rPr lang="en-US" sz="1200" dirty="0">
                <a:solidFill>
                  <a:schemeClr val="tx1"/>
                </a:solidFill>
                <a:latin typeface="Arial"/>
                <a:cs typeface="Arial"/>
              </a:rPr>
              <a:t> FOMC communications and accurately classify policy stances. </a:t>
            </a:r>
            <a:r>
              <a:rPr lang="en-US" sz="1200" b="1" dirty="0">
                <a:solidFill>
                  <a:schemeClr val="tx1"/>
                </a:solidFill>
                <a:latin typeface="Arial"/>
                <a:cs typeface="Arial"/>
              </a:rPr>
              <a:t>Traditional models </a:t>
            </a:r>
            <a:r>
              <a:rPr lang="en-US" sz="1200" dirty="0">
                <a:solidFill>
                  <a:schemeClr val="tx1"/>
                </a:solidFill>
                <a:latin typeface="Arial"/>
                <a:cs typeface="Arial"/>
              </a:rPr>
              <a:t>like LSTM often </a:t>
            </a:r>
            <a:r>
              <a:rPr lang="en-US" sz="1200" b="1" dirty="0">
                <a:solidFill>
                  <a:schemeClr val="tx1"/>
                </a:solidFill>
                <a:latin typeface="Arial"/>
                <a:cs typeface="Arial"/>
              </a:rPr>
              <a:t>fail to capture the nuance and complexity</a:t>
            </a:r>
            <a:r>
              <a:rPr lang="en-US" sz="1200" dirty="0">
                <a:solidFill>
                  <a:schemeClr val="tx1"/>
                </a:solidFill>
                <a:latin typeface="Arial"/>
                <a:cs typeface="Arial"/>
              </a:rPr>
              <a:t> of such texts, leading to unreliable analysis</a:t>
            </a:r>
          </a:p>
        </p:txBody>
      </p:sp>
      <p:sp>
        <p:nvSpPr>
          <p:cNvPr id="45" name="Rectangle 44">
            <a:extLst>
              <a:ext uri="{FF2B5EF4-FFF2-40B4-BE49-F238E27FC236}">
                <a16:creationId xmlns:a16="http://schemas.microsoft.com/office/drawing/2014/main" id="{E0F49622-FE70-EBD4-A6F6-395CC74D0497}"/>
              </a:ext>
            </a:extLst>
          </p:cNvPr>
          <p:cNvSpPr/>
          <p:nvPr/>
        </p:nvSpPr>
        <p:spPr>
          <a:xfrm>
            <a:off x="389597" y="3786695"/>
            <a:ext cx="4696602" cy="8544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100" dirty="0">
                <a:solidFill>
                  <a:schemeClr val="tx1"/>
                </a:solidFill>
                <a:latin typeface="Arial" panose="020B0604020202020204" pitchFamily="34" charset="0"/>
                <a:cs typeface="Arial" panose="020B0604020202020204" pitchFamily="34" charset="0"/>
              </a:rPr>
              <a:t>This project aims to thoroughly evaluate multiple Natural Language Processing (NLP) models for the sentiment classification of FOMC communications and develop an optimised solution leveraging advanced neural architectures and fine-tuning methodologies. </a:t>
            </a:r>
            <a:endParaRPr lang="en-US" sz="1100" dirty="0">
              <a:solidFill>
                <a:schemeClr val="tx1"/>
              </a:solidFill>
              <a:latin typeface="Arial" panose="020B0604020202020204" pitchFamily="34" charset="0"/>
              <a:cs typeface="Arial" panose="020B0604020202020204" pitchFamily="34" charset="0"/>
            </a:endParaRPr>
          </a:p>
        </p:txBody>
      </p:sp>
      <p:sp>
        <p:nvSpPr>
          <p:cNvPr id="46" name="Arrow: Right 5">
            <a:extLst>
              <a:ext uri="{FF2B5EF4-FFF2-40B4-BE49-F238E27FC236}">
                <a16:creationId xmlns:a16="http://schemas.microsoft.com/office/drawing/2014/main" id="{30CEA52B-B919-3918-20DF-9D7ADA2DF300}"/>
              </a:ext>
            </a:extLst>
          </p:cNvPr>
          <p:cNvSpPr/>
          <p:nvPr/>
        </p:nvSpPr>
        <p:spPr>
          <a:xfrm rot="5400000">
            <a:off x="2595641" y="2450537"/>
            <a:ext cx="367068" cy="2218508"/>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8" name="Arrow: Right 5">
            <a:extLst>
              <a:ext uri="{FF2B5EF4-FFF2-40B4-BE49-F238E27FC236}">
                <a16:creationId xmlns:a16="http://schemas.microsoft.com/office/drawing/2014/main" id="{161AB08D-A4E1-C8B4-C4D2-3C12455EB585}"/>
              </a:ext>
            </a:extLst>
          </p:cNvPr>
          <p:cNvSpPr/>
          <p:nvPr/>
        </p:nvSpPr>
        <p:spPr>
          <a:xfrm>
            <a:off x="5626087" y="2885944"/>
            <a:ext cx="529774" cy="1747261"/>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51" name="Google Shape;119;g12f20562990_0_39">
            <a:extLst>
              <a:ext uri="{FF2B5EF4-FFF2-40B4-BE49-F238E27FC236}">
                <a16:creationId xmlns:a16="http://schemas.microsoft.com/office/drawing/2014/main" id="{FDB9D4E9-3434-2905-1983-6975D5CAB0FF}"/>
              </a:ext>
            </a:extLst>
          </p:cNvPr>
          <p:cNvCxnSpPr>
            <a:cxnSpLocks/>
          </p:cNvCxnSpPr>
          <p:nvPr/>
        </p:nvCxnSpPr>
        <p:spPr>
          <a:xfrm>
            <a:off x="398795" y="2322346"/>
            <a:ext cx="11144100" cy="0"/>
          </a:xfrm>
          <a:prstGeom prst="straightConnector1">
            <a:avLst/>
          </a:prstGeom>
          <a:noFill/>
          <a:ln w="22225" cap="flat" cmpd="sng">
            <a:solidFill>
              <a:srgbClr val="7F7F7F"/>
            </a:solidFill>
            <a:prstDash val="solid"/>
            <a:miter lim="800000"/>
            <a:headEnd type="none" w="sm" len="sm"/>
            <a:tailEnd type="none" w="sm" len="sm"/>
          </a:ln>
        </p:spPr>
      </p:cxnSp>
      <p:sp>
        <p:nvSpPr>
          <p:cNvPr id="52" name="Google Shape;132;g12f20562990_0_39">
            <a:extLst>
              <a:ext uri="{FF2B5EF4-FFF2-40B4-BE49-F238E27FC236}">
                <a16:creationId xmlns:a16="http://schemas.microsoft.com/office/drawing/2014/main" id="{B23FC40F-DB35-826C-9D5E-EE4CDD353F06}"/>
              </a:ext>
            </a:extLst>
          </p:cNvPr>
          <p:cNvSpPr/>
          <p:nvPr/>
        </p:nvSpPr>
        <p:spPr>
          <a:xfrm>
            <a:off x="6605522" y="2513293"/>
            <a:ext cx="4937373"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dirty="0">
                <a:solidFill>
                  <a:schemeClr val="bg1"/>
                </a:solidFill>
                <a:latin typeface="Arial" panose="020B0604020202020204" pitchFamily="34" charset="0"/>
                <a:cs typeface="Arial" panose="020B0604020202020204" pitchFamily="34" charset="0"/>
              </a:rPr>
              <a:t>Key Challenges</a:t>
            </a:r>
            <a:endParaRPr lang="en-AU" i="0" u="none" strike="noStrike" cap="none" dirty="0">
              <a:solidFill>
                <a:schemeClr val="bg1"/>
              </a:solidFill>
              <a:latin typeface="Arial" panose="020B0604020202020204" pitchFamily="34" charset="0"/>
              <a:ea typeface="Avenir"/>
              <a:cs typeface="Arial" panose="020B0604020202020204" pitchFamily="34" charset="0"/>
              <a:sym typeface="Avenir"/>
            </a:endParaRPr>
          </a:p>
        </p:txBody>
      </p:sp>
      <p:sp>
        <p:nvSpPr>
          <p:cNvPr id="56" name="Arrow: Right 5">
            <a:extLst>
              <a:ext uri="{FF2B5EF4-FFF2-40B4-BE49-F238E27FC236}">
                <a16:creationId xmlns:a16="http://schemas.microsoft.com/office/drawing/2014/main" id="{03F90A8D-AE34-984E-EF85-048C8E0A158E}"/>
              </a:ext>
            </a:extLst>
          </p:cNvPr>
          <p:cNvSpPr/>
          <p:nvPr/>
        </p:nvSpPr>
        <p:spPr>
          <a:xfrm rot="5400000">
            <a:off x="2554364" y="3809200"/>
            <a:ext cx="367068" cy="2218508"/>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7" name="Rectangle 56">
            <a:extLst>
              <a:ext uri="{FF2B5EF4-FFF2-40B4-BE49-F238E27FC236}">
                <a16:creationId xmlns:a16="http://schemas.microsoft.com/office/drawing/2014/main" id="{858370C9-1CDE-1511-678A-216C89D1672C}"/>
              </a:ext>
            </a:extLst>
          </p:cNvPr>
          <p:cNvSpPr/>
          <p:nvPr/>
        </p:nvSpPr>
        <p:spPr>
          <a:xfrm>
            <a:off x="389597" y="5140460"/>
            <a:ext cx="4696602" cy="8544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100" dirty="0">
                <a:solidFill>
                  <a:schemeClr val="tx1"/>
                </a:solidFill>
                <a:latin typeface="Arial" panose="020B0604020202020204" pitchFamily="34" charset="0"/>
                <a:cs typeface="Arial" panose="020B0604020202020204" pitchFamily="34" charset="0"/>
              </a:rPr>
              <a:t>Our objective is to develop a </a:t>
            </a:r>
            <a:r>
              <a:rPr lang="en-AU" sz="1100" b="1" dirty="0">
                <a:solidFill>
                  <a:schemeClr val="tx1"/>
                </a:solidFill>
                <a:latin typeface="Arial" panose="020B0604020202020204" pitchFamily="34" charset="0"/>
                <a:cs typeface="Arial" panose="020B0604020202020204" pitchFamily="34" charset="0"/>
              </a:rPr>
              <a:t>"best practice" NLP model </a:t>
            </a:r>
            <a:r>
              <a:rPr lang="en-AU" sz="1100" dirty="0">
                <a:solidFill>
                  <a:schemeClr val="tx1"/>
                </a:solidFill>
                <a:latin typeface="Arial" panose="020B0604020202020204" pitchFamily="34" charset="0"/>
                <a:cs typeface="Arial" panose="020B0604020202020204" pitchFamily="34" charset="0"/>
              </a:rPr>
              <a:t>that effectively </a:t>
            </a:r>
            <a:r>
              <a:rPr lang="en-AU" sz="1100" b="1" dirty="0">
                <a:solidFill>
                  <a:schemeClr val="tx1"/>
                </a:solidFill>
                <a:latin typeface="Arial" panose="020B0604020202020204" pitchFamily="34" charset="0"/>
                <a:cs typeface="Arial" panose="020B0604020202020204" pitchFamily="34" charset="0"/>
              </a:rPr>
              <a:t>balances reliability (accuracy, F1 Precision), interpretability, and computational efficiency </a:t>
            </a:r>
            <a:r>
              <a:rPr lang="en-AU" sz="1100" dirty="0">
                <a:solidFill>
                  <a:schemeClr val="tx1"/>
                </a:solidFill>
                <a:latin typeface="Arial" panose="020B0604020202020204" pitchFamily="34" charset="0"/>
                <a:cs typeface="Arial" panose="020B0604020202020204" pitchFamily="34" charset="0"/>
              </a:rPr>
              <a:t>for market analysis, in line with guidelines provided by research into best practices for NLP model development (Hirschberg &amp; Manning 2015)</a:t>
            </a:r>
            <a:endParaRPr lang="en-US" sz="1100" dirty="0">
              <a:solidFill>
                <a:schemeClr val="tx1"/>
              </a:solidFill>
              <a:latin typeface="Arial" panose="020B0604020202020204" pitchFamily="34" charset="0"/>
              <a:cs typeface="Arial" panose="020B0604020202020204" pitchFamily="34" charset="0"/>
            </a:endParaRPr>
          </a:p>
        </p:txBody>
      </p:sp>
      <p:sp>
        <p:nvSpPr>
          <p:cNvPr id="61" name="Rectangle 60">
            <a:extLst>
              <a:ext uri="{FF2B5EF4-FFF2-40B4-BE49-F238E27FC236}">
                <a16:creationId xmlns:a16="http://schemas.microsoft.com/office/drawing/2014/main" id="{8F092A56-1AD2-80D3-8618-E6105087EE87}"/>
              </a:ext>
            </a:extLst>
          </p:cNvPr>
          <p:cNvSpPr/>
          <p:nvPr/>
        </p:nvSpPr>
        <p:spPr>
          <a:xfrm>
            <a:off x="6605522" y="4535481"/>
            <a:ext cx="3677672" cy="1209958"/>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00" dirty="0">
                <a:solidFill>
                  <a:schemeClr val="tx1"/>
                </a:solidFill>
                <a:latin typeface="Arial" panose="020B0604020202020204" pitchFamily="34" charset="0"/>
                <a:cs typeface="Arial" panose="020B0604020202020204" pitchFamily="34" charset="0"/>
              </a:rPr>
              <a:t>Striving for a model that achieves </a:t>
            </a:r>
            <a:r>
              <a:rPr lang="en-AU" sz="1000" b="1" dirty="0">
                <a:solidFill>
                  <a:schemeClr val="tx1"/>
                </a:solidFill>
                <a:latin typeface="Arial" panose="020B0604020202020204" pitchFamily="34" charset="0"/>
                <a:cs typeface="Arial" panose="020B0604020202020204" pitchFamily="34" charset="0"/>
              </a:rPr>
              <a:t>high accuracy while maintaining computational efficiency </a:t>
            </a:r>
            <a:r>
              <a:rPr lang="en-AU" sz="1000" dirty="0">
                <a:solidFill>
                  <a:schemeClr val="tx1"/>
                </a:solidFill>
                <a:latin typeface="Arial" panose="020B0604020202020204" pitchFamily="34" charset="0"/>
                <a:cs typeface="Arial" panose="020B0604020202020204" pitchFamily="34" charset="0"/>
              </a:rPr>
              <a:t>is an ongoing challenge. Studies such as those by Devlin et al. (2019) and Hutter, </a:t>
            </a:r>
            <a:r>
              <a:rPr lang="en-AU" sz="1000" dirty="0" err="1">
                <a:solidFill>
                  <a:schemeClr val="tx1"/>
                </a:solidFill>
                <a:latin typeface="Arial" panose="020B0604020202020204" pitchFamily="34" charset="0"/>
                <a:cs typeface="Arial" panose="020B0604020202020204" pitchFamily="34" charset="0"/>
              </a:rPr>
              <a:t>Kotthoff</a:t>
            </a:r>
            <a:r>
              <a:rPr lang="en-AU" sz="1000" dirty="0">
                <a:solidFill>
                  <a:schemeClr val="tx1"/>
                </a:solidFill>
                <a:latin typeface="Arial" panose="020B0604020202020204" pitchFamily="34" charset="0"/>
                <a:cs typeface="Arial" panose="020B0604020202020204" pitchFamily="34" charset="0"/>
              </a:rPr>
              <a:t>, &amp; </a:t>
            </a:r>
            <a:r>
              <a:rPr lang="en-AU" sz="1000" dirty="0" err="1">
                <a:solidFill>
                  <a:schemeClr val="tx1"/>
                </a:solidFill>
                <a:latin typeface="Arial" panose="020B0604020202020204" pitchFamily="34" charset="0"/>
                <a:cs typeface="Arial" panose="020B0604020202020204" pitchFamily="34" charset="0"/>
              </a:rPr>
              <a:t>Vanschoren</a:t>
            </a:r>
            <a:r>
              <a:rPr lang="en-AU" sz="1000" dirty="0">
                <a:solidFill>
                  <a:schemeClr val="tx1"/>
                </a:solidFill>
                <a:latin typeface="Arial" panose="020B0604020202020204" pitchFamily="34" charset="0"/>
                <a:cs typeface="Arial" panose="020B0604020202020204" pitchFamily="34" charset="0"/>
              </a:rPr>
              <a:t> (2019) have highlighted the trade-offs in achieving superior performance without overwhelming computational resources, emphasising the need for parameter optimisation and lightweight fine-tuning</a:t>
            </a:r>
          </a:p>
        </p:txBody>
      </p:sp>
      <p:sp>
        <p:nvSpPr>
          <p:cNvPr id="62" name="Rectangle 61">
            <a:extLst>
              <a:ext uri="{FF2B5EF4-FFF2-40B4-BE49-F238E27FC236}">
                <a16:creationId xmlns:a16="http://schemas.microsoft.com/office/drawing/2014/main" id="{AF949252-06B1-F567-7680-2E6BDFD2F944}"/>
              </a:ext>
            </a:extLst>
          </p:cNvPr>
          <p:cNvSpPr/>
          <p:nvPr/>
        </p:nvSpPr>
        <p:spPr>
          <a:xfrm>
            <a:off x="10522079" y="3002237"/>
            <a:ext cx="1020816" cy="1163757"/>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pic>
        <p:nvPicPr>
          <p:cNvPr id="66" name="Picture 65">
            <a:extLst>
              <a:ext uri="{FF2B5EF4-FFF2-40B4-BE49-F238E27FC236}">
                <a16:creationId xmlns:a16="http://schemas.microsoft.com/office/drawing/2014/main" id="{C643B9FB-9624-BDBA-C34C-4FEE565F02B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721685" y="3228850"/>
            <a:ext cx="696663" cy="696663"/>
          </a:xfrm>
          <a:prstGeom prst="rect">
            <a:avLst/>
          </a:prstGeom>
        </p:spPr>
      </p:pic>
      <p:pic>
        <p:nvPicPr>
          <p:cNvPr id="68" name="Picture 67">
            <a:extLst>
              <a:ext uri="{FF2B5EF4-FFF2-40B4-BE49-F238E27FC236}">
                <a16:creationId xmlns:a16="http://schemas.microsoft.com/office/drawing/2014/main" id="{7789E464-8404-BB72-F6A0-5643DCD195D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721685" y="4694626"/>
            <a:ext cx="783044" cy="783044"/>
          </a:xfrm>
          <a:prstGeom prst="rect">
            <a:avLst/>
          </a:prstGeom>
        </p:spPr>
      </p:pic>
      <p:sp>
        <p:nvSpPr>
          <p:cNvPr id="70" name="Rectangle 69">
            <a:extLst>
              <a:ext uri="{FF2B5EF4-FFF2-40B4-BE49-F238E27FC236}">
                <a16:creationId xmlns:a16="http://schemas.microsoft.com/office/drawing/2014/main" id="{8CA5D3F4-4BB0-8A48-FD0B-62A870BDF6B7}"/>
              </a:ext>
            </a:extLst>
          </p:cNvPr>
          <p:cNvSpPr/>
          <p:nvPr/>
        </p:nvSpPr>
        <p:spPr>
          <a:xfrm>
            <a:off x="6630164" y="2990813"/>
            <a:ext cx="3677672" cy="1209958"/>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000" dirty="0">
                <a:solidFill>
                  <a:schemeClr val="tx1"/>
                </a:solidFill>
                <a:latin typeface="Arial" panose="020B0604020202020204" pitchFamily="34" charset="0"/>
                <a:cs typeface="Arial" panose="020B0604020202020204" pitchFamily="34" charset="0"/>
              </a:rPr>
              <a:t>The intricate and subtle language used in central bank statements often contains </a:t>
            </a:r>
            <a:r>
              <a:rPr lang="en-AU" sz="1000" b="1" dirty="0">
                <a:solidFill>
                  <a:schemeClr val="tx1"/>
                </a:solidFill>
                <a:latin typeface="Arial" panose="020B0604020202020204" pitchFamily="34" charset="0"/>
                <a:cs typeface="Arial" panose="020B0604020202020204" pitchFamily="34" charset="0"/>
              </a:rPr>
              <a:t>implicit policy stances </a:t>
            </a:r>
            <a:r>
              <a:rPr lang="en-AU" sz="1000" dirty="0">
                <a:solidFill>
                  <a:schemeClr val="tx1"/>
                </a:solidFill>
                <a:latin typeface="Arial" panose="020B0604020202020204" pitchFamily="34" charset="0"/>
                <a:cs typeface="Arial" panose="020B0604020202020204" pitchFamily="34" charset="0"/>
              </a:rPr>
              <a:t>that are difficult for generic models to interpret effectively (</a:t>
            </a:r>
            <a:r>
              <a:rPr lang="en-AU" sz="1000" dirty="0" err="1">
                <a:solidFill>
                  <a:schemeClr val="tx1"/>
                </a:solidFill>
                <a:latin typeface="Arial" panose="020B0604020202020204" pitchFamily="34" charset="0"/>
                <a:cs typeface="Arial" panose="020B0604020202020204" pitchFamily="34" charset="0"/>
              </a:rPr>
              <a:t>Niţoi</a:t>
            </a:r>
            <a:r>
              <a:rPr lang="en-AU" sz="1000" dirty="0">
                <a:solidFill>
                  <a:schemeClr val="tx1"/>
                </a:solidFill>
                <a:latin typeface="Arial" panose="020B0604020202020204" pitchFamily="34" charset="0"/>
                <a:cs typeface="Arial" panose="020B0604020202020204" pitchFamily="34" charset="0"/>
              </a:rPr>
              <a:t> et al., 2023). This requires advanced transformer architectures and sophisticated contextual learning, as explored by Han (2023) and Yang et al. (2022).</a:t>
            </a:r>
          </a:p>
        </p:txBody>
      </p:sp>
      <p:sp>
        <p:nvSpPr>
          <p:cNvPr id="73" name="TextBox 72">
            <a:extLst>
              <a:ext uri="{FF2B5EF4-FFF2-40B4-BE49-F238E27FC236}">
                <a16:creationId xmlns:a16="http://schemas.microsoft.com/office/drawing/2014/main" id="{018B7DED-1AF8-7536-2A1C-47078D2F8D0E}"/>
              </a:ext>
            </a:extLst>
          </p:cNvPr>
          <p:cNvSpPr txBox="1"/>
          <p:nvPr/>
        </p:nvSpPr>
        <p:spPr>
          <a:xfrm>
            <a:off x="6605522" y="5856188"/>
            <a:ext cx="6102926" cy="184666"/>
          </a:xfrm>
          <a:prstGeom prst="rect">
            <a:avLst/>
          </a:prstGeom>
          <a:noFill/>
        </p:spPr>
        <p:txBody>
          <a:bodyPr wrap="square">
            <a:spAutoFit/>
          </a:bodyPr>
          <a:lstStyle/>
          <a:p>
            <a:r>
              <a:rPr lang="en-AU" sz="600" b="1" i="1" dirty="0">
                <a:solidFill>
                  <a:schemeClr val="tx1"/>
                </a:solidFill>
                <a:latin typeface="Arial" panose="020B0604020202020204" pitchFamily="34" charset="0"/>
                <a:cs typeface="Arial" panose="020B0604020202020204" pitchFamily="34" charset="0"/>
              </a:rPr>
              <a:t>Sources:</a:t>
            </a:r>
            <a:r>
              <a:rPr lang="en-AU" sz="600" b="1" i="1" dirty="0"/>
              <a:t> Hirschberg &amp; Manning (2015); </a:t>
            </a:r>
            <a:r>
              <a:rPr lang="en-AU" sz="600" b="1" i="1" dirty="0" err="1"/>
              <a:t>Niţoi</a:t>
            </a:r>
            <a:r>
              <a:rPr lang="en-AU" sz="600" b="1" i="1" dirty="0"/>
              <a:t>, Stanciu &amp; </a:t>
            </a:r>
            <a:r>
              <a:rPr lang="en-AU" sz="600" b="1" i="1" dirty="0" err="1"/>
              <a:t>Borlea</a:t>
            </a:r>
            <a:r>
              <a:rPr lang="en-AU" sz="600" b="1" i="1" dirty="0"/>
              <a:t> (2023); Han (2023); Devlin et al. (2019); Hutter, </a:t>
            </a:r>
            <a:r>
              <a:rPr lang="en-AU" sz="600" b="1" i="1" dirty="0" err="1"/>
              <a:t>Kotthoff</a:t>
            </a:r>
            <a:r>
              <a:rPr lang="en-AU" sz="600" b="1" i="1" dirty="0"/>
              <a:t> &amp; </a:t>
            </a:r>
            <a:r>
              <a:rPr lang="en-AU" sz="600" b="1" i="1" dirty="0" err="1"/>
              <a:t>Vanschoren</a:t>
            </a:r>
            <a:r>
              <a:rPr lang="en-AU" sz="600" b="1" i="1" dirty="0"/>
              <a:t> (2019)</a:t>
            </a:r>
            <a:endParaRPr lang="en-US" sz="600" b="1" i="1" dirty="0"/>
          </a:p>
        </p:txBody>
      </p:sp>
    </p:spTree>
    <p:extLst>
      <p:ext uri="{BB962C8B-B14F-4D97-AF65-F5344CB8AC3E}">
        <p14:creationId xmlns:p14="http://schemas.microsoft.com/office/powerpoint/2010/main" val="975189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25413-5FF7-57C7-FEB7-A222918133CC}"/>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6800947D-5C00-7B35-19B6-2D4517EE66E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025" y="1487492"/>
            <a:ext cx="8636299" cy="4522559"/>
          </a:xfrm>
          <a:prstGeom prst="rect">
            <a:avLst/>
          </a:prstGeom>
        </p:spPr>
      </p:pic>
      <p:sp>
        <p:nvSpPr>
          <p:cNvPr id="2" name="Title 1">
            <a:extLst>
              <a:ext uri="{FF2B5EF4-FFF2-40B4-BE49-F238E27FC236}">
                <a16:creationId xmlns:a16="http://schemas.microsoft.com/office/drawing/2014/main" id="{E927B7B9-0235-09D4-F94D-2BBADFCFF26A}"/>
              </a:ext>
            </a:extLst>
          </p:cNvPr>
          <p:cNvSpPr>
            <a:spLocks noGrp="1"/>
          </p:cNvSpPr>
          <p:nvPr>
            <p:ph type="title"/>
          </p:nvPr>
        </p:nvSpPr>
        <p:spPr>
          <a:xfrm>
            <a:off x="231648" y="136525"/>
            <a:ext cx="11631168" cy="838835"/>
          </a:xfrm>
        </p:spPr>
        <p:txBody>
          <a:bodyPr/>
          <a:lstStyle/>
          <a:p>
            <a:r>
              <a:rPr lang="en-GB" dirty="0"/>
              <a:t>Literature Review: Overall</a:t>
            </a:r>
            <a:endParaRPr lang="en-AU" dirty="0"/>
          </a:p>
        </p:txBody>
      </p:sp>
      <p:sp>
        <p:nvSpPr>
          <p:cNvPr id="4" name="Slide Number Placeholder 3">
            <a:extLst>
              <a:ext uri="{FF2B5EF4-FFF2-40B4-BE49-F238E27FC236}">
                <a16:creationId xmlns:a16="http://schemas.microsoft.com/office/drawing/2014/main" id="{2C260184-C203-6CFA-EF8C-28E9EE1D9C58}"/>
              </a:ext>
            </a:extLst>
          </p:cNvPr>
          <p:cNvSpPr>
            <a:spLocks noGrp="1"/>
          </p:cNvSpPr>
          <p:nvPr>
            <p:ph type="sldNum" sz="quarter" idx="12"/>
          </p:nvPr>
        </p:nvSpPr>
        <p:spPr/>
        <p:txBody>
          <a:bodyPr/>
          <a:lstStyle/>
          <a:p>
            <a:fld id="{6BAD6A8B-B5C3-4437-A9DE-A8C2149171DD}" type="slidenum">
              <a:rPr lang="en-AU" smtClean="0"/>
              <a:t>4</a:t>
            </a:fld>
            <a:endParaRPr lang="en-AU"/>
          </a:p>
        </p:txBody>
      </p:sp>
      <p:sp>
        <p:nvSpPr>
          <p:cNvPr id="5" name="TextBox 4">
            <a:extLst>
              <a:ext uri="{FF2B5EF4-FFF2-40B4-BE49-F238E27FC236}">
                <a16:creationId xmlns:a16="http://schemas.microsoft.com/office/drawing/2014/main" id="{FA5FB9BB-3DFA-9AE5-A229-D31F8C4EB34C}"/>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Nigel Li (z5320405)</a:t>
            </a:r>
          </a:p>
        </p:txBody>
      </p:sp>
      <p:cxnSp>
        <p:nvCxnSpPr>
          <p:cNvPr id="7" name="Google Shape;119;g12f20562990_0_39">
            <a:extLst>
              <a:ext uri="{FF2B5EF4-FFF2-40B4-BE49-F238E27FC236}">
                <a16:creationId xmlns:a16="http://schemas.microsoft.com/office/drawing/2014/main" id="{135FB4C4-B397-9E4C-63FD-425FEF661CFA}"/>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18" name="Google Shape;176;p6">
            <a:extLst>
              <a:ext uri="{FF2B5EF4-FFF2-40B4-BE49-F238E27FC236}">
                <a16:creationId xmlns:a16="http://schemas.microsoft.com/office/drawing/2014/main" id="{99FA2E96-FB5A-A028-3A47-DAD5A221B54F}"/>
              </a:ext>
            </a:extLst>
          </p:cNvPr>
          <p:cNvSpPr txBox="1"/>
          <p:nvPr/>
        </p:nvSpPr>
        <p:spPr>
          <a:xfrm>
            <a:off x="360693" y="769727"/>
            <a:ext cx="11144034" cy="738623"/>
          </a:xfrm>
          <a:prstGeom prst="rect">
            <a:avLst/>
          </a:prstGeom>
          <a:noFill/>
          <a:ln>
            <a:noFill/>
          </a:ln>
        </p:spPr>
        <p:txBody>
          <a:bodyPr spcFirstLastPara="1" wrap="square" lIns="91425" tIns="45700" rIns="91425" bIns="45700" anchor="t" anchorCtr="0">
            <a:spAutoFit/>
          </a:bodyPr>
          <a:lstStyle/>
          <a:p>
            <a:pPr>
              <a:buSzPts val="2800"/>
            </a:pPr>
            <a:r>
              <a:rPr lang="en-AU" sz="1400" i="1" dirty="0">
                <a:solidFill>
                  <a:schemeClr val="accent3">
                    <a:lumMod val="60000"/>
                    <a:lumOff val="40000"/>
                  </a:schemeClr>
                </a:solidFill>
              </a:rPr>
              <a:t>The literature review is presented through a chronological exploration of key advancements in financial sentiment analysis, highlighting the progression from early dictionary-based approaches to modern transformer-based and </a:t>
            </a:r>
            <a:r>
              <a:rPr lang="en-AU" sz="1400" i="1" dirty="0" err="1">
                <a:solidFill>
                  <a:schemeClr val="accent3">
                    <a:lumMod val="60000"/>
                    <a:lumOff val="40000"/>
                  </a:schemeClr>
                </a:solidFill>
              </a:rPr>
              <a:t>ensembling</a:t>
            </a:r>
            <a:r>
              <a:rPr lang="en-AU" sz="1400" i="1" dirty="0">
                <a:solidFill>
                  <a:schemeClr val="accent3">
                    <a:lumMod val="60000"/>
                    <a:lumOff val="40000"/>
                  </a:schemeClr>
                </a:solidFill>
              </a:rPr>
              <a:t> methods, showcasing the evolution of NLP techniques in capturing financial text nuance</a:t>
            </a:r>
            <a:endParaRPr lang="en-US" sz="1400" b="1" i="1" u="none" strike="noStrike" cap="none" dirty="0">
              <a:solidFill>
                <a:schemeClr val="accent3">
                  <a:lumMod val="60000"/>
                  <a:lumOff val="40000"/>
                </a:schemeClr>
              </a:solidFill>
              <a:latin typeface="+mn-lt"/>
              <a:ea typeface="Avenir"/>
              <a:cs typeface="Avenir"/>
            </a:endParaRPr>
          </a:p>
        </p:txBody>
      </p:sp>
      <p:grpSp>
        <p:nvGrpSpPr>
          <p:cNvPr id="6" name="Google Shape;121;g12f20562990_0_39">
            <a:extLst>
              <a:ext uri="{FF2B5EF4-FFF2-40B4-BE49-F238E27FC236}">
                <a16:creationId xmlns:a16="http://schemas.microsoft.com/office/drawing/2014/main" id="{608BD6E0-CA72-F9BE-2338-22861BC3DF26}"/>
              </a:ext>
            </a:extLst>
          </p:cNvPr>
          <p:cNvGrpSpPr/>
          <p:nvPr/>
        </p:nvGrpSpPr>
        <p:grpSpPr>
          <a:xfrm>
            <a:off x="2610855" y="6225545"/>
            <a:ext cx="6060176" cy="365125"/>
            <a:chOff x="1425588" y="6394039"/>
            <a:chExt cx="9340906" cy="363742"/>
          </a:xfrm>
        </p:grpSpPr>
        <p:sp>
          <p:nvSpPr>
            <p:cNvPr id="8" name="Google Shape;122;g12f20562990_0_39">
              <a:extLst>
                <a:ext uri="{FF2B5EF4-FFF2-40B4-BE49-F238E27FC236}">
                  <a16:creationId xmlns:a16="http://schemas.microsoft.com/office/drawing/2014/main" id="{5A0EB221-9624-A38B-FB43-E78E57AFCE5F}"/>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7" name="Google Shape;123;g12f20562990_0_39">
              <a:extLst>
                <a:ext uri="{FF2B5EF4-FFF2-40B4-BE49-F238E27FC236}">
                  <a16:creationId xmlns:a16="http://schemas.microsoft.com/office/drawing/2014/main" id="{DD90D626-3486-F63F-3444-D5FDCA5CF37D}"/>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20" name="Google Shape;124;g12f20562990_0_39">
              <a:extLst>
                <a:ext uri="{FF2B5EF4-FFF2-40B4-BE49-F238E27FC236}">
                  <a16:creationId xmlns:a16="http://schemas.microsoft.com/office/drawing/2014/main" id="{F00483AD-3767-CDB8-0D0F-0EF781159998}"/>
                </a:ext>
              </a:extLst>
            </p:cNvPr>
            <p:cNvSpPr/>
            <p:nvPr/>
          </p:nvSpPr>
          <p:spPr>
            <a:xfrm>
              <a:off x="5152512" y="6398681"/>
              <a:ext cx="19833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bg1"/>
                  </a:solidFill>
                  <a:latin typeface="+mj-lt"/>
                  <a:sym typeface="Avenir"/>
                </a:rPr>
                <a:t>Literature</a:t>
              </a:r>
              <a:endParaRPr sz="1400" b="1" i="0" u="none" strike="noStrike" cap="none" dirty="0">
                <a:solidFill>
                  <a:schemeClr val="bg1"/>
                </a:solidFill>
                <a:latin typeface="+mj-lt"/>
                <a:sym typeface="Arial"/>
              </a:endParaRPr>
            </a:p>
          </p:txBody>
        </p:sp>
        <p:sp>
          <p:nvSpPr>
            <p:cNvPr id="21" name="Google Shape;125;g12f20562990_0_39">
              <a:extLst>
                <a:ext uri="{FF2B5EF4-FFF2-40B4-BE49-F238E27FC236}">
                  <a16:creationId xmlns:a16="http://schemas.microsoft.com/office/drawing/2014/main" id="{3998069B-500D-8D5D-A242-A23DE748E180}"/>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2" name="Google Shape;126;g12f20562990_0_39">
              <a:extLst>
                <a:ext uri="{FF2B5EF4-FFF2-40B4-BE49-F238E27FC236}">
                  <a16:creationId xmlns:a16="http://schemas.microsoft.com/office/drawing/2014/main" id="{9E1CC572-2370-F7FC-4466-F4256D358621}"/>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3" name="Google Shape;126;g12f20562990_0_39">
            <a:extLst>
              <a:ext uri="{FF2B5EF4-FFF2-40B4-BE49-F238E27FC236}">
                <a16:creationId xmlns:a16="http://schemas.microsoft.com/office/drawing/2014/main" id="{2E2E07DC-58D9-4D9A-90E2-848C7697A8BF}"/>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24" name="Google Shape;126;g12f20562990_0_39">
            <a:extLst>
              <a:ext uri="{FF2B5EF4-FFF2-40B4-BE49-F238E27FC236}">
                <a16:creationId xmlns:a16="http://schemas.microsoft.com/office/drawing/2014/main" id="{1E1BB413-47B1-8873-33C9-1DE10D4BA137}"/>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Tree>
    <p:extLst>
      <p:ext uri="{BB962C8B-B14F-4D97-AF65-F5344CB8AC3E}">
        <p14:creationId xmlns:p14="http://schemas.microsoft.com/office/powerpoint/2010/main" val="2831702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BA43E-049F-A662-DEDB-FBDE79C1F0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32AD8-0D25-F737-5351-EDA33D85C404}"/>
              </a:ext>
            </a:extLst>
          </p:cNvPr>
          <p:cNvSpPr>
            <a:spLocks noGrp="1"/>
          </p:cNvSpPr>
          <p:nvPr>
            <p:ph type="title"/>
          </p:nvPr>
        </p:nvSpPr>
        <p:spPr>
          <a:xfrm>
            <a:off x="231648" y="136525"/>
            <a:ext cx="11631168" cy="838835"/>
          </a:xfrm>
        </p:spPr>
        <p:txBody>
          <a:bodyPr/>
          <a:lstStyle/>
          <a:p>
            <a:r>
              <a:rPr lang="en-GB" dirty="0"/>
              <a:t>Literature Review</a:t>
            </a:r>
            <a:endParaRPr lang="en-AU" dirty="0"/>
          </a:p>
        </p:txBody>
      </p:sp>
      <p:sp>
        <p:nvSpPr>
          <p:cNvPr id="4" name="Slide Number Placeholder 3">
            <a:extLst>
              <a:ext uri="{FF2B5EF4-FFF2-40B4-BE49-F238E27FC236}">
                <a16:creationId xmlns:a16="http://schemas.microsoft.com/office/drawing/2014/main" id="{47ADABD4-14F4-3B3E-B71E-2E3B1F51B01E}"/>
              </a:ext>
            </a:extLst>
          </p:cNvPr>
          <p:cNvSpPr>
            <a:spLocks noGrp="1"/>
          </p:cNvSpPr>
          <p:nvPr>
            <p:ph type="sldNum" sz="quarter" idx="12"/>
          </p:nvPr>
        </p:nvSpPr>
        <p:spPr/>
        <p:txBody>
          <a:bodyPr/>
          <a:lstStyle/>
          <a:p>
            <a:fld id="{6BAD6A8B-B5C3-4437-A9DE-A8C2149171DD}" type="slidenum">
              <a:rPr lang="en-AU" smtClean="0"/>
              <a:t>5</a:t>
            </a:fld>
            <a:endParaRPr lang="en-AU"/>
          </a:p>
        </p:txBody>
      </p:sp>
      <p:sp>
        <p:nvSpPr>
          <p:cNvPr id="5" name="TextBox 4">
            <a:extLst>
              <a:ext uri="{FF2B5EF4-FFF2-40B4-BE49-F238E27FC236}">
                <a16:creationId xmlns:a16="http://schemas.microsoft.com/office/drawing/2014/main" id="{643CECCA-2855-8EC7-BD3D-9602186FF122}"/>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Nigel Li (z5320405)</a:t>
            </a:r>
          </a:p>
        </p:txBody>
      </p:sp>
      <p:cxnSp>
        <p:nvCxnSpPr>
          <p:cNvPr id="7" name="Google Shape;119;g12f20562990_0_39">
            <a:extLst>
              <a:ext uri="{FF2B5EF4-FFF2-40B4-BE49-F238E27FC236}">
                <a16:creationId xmlns:a16="http://schemas.microsoft.com/office/drawing/2014/main" id="{98461701-F42D-F394-8BC2-76001D818C7B}"/>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18" name="Google Shape;176;p6">
            <a:extLst>
              <a:ext uri="{FF2B5EF4-FFF2-40B4-BE49-F238E27FC236}">
                <a16:creationId xmlns:a16="http://schemas.microsoft.com/office/drawing/2014/main" id="{2967ED52-DA96-7E1D-8B5E-07E0D70A9A62}"/>
              </a:ext>
            </a:extLst>
          </p:cNvPr>
          <p:cNvSpPr txBox="1"/>
          <p:nvPr/>
        </p:nvSpPr>
        <p:spPr>
          <a:xfrm>
            <a:off x="360693" y="769946"/>
            <a:ext cx="11144034" cy="523180"/>
          </a:xfrm>
          <a:prstGeom prst="rect">
            <a:avLst/>
          </a:prstGeom>
          <a:noFill/>
          <a:ln>
            <a:noFill/>
          </a:ln>
        </p:spPr>
        <p:txBody>
          <a:bodyPr spcFirstLastPara="1" wrap="square" lIns="91425" tIns="45700" rIns="91425" bIns="45700" anchor="t" anchorCtr="0">
            <a:spAutoFit/>
          </a:bodyPr>
          <a:lstStyle/>
          <a:p>
            <a:pPr>
              <a:buSzPts val="2800"/>
            </a:pPr>
            <a:r>
              <a:rPr lang="en-AU" sz="1400" i="1" dirty="0">
                <a:solidFill>
                  <a:schemeClr val="accent3">
                    <a:lumMod val="60000"/>
                    <a:lumOff val="40000"/>
                  </a:schemeClr>
                </a:solidFill>
              </a:rPr>
              <a:t>Loughran and McDonald (2011) developed a dictionary-based sentiment analysis for financial texts, which effectively addressed domain-specific sentiment but lacked contextual understanding and flexibility.</a:t>
            </a:r>
            <a:endParaRPr lang="en-US" sz="1400" b="1" i="1" u="none" strike="noStrike" cap="none" dirty="0">
              <a:solidFill>
                <a:schemeClr val="accent3">
                  <a:lumMod val="60000"/>
                  <a:lumOff val="40000"/>
                </a:schemeClr>
              </a:solidFill>
              <a:latin typeface="+mn-lt"/>
              <a:ea typeface="Avenir"/>
              <a:cs typeface="Avenir"/>
            </a:endParaRPr>
          </a:p>
        </p:txBody>
      </p:sp>
      <p:pic>
        <p:nvPicPr>
          <p:cNvPr id="19" name="Picture 18">
            <a:extLst>
              <a:ext uri="{FF2B5EF4-FFF2-40B4-BE49-F238E27FC236}">
                <a16:creationId xmlns:a16="http://schemas.microsoft.com/office/drawing/2014/main" id="{0C979D4C-151B-D2B1-3CAF-F7346D06F44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025" y="1487492"/>
            <a:ext cx="8636299" cy="4522559"/>
          </a:xfrm>
          <a:prstGeom prst="rect">
            <a:avLst/>
          </a:prstGeom>
        </p:spPr>
      </p:pic>
      <p:sp>
        <p:nvSpPr>
          <p:cNvPr id="3" name="TextBox 2">
            <a:extLst>
              <a:ext uri="{FF2B5EF4-FFF2-40B4-BE49-F238E27FC236}">
                <a16:creationId xmlns:a16="http://schemas.microsoft.com/office/drawing/2014/main" id="{DA51AD03-B882-9C30-EF0F-BDEA2DAB3335}"/>
              </a:ext>
            </a:extLst>
          </p:cNvPr>
          <p:cNvSpPr txBox="1"/>
          <p:nvPr/>
        </p:nvSpPr>
        <p:spPr>
          <a:xfrm>
            <a:off x="431012" y="5012870"/>
            <a:ext cx="1920302" cy="985871"/>
          </a:xfrm>
          <a:prstGeom prst="rect">
            <a:avLst/>
          </a:prstGeom>
          <a:noFill/>
          <a:ln w="34925">
            <a:solidFill>
              <a:srgbClr val="FF0000"/>
            </a:solidFill>
          </a:ln>
        </p:spPr>
        <p:txBody>
          <a:bodyPr wrap="square" rtlCol="0">
            <a:noAutofit/>
          </a:bodyPr>
          <a:lstStyle/>
          <a:p>
            <a:endParaRPr lang="en-US" dirty="0"/>
          </a:p>
        </p:txBody>
      </p:sp>
      <p:sp>
        <p:nvSpPr>
          <p:cNvPr id="8" name="TextBox 7">
            <a:extLst>
              <a:ext uri="{FF2B5EF4-FFF2-40B4-BE49-F238E27FC236}">
                <a16:creationId xmlns:a16="http://schemas.microsoft.com/office/drawing/2014/main" id="{21B3B1F3-3F52-8606-AA41-DCB5A90A5B40}"/>
              </a:ext>
            </a:extLst>
          </p:cNvPr>
          <p:cNvSpPr txBox="1"/>
          <p:nvPr/>
        </p:nvSpPr>
        <p:spPr>
          <a:xfrm>
            <a:off x="8101582" y="3000288"/>
            <a:ext cx="3761234" cy="1169551"/>
          </a:xfrm>
          <a:prstGeom prst="rect">
            <a:avLst/>
          </a:prstGeom>
          <a:noFill/>
        </p:spPr>
        <p:txBody>
          <a:bodyPr wrap="square">
            <a:spAutoFit/>
          </a:bodyPr>
          <a:lstStyle/>
          <a:p>
            <a:r>
              <a:rPr lang="en-AU" sz="1400" b="1" i="1" dirty="0">
                <a:latin typeface="Arial" panose="020B0604020202020204" pitchFamily="34" charset="0"/>
                <a:cs typeface="Arial" panose="020B0604020202020204" pitchFamily="34" charset="0"/>
              </a:rPr>
              <a:t>Did:</a:t>
            </a:r>
            <a:r>
              <a:rPr lang="en-AU" sz="1400" b="1" dirty="0">
                <a:latin typeface="Arial" panose="020B0604020202020204" pitchFamily="34" charset="0"/>
                <a:cs typeface="Arial" panose="020B0604020202020204" pitchFamily="34" charset="0"/>
              </a:rPr>
              <a:t> </a:t>
            </a:r>
            <a:r>
              <a:rPr lang="en-AU" sz="1400" dirty="0">
                <a:latin typeface="Arial" panose="020B0604020202020204" pitchFamily="34" charset="0"/>
                <a:cs typeface="Arial" panose="020B0604020202020204" pitchFamily="34" charset="0"/>
              </a:rPr>
              <a:t>Created dictionary-based financial sentiment analysis.</a:t>
            </a:r>
          </a:p>
          <a:p>
            <a:endParaRPr lang="en-AU" sz="1400" dirty="0">
              <a:latin typeface="Arial" panose="020B0604020202020204" pitchFamily="34" charset="0"/>
              <a:cs typeface="Arial" panose="020B0604020202020204" pitchFamily="34" charset="0"/>
            </a:endParaRPr>
          </a:p>
          <a:p>
            <a:r>
              <a:rPr lang="en-AU" sz="1400" b="1" i="1" dirty="0">
                <a:latin typeface="Arial" panose="020B0604020202020204" pitchFamily="34" charset="0"/>
                <a:cs typeface="Arial" panose="020B0604020202020204" pitchFamily="34" charset="0"/>
              </a:rPr>
              <a:t>Limitation:</a:t>
            </a:r>
            <a:r>
              <a:rPr lang="en-AU" sz="1400" b="1" dirty="0">
                <a:latin typeface="Arial" panose="020B0604020202020204" pitchFamily="34" charset="0"/>
                <a:cs typeface="Arial" panose="020B0604020202020204" pitchFamily="34" charset="0"/>
              </a:rPr>
              <a:t> </a:t>
            </a:r>
            <a:r>
              <a:rPr lang="en-AU" sz="1400" dirty="0">
                <a:latin typeface="Arial" panose="020B0604020202020204" pitchFamily="34" charset="0"/>
                <a:cs typeface="Arial" panose="020B0604020202020204" pitchFamily="34" charset="0"/>
              </a:rPr>
              <a:t>Lacked context-awareness; struggled with nuances.</a:t>
            </a:r>
          </a:p>
        </p:txBody>
      </p:sp>
      <p:grpSp>
        <p:nvGrpSpPr>
          <p:cNvPr id="17" name="Google Shape;121;g12f20562990_0_39">
            <a:extLst>
              <a:ext uri="{FF2B5EF4-FFF2-40B4-BE49-F238E27FC236}">
                <a16:creationId xmlns:a16="http://schemas.microsoft.com/office/drawing/2014/main" id="{068D0EA1-2C6C-3FC5-EDFC-2E148044D367}"/>
              </a:ext>
            </a:extLst>
          </p:cNvPr>
          <p:cNvGrpSpPr/>
          <p:nvPr/>
        </p:nvGrpSpPr>
        <p:grpSpPr>
          <a:xfrm>
            <a:off x="2610855" y="6225545"/>
            <a:ext cx="6060176" cy="365125"/>
            <a:chOff x="1425588" y="6394039"/>
            <a:chExt cx="9340906" cy="363742"/>
          </a:xfrm>
        </p:grpSpPr>
        <p:sp>
          <p:nvSpPr>
            <p:cNvPr id="20" name="Google Shape;122;g12f20562990_0_39">
              <a:extLst>
                <a:ext uri="{FF2B5EF4-FFF2-40B4-BE49-F238E27FC236}">
                  <a16:creationId xmlns:a16="http://schemas.microsoft.com/office/drawing/2014/main" id="{6333A8F7-05C7-043C-8849-5FF5B37DE08E}"/>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21" name="Google Shape;123;g12f20562990_0_39">
              <a:extLst>
                <a:ext uri="{FF2B5EF4-FFF2-40B4-BE49-F238E27FC236}">
                  <a16:creationId xmlns:a16="http://schemas.microsoft.com/office/drawing/2014/main" id="{89A9FA1E-102C-059A-AD5D-E92958E2F597}"/>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22" name="Google Shape;124;g12f20562990_0_39">
              <a:extLst>
                <a:ext uri="{FF2B5EF4-FFF2-40B4-BE49-F238E27FC236}">
                  <a16:creationId xmlns:a16="http://schemas.microsoft.com/office/drawing/2014/main" id="{176FECC3-0533-1B37-62D5-31CD97B4BF46}"/>
                </a:ext>
              </a:extLst>
            </p:cNvPr>
            <p:cNvSpPr/>
            <p:nvPr/>
          </p:nvSpPr>
          <p:spPr>
            <a:xfrm>
              <a:off x="5152512" y="6398681"/>
              <a:ext cx="19833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bg1"/>
                  </a:solidFill>
                  <a:latin typeface="+mj-lt"/>
                  <a:sym typeface="Avenir"/>
                </a:rPr>
                <a:t>Literature</a:t>
              </a:r>
              <a:endParaRPr sz="1400" b="1" i="0" u="none" strike="noStrike" cap="none" dirty="0">
                <a:solidFill>
                  <a:schemeClr val="bg1"/>
                </a:solidFill>
                <a:latin typeface="+mj-lt"/>
                <a:sym typeface="Arial"/>
              </a:endParaRPr>
            </a:p>
          </p:txBody>
        </p:sp>
        <p:sp>
          <p:nvSpPr>
            <p:cNvPr id="23" name="Google Shape;125;g12f20562990_0_39">
              <a:extLst>
                <a:ext uri="{FF2B5EF4-FFF2-40B4-BE49-F238E27FC236}">
                  <a16:creationId xmlns:a16="http://schemas.microsoft.com/office/drawing/2014/main" id="{1D8E9E7E-F51C-2F7C-D3D0-57FB023B414F}"/>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4" name="Google Shape;126;g12f20562990_0_39">
              <a:extLst>
                <a:ext uri="{FF2B5EF4-FFF2-40B4-BE49-F238E27FC236}">
                  <a16:creationId xmlns:a16="http://schemas.microsoft.com/office/drawing/2014/main" id="{6D66A8D5-6680-C6B4-476C-885F708303C5}"/>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5" name="Google Shape;126;g12f20562990_0_39">
            <a:extLst>
              <a:ext uri="{FF2B5EF4-FFF2-40B4-BE49-F238E27FC236}">
                <a16:creationId xmlns:a16="http://schemas.microsoft.com/office/drawing/2014/main" id="{6884F518-1491-EF5A-2EB3-DF0397B29763}"/>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26" name="Google Shape;126;g12f20562990_0_39">
            <a:extLst>
              <a:ext uri="{FF2B5EF4-FFF2-40B4-BE49-F238E27FC236}">
                <a16:creationId xmlns:a16="http://schemas.microsoft.com/office/drawing/2014/main" id="{772E3DAD-90C5-00D0-A181-C2943FD926E0}"/>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Tree>
    <p:extLst>
      <p:ext uri="{BB962C8B-B14F-4D97-AF65-F5344CB8AC3E}">
        <p14:creationId xmlns:p14="http://schemas.microsoft.com/office/powerpoint/2010/main" val="4143168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BCD14-13C7-E1FF-B626-0B168DEF8E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16A039-A241-ACC4-3EF1-917EF0C5DC87}"/>
              </a:ext>
            </a:extLst>
          </p:cNvPr>
          <p:cNvSpPr>
            <a:spLocks noGrp="1"/>
          </p:cNvSpPr>
          <p:nvPr>
            <p:ph type="title"/>
          </p:nvPr>
        </p:nvSpPr>
        <p:spPr>
          <a:xfrm>
            <a:off x="231648" y="136525"/>
            <a:ext cx="11631168" cy="838835"/>
          </a:xfrm>
        </p:spPr>
        <p:txBody>
          <a:bodyPr/>
          <a:lstStyle/>
          <a:p>
            <a:r>
              <a:rPr lang="en-GB" dirty="0"/>
              <a:t>Literature Review</a:t>
            </a:r>
            <a:endParaRPr lang="en-AU" dirty="0"/>
          </a:p>
        </p:txBody>
      </p:sp>
      <p:sp>
        <p:nvSpPr>
          <p:cNvPr id="4" name="Slide Number Placeholder 3">
            <a:extLst>
              <a:ext uri="{FF2B5EF4-FFF2-40B4-BE49-F238E27FC236}">
                <a16:creationId xmlns:a16="http://schemas.microsoft.com/office/drawing/2014/main" id="{917A2BB7-CE0A-4D2E-EC69-1227FFE91B1E}"/>
              </a:ext>
            </a:extLst>
          </p:cNvPr>
          <p:cNvSpPr>
            <a:spLocks noGrp="1"/>
          </p:cNvSpPr>
          <p:nvPr>
            <p:ph type="sldNum" sz="quarter" idx="12"/>
          </p:nvPr>
        </p:nvSpPr>
        <p:spPr/>
        <p:txBody>
          <a:bodyPr/>
          <a:lstStyle/>
          <a:p>
            <a:fld id="{6BAD6A8B-B5C3-4437-A9DE-A8C2149171DD}" type="slidenum">
              <a:rPr lang="en-AU" smtClean="0"/>
              <a:t>6</a:t>
            </a:fld>
            <a:endParaRPr lang="en-AU"/>
          </a:p>
        </p:txBody>
      </p:sp>
      <p:sp>
        <p:nvSpPr>
          <p:cNvPr id="5" name="TextBox 4">
            <a:extLst>
              <a:ext uri="{FF2B5EF4-FFF2-40B4-BE49-F238E27FC236}">
                <a16:creationId xmlns:a16="http://schemas.microsoft.com/office/drawing/2014/main" id="{FDF36226-EC3C-17C8-212D-21D14BA0001B}"/>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Nigel Li (z5320405)</a:t>
            </a:r>
          </a:p>
        </p:txBody>
      </p:sp>
      <p:cxnSp>
        <p:nvCxnSpPr>
          <p:cNvPr id="7" name="Google Shape;119;g12f20562990_0_39">
            <a:extLst>
              <a:ext uri="{FF2B5EF4-FFF2-40B4-BE49-F238E27FC236}">
                <a16:creationId xmlns:a16="http://schemas.microsoft.com/office/drawing/2014/main" id="{44EF9D6B-A230-35F3-07AD-5DA813FB7252}"/>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18" name="Google Shape;176;p6">
            <a:extLst>
              <a:ext uri="{FF2B5EF4-FFF2-40B4-BE49-F238E27FC236}">
                <a16:creationId xmlns:a16="http://schemas.microsoft.com/office/drawing/2014/main" id="{F6C74BB0-91F5-AEAF-FA9B-71A322BB604B}"/>
              </a:ext>
            </a:extLst>
          </p:cNvPr>
          <p:cNvSpPr txBox="1"/>
          <p:nvPr/>
        </p:nvSpPr>
        <p:spPr>
          <a:xfrm>
            <a:off x="360693" y="769727"/>
            <a:ext cx="11144034" cy="523180"/>
          </a:xfrm>
          <a:prstGeom prst="rect">
            <a:avLst/>
          </a:prstGeom>
          <a:noFill/>
          <a:ln>
            <a:noFill/>
          </a:ln>
        </p:spPr>
        <p:txBody>
          <a:bodyPr spcFirstLastPara="1" wrap="square" lIns="91425" tIns="45700" rIns="91425" bIns="45700" anchor="t" anchorCtr="0">
            <a:spAutoFit/>
          </a:bodyPr>
          <a:lstStyle/>
          <a:p>
            <a:pPr>
              <a:buSzPts val="2800"/>
            </a:pPr>
            <a:r>
              <a:rPr lang="en-AU" sz="1400" i="1" dirty="0" err="1">
                <a:solidFill>
                  <a:schemeClr val="accent3">
                    <a:lumMod val="60000"/>
                    <a:lumOff val="40000"/>
                  </a:schemeClr>
                </a:solidFill>
              </a:rPr>
              <a:t>Greff</a:t>
            </a:r>
            <a:r>
              <a:rPr lang="en-AU" sz="1400" i="1" dirty="0">
                <a:solidFill>
                  <a:schemeClr val="accent3">
                    <a:lumMod val="60000"/>
                    <a:lumOff val="40000"/>
                  </a:schemeClr>
                </a:solidFill>
              </a:rPr>
              <a:t> et al. (2015) introduces LSTMs to capture sequential dependencies in financial text, significantly improving upon traditional models, though computational complexity and long training times were key limitations.</a:t>
            </a:r>
            <a:endParaRPr lang="en-US" sz="1400" b="1" i="1" u="none" strike="noStrike" cap="none" dirty="0">
              <a:solidFill>
                <a:schemeClr val="accent3">
                  <a:lumMod val="60000"/>
                  <a:lumOff val="40000"/>
                </a:schemeClr>
              </a:solidFill>
              <a:latin typeface="+mn-lt"/>
              <a:ea typeface="Avenir"/>
              <a:cs typeface="Avenir"/>
            </a:endParaRPr>
          </a:p>
        </p:txBody>
      </p:sp>
      <p:pic>
        <p:nvPicPr>
          <p:cNvPr id="19" name="Picture 18">
            <a:extLst>
              <a:ext uri="{FF2B5EF4-FFF2-40B4-BE49-F238E27FC236}">
                <a16:creationId xmlns:a16="http://schemas.microsoft.com/office/drawing/2014/main" id="{1DBC972A-24BE-77C0-642F-045ADBAF6CE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025" y="1487492"/>
            <a:ext cx="8636299" cy="4522559"/>
          </a:xfrm>
          <a:prstGeom prst="rect">
            <a:avLst/>
          </a:prstGeom>
        </p:spPr>
      </p:pic>
      <p:sp>
        <p:nvSpPr>
          <p:cNvPr id="3" name="TextBox 2">
            <a:extLst>
              <a:ext uri="{FF2B5EF4-FFF2-40B4-BE49-F238E27FC236}">
                <a16:creationId xmlns:a16="http://schemas.microsoft.com/office/drawing/2014/main" id="{89744186-4396-2622-2BAB-E527D690A15A}"/>
              </a:ext>
            </a:extLst>
          </p:cNvPr>
          <p:cNvSpPr txBox="1"/>
          <p:nvPr/>
        </p:nvSpPr>
        <p:spPr>
          <a:xfrm>
            <a:off x="2289491" y="4448359"/>
            <a:ext cx="1920302" cy="985871"/>
          </a:xfrm>
          <a:prstGeom prst="rect">
            <a:avLst/>
          </a:prstGeom>
          <a:noFill/>
          <a:ln w="34925">
            <a:solidFill>
              <a:srgbClr val="FF0000"/>
            </a:solidFill>
          </a:ln>
        </p:spPr>
        <p:txBody>
          <a:bodyPr wrap="square" rtlCol="0">
            <a:noAutofit/>
          </a:bodyPr>
          <a:lstStyle/>
          <a:p>
            <a:endParaRPr lang="en-US" dirty="0"/>
          </a:p>
        </p:txBody>
      </p:sp>
      <p:grpSp>
        <p:nvGrpSpPr>
          <p:cNvPr id="6" name="Google Shape;121;g12f20562990_0_39">
            <a:extLst>
              <a:ext uri="{FF2B5EF4-FFF2-40B4-BE49-F238E27FC236}">
                <a16:creationId xmlns:a16="http://schemas.microsoft.com/office/drawing/2014/main" id="{EE073FBD-E063-0275-D9DF-8476F0C97091}"/>
              </a:ext>
            </a:extLst>
          </p:cNvPr>
          <p:cNvGrpSpPr/>
          <p:nvPr/>
        </p:nvGrpSpPr>
        <p:grpSpPr>
          <a:xfrm>
            <a:off x="2610855" y="6225545"/>
            <a:ext cx="6060176" cy="365125"/>
            <a:chOff x="1425588" y="6394039"/>
            <a:chExt cx="9340906" cy="363742"/>
          </a:xfrm>
        </p:grpSpPr>
        <p:sp>
          <p:nvSpPr>
            <p:cNvPr id="8" name="Google Shape;122;g12f20562990_0_39">
              <a:extLst>
                <a:ext uri="{FF2B5EF4-FFF2-40B4-BE49-F238E27FC236}">
                  <a16:creationId xmlns:a16="http://schemas.microsoft.com/office/drawing/2014/main" id="{2C501D32-6033-E0E4-6048-2FD636AE199B}"/>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7" name="Google Shape;123;g12f20562990_0_39">
              <a:extLst>
                <a:ext uri="{FF2B5EF4-FFF2-40B4-BE49-F238E27FC236}">
                  <a16:creationId xmlns:a16="http://schemas.microsoft.com/office/drawing/2014/main" id="{4DC3008C-9946-0A0E-49D9-E91F130C9365}"/>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20" name="Google Shape;124;g12f20562990_0_39">
              <a:extLst>
                <a:ext uri="{FF2B5EF4-FFF2-40B4-BE49-F238E27FC236}">
                  <a16:creationId xmlns:a16="http://schemas.microsoft.com/office/drawing/2014/main" id="{57406CF6-CE6C-8C12-545F-6E8934647C73}"/>
                </a:ext>
              </a:extLst>
            </p:cNvPr>
            <p:cNvSpPr/>
            <p:nvPr/>
          </p:nvSpPr>
          <p:spPr>
            <a:xfrm>
              <a:off x="5152512" y="6398681"/>
              <a:ext cx="19833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bg1"/>
                  </a:solidFill>
                  <a:latin typeface="+mj-lt"/>
                  <a:sym typeface="Avenir"/>
                </a:rPr>
                <a:t>Literature</a:t>
              </a:r>
              <a:endParaRPr sz="1400" b="1" i="0" u="none" strike="noStrike" cap="none" dirty="0">
                <a:solidFill>
                  <a:schemeClr val="bg1"/>
                </a:solidFill>
                <a:latin typeface="+mj-lt"/>
                <a:sym typeface="Arial"/>
              </a:endParaRPr>
            </a:p>
          </p:txBody>
        </p:sp>
        <p:sp>
          <p:nvSpPr>
            <p:cNvPr id="21" name="Google Shape;125;g12f20562990_0_39">
              <a:extLst>
                <a:ext uri="{FF2B5EF4-FFF2-40B4-BE49-F238E27FC236}">
                  <a16:creationId xmlns:a16="http://schemas.microsoft.com/office/drawing/2014/main" id="{03EB926A-36BA-2F36-D3C0-4FD21C1CBCCC}"/>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2" name="Google Shape;126;g12f20562990_0_39">
              <a:extLst>
                <a:ext uri="{FF2B5EF4-FFF2-40B4-BE49-F238E27FC236}">
                  <a16:creationId xmlns:a16="http://schemas.microsoft.com/office/drawing/2014/main" id="{13DD1281-A635-17C2-927A-8AEC1167DF30}"/>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3" name="Google Shape;126;g12f20562990_0_39">
            <a:extLst>
              <a:ext uri="{FF2B5EF4-FFF2-40B4-BE49-F238E27FC236}">
                <a16:creationId xmlns:a16="http://schemas.microsoft.com/office/drawing/2014/main" id="{2FC45F28-C569-158F-1C73-A78F5ECD6AFB}"/>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24" name="Google Shape;126;g12f20562990_0_39">
            <a:extLst>
              <a:ext uri="{FF2B5EF4-FFF2-40B4-BE49-F238E27FC236}">
                <a16:creationId xmlns:a16="http://schemas.microsoft.com/office/drawing/2014/main" id="{4E055898-8F46-346F-C190-99F6441D79F6}"/>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26" name="TextBox 25">
            <a:extLst>
              <a:ext uri="{FF2B5EF4-FFF2-40B4-BE49-F238E27FC236}">
                <a16:creationId xmlns:a16="http://schemas.microsoft.com/office/drawing/2014/main" id="{1B5FD484-BDAC-5F10-B21D-0F018FC001A3}"/>
              </a:ext>
            </a:extLst>
          </p:cNvPr>
          <p:cNvSpPr txBox="1"/>
          <p:nvPr/>
        </p:nvSpPr>
        <p:spPr>
          <a:xfrm>
            <a:off x="8177782" y="2879732"/>
            <a:ext cx="3840534" cy="1600438"/>
          </a:xfrm>
          <a:prstGeom prst="rect">
            <a:avLst/>
          </a:prstGeom>
          <a:noFill/>
        </p:spPr>
        <p:txBody>
          <a:bodyPr wrap="square">
            <a:spAutoFit/>
          </a:bodyPr>
          <a:lstStyle/>
          <a:p>
            <a:r>
              <a:rPr lang="en-AU" sz="1400" b="1" i="1" dirty="0">
                <a:latin typeface="Arial" panose="020B0604020202020204" pitchFamily="34" charset="0"/>
                <a:cs typeface="Arial" panose="020B0604020202020204" pitchFamily="34" charset="0"/>
              </a:rPr>
              <a:t>Did:</a:t>
            </a:r>
            <a:r>
              <a:rPr lang="en-AU" sz="1400" b="1" dirty="0">
                <a:latin typeface="Arial" panose="020B0604020202020204" pitchFamily="34" charset="0"/>
                <a:cs typeface="Arial" panose="020B0604020202020204" pitchFamily="34" charset="0"/>
              </a:rPr>
              <a:t> </a:t>
            </a:r>
            <a:r>
              <a:rPr lang="en-AU" sz="1400" dirty="0">
                <a:latin typeface="Arial" panose="020B0604020202020204" pitchFamily="34" charset="0"/>
                <a:cs typeface="Arial" panose="020B0604020202020204" pitchFamily="34" charset="0"/>
              </a:rPr>
              <a:t>Utilised LSTMs to effectively model sequential dependencies in financial text.</a:t>
            </a:r>
          </a:p>
          <a:p>
            <a:endParaRPr lang="en-AU" sz="1400" b="1" i="1" dirty="0">
              <a:latin typeface="Arial" panose="020B0604020202020204" pitchFamily="34" charset="0"/>
              <a:cs typeface="Arial" panose="020B0604020202020204" pitchFamily="34" charset="0"/>
            </a:endParaRPr>
          </a:p>
          <a:p>
            <a:r>
              <a:rPr lang="en-AU" sz="1400" b="1" i="1" dirty="0">
                <a:latin typeface="Arial" panose="020B0604020202020204" pitchFamily="34" charset="0"/>
                <a:cs typeface="Arial" panose="020B0604020202020204" pitchFamily="34" charset="0"/>
              </a:rPr>
              <a:t>Limitation:</a:t>
            </a:r>
            <a:r>
              <a:rPr lang="en-AU" sz="1400" b="1" dirty="0">
                <a:latin typeface="Arial" panose="020B0604020202020204" pitchFamily="34" charset="0"/>
                <a:cs typeface="Arial" panose="020B0604020202020204" pitchFamily="34" charset="0"/>
              </a:rPr>
              <a:t> </a:t>
            </a:r>
            <a:r>
              <a:rPr lang="en-AU" sz="1400" dirty="0">
                <a:latin typeface="Arial" panose="020B0604020202020204" pitchFamily="34" charset="0"/>
                <a:cs typeface="Arial" panose="020B0604020202020204" pitchFamily="34" charset="0"/>
              </a:rPr>
              <a:t>High computational complexity and long training times due to LSTM architecture.</a:t>
            </a:r>
          </a:p>
          <a:p>
            <a:endParaRPr lang="en-AU"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97963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60BB7-EF21-D243-EE0C-47C692857F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FAB79-8C4C-EED6-307B-B4111EBE1EA0}"/>
              </a:ext>
            </a:extLst>
          </p:cNvPr>
          <p:cNvSpPr>
            <a:spLocks noGrp="1"/>
          </p:cNvSpPr>
          <p:nvPr>
            <p:ph type="title"/>
          </p:nvPr>
        </p:nvSpPr>
        <p:spPr>
          <a:xfrm>
            <a:off x="231648" y="136525"/>
            <a:ext cx="11631168" cy="838835"/>
          </a:xfrm>
        </p:spPr>
        <p:txBody>
          <a:bodyPr/>
          <a:lstStyle/>
          <a:p>
            <a:r>
              <a:rPr lang="en-GB" dirty="0"/>
              <a:t>Literature Review</a:t>
            </a:r>
            <a:endParaRPr lang="en-AU" dirty="0"/>
          </a:p>
        </p:txBody>
      </p:sp>
      <p:sp>
        <p:nvSpPr>
          <p:cNvPr id="4" name="Slide Number Placeholder 3">
            <a:extLst>
              <a:ext uri="{FF2B5EF4-FFF2-40B4-BE49-F238E27FC236}">
                <a16:creationId xmlns:a16="http://schemas.microsoft.com/office/drawing/2014/main" id="{DD32C457-10FD-1E54-BE11-E554A7C119CD}"/>
              </a:ext>
            </a:extLst>
          </p:cNvPr>
          <p:cNvSpPr>
            <a:spLocks noGrp="1"/>
          </p:cNvSpPr>
          <p:nvPr>
            <p:ph type="sldNum" sz="quarter" idx="12"/>
          </p:nvPr>
        </p:nvSpPr>
        <p:spPr/>
        <p:txBody>
          <a:bodyPr/>
          <a:lstStyle/>
          <a:p>
            <a:fld id="{6BAD6A8B-B5C3-4437-A9DE-A8C2149171DD}" type="slidenum">
              <a:rPr lang="en-AU" smtClean="0"/>
              <a:t>7</a:t>
            </a:fld>
            <a:endParaRPr lang="en-AU"/>
          </a:p>
        </p:txBody>
      </p:sp>
      <p:sp>
        <p:nvSpPr>
          <p:cNvPr id="5" name="TextBox 4">
            <a:extLst>
              <a:ext uri="{FF2B5EF4-FFF2-40B4-BE49-F238E27FC236}">
                <a16:creationId xmlns:a16="http://schemas.microsoft.com/office/drawing/2014/main" id="{0E746CDF-572B-E3D1-0A0E-C4AD7174AB1C}"/>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Nigel Li (z5320405)</a:t>
            </a:r>
          </a:p>
        </p:txBody>
      </p:sp>
      <p:cxnSp>
        <p:nvCxnSpPr>
          <p:cNvPr id="7" name="Google Shape;119;g12f20562990_0_39">
            <a:extLst>
              <a:ext uri="{FF2B5EF4-FFF2-40B4-BE49-F238E27FC236}">
                <a16:creationId xmlns:a16="http://schemas.microsoft.com/office/drawing/2014/main" id="{4E5A7263-380A-52E4-2B46-E868B110D11D}"/>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18" name="Google Shape;176;p6">
            <a:extLst>
              <a:ext uri="{FF2B5EF4-FFF2-40B4-BE49-F238E27FC236}">
                <a16:creationId xmlns:a16="http://schemas.microsoft.com/office/drawing/2014/main" id="{625D160A-6BE0-249D-DAB3-AD417F1C4D94}"/>
              </a:ext>
            </a:extLst>
          </p:cNvPr>
          <p:cNvSpPr txBox="1"/>
          <p:nvPr/>
        </p:nvSpPr>
        <p:spPr>
          <a:xfrm>
            <a:off x="360693" y="769727"/>
            <a:ext cx="11144034" cy="523180"/>
          </a:xfrm>
          <a:prstGeom prst="rect">
            <a:avLst/>
          </a:prstGeom>
          <a:noFill/>
          <a:ln>
            <a:noFill/>
          </a:ln>
        </p:spPr>
        <p:txBody>
          <a:bodyPr spcFirstLastPara="1" wrap="square" lIns="91425" tIns="45700" rIns="91425" bIns="45700" anchor="t" anchorCtr="0">
            <a:spAutoFit/>
          </a:bodyPr>
          <a:lstStyle/>
          <a:p>
            <a:pPr>
              <a:buSzPts val="2800"/>
            </a:pPr>
            <a:r>
              <a:rPr lang="en-AU" sz="1400" i="1" dirty="0">
                <a:solidFill>
                  <a:schemeClr val="accent3">
                    <a:lumMod val="60000"/>
                    <a:lumOff val="40000"/>
                  </a:schemeClr>
                </a:solidFill>
              </a:rPr>
              <a:t>Transformer-based models, like BERT and its variants, have revolutionized financial sentiment analysis by significantly enhancing contextual understanding and capturing language nuances, but face challenges with computational demands and specialized domain adaptation</a:t>
            </a:r>
            <a:endParaRPr lang="en-US" sz="1400" b="1" i="1" u="none" strike="noStrike" cap="none" dirty="0">
              <a:solidFill>
                <a:schemeClr val="accent3">
                  <a:lumMod val="60000"/>
                  <a:lumOff val="40000"/>
                </a:schemeClr>
              </a:solidFill>
              <a:latin typeface="+mn-lt"/>
              <a:ea typeface="Avenir"/>
              <a:cs typeface="Avenir"/>
            </a:endParaRPr>
          </a:p>
        </p:txBody>
      </p:sp>
      <p:pic>
        <p:nvPicPr>
          <p:cNvPr id="19" name="Picture 18">
            <a:extLst>
              <a:ext uri="{FF2B5EF4-FFF2-40B4-BE49-F238E27FC236}">
                <a16:creationId xmlns:a16="http://schemas.microsoft.com/office/drawing/2014/main" id="{F3E5A5E0-D9F0-805C-971F-4C2FC67B367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025" y="1487492"/>
            <a:ext cx="8636299" cy="4522559"/>
          </a:xfrm>
          <a:prstGeom prst="rect">
            <a:avLst/>
          </a:prstGeom>
        </p:spPr>
      </p:pic>
      <p:sp>
        <p:nvSpPr>
          <p:cNvPr id="3" name="TextBox 2">
            <a:extLst>
              <a:ext uri="{FF2B5EF4-FFF2-40B4-BE49-F238E27FC236}">
                <a16:creationId xmlns:a16="http://schemas.microsoft.com/office/drawing/2014/main" id="{7C1BCEF4-2F89-D35E-3234-619E3F1BBF3E}"/>
              </a:ext>
            </a:extLst>
          </p:cNvPr>
          <p:cNvSpPr txBox="1"/>
          <p:nvPr/>
        </p:nvSpPr>
        <p:spPr>
          <a:xfrm>
            <a:off x="4965385" y="3069771"/>
            <a:ext cx="3051943" cy="1400489"/>
          </a:xfrm>
          <a:prstGeom prst="rect">
            <a:avLst/>
          </a:prstGeom>
          <a:noFill/>
          <a:ln w="34925">
            <a:solidFill>
              <a:srgbClr val="FF0000"/>
            </a:solidFill>
          </a:ln>
        </p:spPr>
        <p:txBody>
          <a:bodyPr wrap="square" rtlCol="0">
            <a:noAutofit/>
          </a:bodyPr>
          <a:lstStyle/>
          <a:p>
            <a:endParaRPr lang="en-US" dirty="0"/>
          </a:p>
        </p:txBody>
      </p:sp>
      <p:grpSp>
        <p:nvGrpSpPr>
          <p:cNvPr id="6" name="Google Shape;121;g12f20562990_0_39">
            <a:extLst>
              <a:ext uri="{FF2B5EF4-FFF2-40B4-BE49-F238E27FC236}">
                <a16:creationId xmlns:a16="http://schemas.microsoft.com/office/drawing/2014/main" id="{F6C34447-13D5-7220-01B3-2ACF26BDB0B0}"/>
              </a:ext>
            </a:extLst>
          </p:cNvPr>
          <p:cNvGrpSpPr/>
          <p:nvPr/>
        </p:nvGrpSpPr>
        <p:grpSpPr>
          <a:xfrm>
            <a:off x="2610855" y="6225545"/>
            <a:ext cx="6060176" cy="365125"/>
            <a:chOff x="1425588" y="6394039"/>
            <a:chExt cx="9340906" cy="363742"/>
          </a:xfrm>
        </p:grpSpPr>
        <p:sp>
          <p:nvSpPr>
            <p:cNvPr id="8" name="Google Shape;122;g12f20562990_0_39">
              <a:extLst>
                <a:ext uri="{FF2B5EF4-FFF2-40B4-BE49-F238E27FC236}">
                  <a16:creationId xmlns:a16="http://schemas.microsoft.com/office/drawing/2014/main" id="{9D2D7227-39E9-227F-3853-624C6666209F}"/>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7" name="Google Shape;123;g12f20562990_0_39">
              <a:extLst>
                <a:ext uri="{FF2B5EF4-FFF2-40B4-BE49-F238E27FC236}">
                  <a16:creationId xmlns:a16="http://schemas.microsoft.com/office/drawing/2014/main" id="{A2975547-E3A2-36CC-2B5B-A9A0ED8E8C16}"/>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20" name="Google Shape;124;g12f20562990_0_39">
              <a:extLst>
                <a:ext uri="{FF2B5EF4-FFF2-40B4-BE49-F238E27FC236}">
                  <a16:creationId xmlns:a16="http://schemas.microsoft.com/office/drawing/2014/main" id="{B4AEC8E9-4660-9649-EDAA-CF371999293C}"/>
                </a:ext>
              </a:extLst>
            </p:cNvPr>
            <p:cNvSpPr/>
            <p:nvPr/>
          </p:nvSpPr>
          <p:spPr>
            <a:xfrm>
              <a:off x="5152512" y="6398681"/>
              <a:ext cx="19833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bg1"/>
                  </a:solidFill>
                  <a:latin typeface="+mj-lt"/>
                  <a:sym typeface="Avenir"/>
                </a:rPr>
                <a:t>Literature</a:t>
              </a:r>
              <a:endParaRPr sz="1400" b="1" i="0" u="none" strike="noStrike" cap="none" dirty="0">
                <a:solidFill>
                  <a:schemeClr val="bg1"/>
                </a:solidFill>
                <a:latin typeface="+mj-lt"/>
                <a:sym typeface="Arial"/>
              </a:endParaRPr>
            </a:p>
          </p:txBody>
        </p:sp>
        <p:sp>
          <p:nvSpPr>
            <p:cNvPr id="21" name="Google Shape;125;g12f20562990_0_39">
              <a:extLst>
                <a:ext uri="{FF2B5EF4-FFF2-40B4-BE49-F238E27FC236}">
                  <a16:creationId xmlns:a16="http://schemas.microsoft.com/office/drawing/2014/main" id="{66FDEC86-459C-7696-BC61-EAAA789515C5}"/>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2" name="Google Shape;126;g12f20562990_0_39">
              <a:extLst>
                <a:ext uri="{FF2B5EF4-FFF2-40B4-BE49-F238E27FC236}">
                  <a16:creationId xmlns:a16="http://schemas.microsoft.com/office/drawing/2014/main" id="{6BD2DD3C-DE0C-634A-DC43-84501594EF7D}"/>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3" name="Google Shape;126;g12f20562990_0_39">
            <a:extLst>
              <a:ext uri="{FF2B5EF4-FFF2-40B4-BE49-F238E27FC236}">
                <a16:creationId xmlns:a16="http://schemas.microsoft.com/office/drawing/2014/main" id="{92ADE57D-5E95-1F91-58C0-A9E0ABE0B863}"/>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24" name="Google Shape;126;g12f20562990_0_39">
            <a:extLst>
              <a:ext uri="{FF2B5EF4-FFF2-40B4-BE49-F238E27FC236}">
                <a16:creationId xmlns:a16="http://schemas.microsoft.com/office/drawing/2014/main" id="{2B97A2AD-5824-0571-C52D-1AF738DFC412}"/>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26" name="TextBox 25">
            <a:extLst>
              <a:ext uri="{FF2B5EF4-FFF2-40B4-BE49-F238E27FC236}">
                <a16:creationId xmlns:a16="http://schemas.microsoft.com/office/drawing/2014/main" id="{DFA14696-7F48-98F2-D903-FC6D0EB204ED}"/>
              </a:ext>
            </a:extLst>
          </p:cNvPr>
          <p:cNvSpPr txBox="1"/>
          <p:nvPr/>
        </p:nvSpPr>
        <p:spPr>
          <a:xfrm>
            <a:off x="8011105" y="2849617"/>
            <a:ext cx="3749883" cy="2031325"/>
          </a:xfrm>
          <a:prstGeom prst="rect">
            <a:avLst/>
          </a:prstGeom>
          <a:noFill/>
        </p:spPr>
        <p:txBody>
          <a:bodyPr wrap="square">
            <a:spAutoFit/>
          </a:bodyPr>
          <a:lstStyle/>
          <a:p>
            <a:r>
              <a:rPr lang="en-AU" sz="1400" b="1" i="1" dirty="0"/>
              <a:t>Did:</a:t>
            </a:r>
            <a:r>
              <a:rPr lang="en-AU" sz="1400" b="1" dirty="0"/>
              <a:t> </a:t>
            </a:r>
            <a:r>
              <a:rPr lang="en-AU" sz="1400" dirty="0"/>
              <a:t>Adapted transformer architectures, with better comprehension &amp; overall accuracy.</a:t>
            </a:r>
          </a:p>
          <a:p>
            <a:endParaRPr lang="en-AU" sz="1400" i="1" dirty="0"/>
          </a:p>
          <a:p>
            <a:r>
              <a:rPr lang="en-AU" sz="1400" b="1" i="1" dirty="0"/>
              <a:t>Limitation:</a:t>
            </a:r>
            <a:r>
              <a:rPr lang="en-AU" sz="1400" b="1" dirty="0"/>
              <a:t> </a:t>
            </a:r>
            <a:r>
              <a:rPr lang="en-AU" sz="1400" dirty="0"/>
              <a:t>Demanding in computational power, making it resource-heavy for financial analysis.</a:t>
            </a:r>
          </a:p>
          <a:p>
            <a:endParaRPr lang="en-AU" sz="1400" dirty="0"/>
          </a:p>
          <a:p>
            <a:r>
              <a:rPr lang="en-AU" sz="1400" dirty="0"/>
              <a:t>For example, for 10 combinations of </a:t>
            </a:r>
            <a:r>
              <a:rPr lang="en-AU" sz="1400" dirty="0" err="1"/>
              <a:t>hyperparam</a:t>
            </a:r>
            <a:r>
              <a:rPr lang="en-AU" sz="1400" dirty="0"/>
              <a:t> searching, it took 25 hours to run on a 3080RTX (for </a:t>
            </a:r>
            <a:r>
              <a:rPr lang="en-AU" sz="1400" dirty="0" err="1"/>
              <a:t>deberta</a:t>
            </a:r>
            <a:r>
              <a:rPr lang="en-AU" sz="1400" dirty="0"/>
              <a:t>)!</a:t>
            </a:r>
            <a:endParaRPr lang="en-US" sz="1400" dirty="0"/>
          </a:p>
        </p:txBody>
      </p:sp>
    </p:spTree>
    <p:extLst>
      <p:ext uri="{BB962C8B-B14F-4D97-AF65-F5344CB8AC3E}">
        <p14:creationId xmlns:p14="http://schemas.microsoft.com/office/powerpoint/2010/main" val="3162698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F9607-5D69-3653-2EE3-6BF1F5EBD2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178D8-0DEA-27E7-8B17-5077BDAC6633}"/>
              </a:ext>
            </a:extLst>
          </p:cNvPr>
          <p:cNvSpPr>
            <a:spLocks noGrp="1"/>
          </p:cNvSpPr>
          <p:nvPr>
            <p:ph type="title"/>
          </p:nvPr>
        </p:nvSpPr>
        <p:spPr>
          <a:xfrm>
            <a:off x="231648" y="136525"/>
            <a:ext cx="11631168" cy="838835"/>
          </a:xfrm>
        </p:spPr>
        <p:txBody>
          <a:bodyPr/>
          <a:lstStyle/>
          <a:p>
            <a:r>
              <a:rPr lang="en-GB" dirty="0"/>
              <a:t>Literature Review</a:t>
            </a:r>
            <a:endParaRPr lang="en-AU" dirty="0"/>
          </a:p>
        </p:txBody>
      </p:sp>
      <p:sp>
        <p:nvSpPr>
          <p:cNvPr id="4" name="Slide Number Placeholder 3">
            <a:extLst>
              <a:ext uri="{FF2B5EF4-FFF2-40B4-BE49-F238E27FC236}">
                <a16:creationId xmlns:a16="http://schemas.microsoft.com/office/drawing/2014/main" id="{A96DA9D7-A6D4-87E7-AD4B-94329EA0FD04}"/>
              </a:ext>
            </a:extLst>
          </p:cNvPr>
          <p:cNvSpPr>
            <a:spLocks noGrp="1"/>
          </p:cNvSpPr>
          <p:nvPr>
            <p:ph type="sldNum" sz="quarter" idx="12"/>
          </p:nvPr>
        </p:nvSpPr>
        <p:spPr/>
        <p:txBody>
          <a:bodyPr/>
          <a:lstStyle/>
          <a:p>
            <a:fld id="{6BAD6A8B-B5C3-4437-A9DE-A8C2149171DD}" type="slidenum">
              <a:rPr lang="en-AU" smtClean="0"/>
              <a:t>8</a:t>
            </a:fld>
            <a:endParaRPr lang="en-AU"/>
          </a:p>
        </p:txBody>
      </p:sp>
      <p:sp>
        <p:nvSpPr>
          <p:cNvPr id="5" name="TextBox 4">
            <a:extLst>
              <a:ext uri="{FF2B5EF4-FFF2-40B4-BE49-F238E27FC236}">
                <a16:creationId xmlns:a16="http://schemas.microsoft.com/office/drawing/2014/main" id="{3E0910AE-5908-1763-F48B-C792B19C444C}"/>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Nigel Li (z5320405)</a:t>
            </a:r>
          </a:p>
        </p:txBody>
      </p:sp>
      <p:cxnSp>
        <p:nvCxnSpPr>
          <p:cNvPr id="7" name="Google Shape;119;g12f20562990_0_39">
            <a:extLst>
              <a:ext uri="{FF2B5EF4-FFF2-40B4-BE49-F238E27FC236}">
                <a16:creationId xmlns:a16="http://schemas.microsoft.com/office/drawing/2014/main" id="{300E0ED7-63E9-CFCA-D139-E6B5CAD60E87}"/>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18" name="Google Shape;176;p6">
            <a:extLst>
              <a:ext uri="{FF2B5EF4-FFF2-40B4-BE49-F238E27FC236}">
                <a16:creationId xmlns:a16="http://schemas.microsoft.com/office/drawing/2014/main" id="{CC2A7237-2874-57A6-56CA-D006AFBFB0DF}"/>
              </a:ext>
            </a:extLst>
          </p:cNvPr>
          <p:cNvSpPr txBox="1"/>
          <p:nvPr/>
        </p:nvSpPr>
        <p:spPr>
          <a:xfrm>
            <a:off x="360693" y="769727"/>
            <a:ext cx="11144034" cy="523180"/>
          </a:xfrm>
          <a:prstGeom prst="rect">
            <a:avLst/>
          </a:prstGeom>
          <a:noFill/>
          <a:ln>
            <a:noFill/>
          </a:ln>
        </p:spPr>
        <p:txBody>
          <a:bodyPr spcFirstLastPara="1" wrap="square" lIns="91425" tIns="45700" rIns="91425" bIns="45700" anchor="t" anchorCtr="0">
            <a:spAutoFit/>
          </a:bodyPr>
          <a:lstStyle/>
          <a:p>
            <a:pPr>
              <a:buSzPts val="2800"/>
            </a:pPr>
            <a:r>
              <a:rPr lang="en-AU" sz="1400" i="1" dirty="0" err="1">
                <a:solidFill>
                  <a:schemeClr val="accent3">
                    <a:lumMod val="60000"/>
                    <a:lumOff val="40000"/>
                  </a:schemeClr>
                </a:solidFill>
              </a:rPr>
              <a:t>Etelis</a:t>
            </a:r>
            <a:r>
              <a:rPr lang="en-AU" sz="1400" i="1" dirty="0">
                <a:solidFill>
                  <a:schemeClr val="accent3">
                    <a:lumMod val="60000"/>
                    <a:lumOff val="40000"/>
                  </a:schemeClr>
                </a:solidFill>
              </a:rPr>
              <a:t> et al. (2023) demonstrated that ensemble stacking, incorporating diverse NLP model types, improves sentiment analysis performance beyond individual transformer models.</a:t>
            </a:r>
            <a:endParaRPr lang="en-US" sz="1400" b="1" i="1" u="none" strike="noStrike" cap="none" dirty="0">
              <a:solidFill>
                <a:schemeClr val="accent3">
                  <a:lumMod val="60000"/>
                  <a:lumOff val="40000"/>
                </a:schemeClr>
              </a:solidFill>
              <a:latin typeface="+mn-lt"/>
              <a:ea typeface="Avenir"/>
              <a:cs typeface="Avenir"/>
            </a:endParaRPr>
          </a:p>
        </p:txBody>
      </p:sp>
      <p:pic>
        <p:nvPicPr>
          <p:cNvPr id="19" name="Picture 18">
            <a:extLst>
              <a:ext uri="{FF2B5EF4-FFF2-40B4-BE49-F238E27FC236}">
                <a16:creationId xmlns:a16="http://schemas.microsoft.com/office/drawing/2014/main" id="{2ABA190A-2704-2C0F-B52C-38571ADC92F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025" y="1487492"/>
            <a:ext cx="8636299" cy="4522559"/>
          </a:xfrm>
          <a:prstGeom prst="rect">
            <a:avLst/>
          </a:prstGeom>
        </p:spPr>
      </p:pic>
      <p:sp>
        <p:nvSpPr>
          <p:cNvPr id="3" name="TextBox 2">
            <a:extLst>
              <a:ext uri="{FF2B5EF4-FFF2-40B4-BE49-F238E27FC236}">
                <a16:creationId xmlns:a16="http://schemas.microsoft.com/office/drawing/2014/main" id="{2366DAF7-BE0B-5BFD-639A-41EFE99AE228}"/>
              </a:ext>
            </a:extLst>
          </p:cNvPr>
          <p:cNvSpPr txBox="1"/>
          <p:nvPr/>
        </p:nvSpPr>
        <p:spPr>
          <a:xfrm>
            <a:off x="6248848" y="1577890"/>
            <a:ext cx="1908944" cy="1240972"/>
          </a:xfrm>
          <a:prstGeom prst="rect">
            <a:avLst/>
          </a:prstGeom>
          <a:noFill/>
          <a:ln w="34925">
            <a:solidFill>
              <a:srgbClr val="FF0000"/>
            </a:solidFill>
          </a:ln>
        </p:spPr>
        <p:txBody>
          <a:bodyPr wrap="square" rtlCol="0">
            <a:noAutofit/>
          </a:bodyPr>
          <a:lstStyle/>
          <a:p>
            <a:endParaRPr lang="en-US" dirty="0"/>
          </a:p>
        </p:txBody>
      </p:sp>
      <p:grpSp>
        <p:nvGrpSpPr>
          <p:cNvPr id="6" name="Google Shape;121;g12f20562990_0_39">
            <a:extLst>
              <a:ext uri="{FF2B5EF4-FFF2-40B4-BE49-F238E27FC236}">
                <a16:creationId xmlns:a16="http://schemas.microsoft.com/office/drawing/2014/main" id="{8897EA74-A19C-7E64-DBFE-556B3426E0C2}"/>
              </a:ext>
            </a:extLst>
          </p:cNvPr>
          <p:cNvGrpSpPr/>
          <p:nvPr/>
        </p:nvGrpSpPr>
        <p:grpSpPr>
          <a:xfrm>
            <a:off x="2610855" y="6225545"/>
            <a:ext cx="6060176" cy="365125"/>
            <a:chOff x="1425588" y="6394039"/>
            <a:chExt cx="9340906" cy="363742"/>
          </a:xfrm>
        </p:grpSpPr>
        <p:sp>
          <p:nvSpPr>
            <p:cNvPr id="8" name="Google Shape;122;g12f20562990_0_39">
              <a:extLst>
                <a:ext uri="{FF2B5EF4-FFF2-40B4-BE49-F238E27FC236}">
                  <a16:creationId xmlns:a16="http://schemas.microsoft.com/office/drawing/2014/main" id="{D4FEF952-A0DA-03AB-1E84-E1725FBF9DA7}"/>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7" name="Google Shape;123;g12f20562990_0_39">
              <a:extLst>
                <a:ext uri="{FF2B5EF4-FFF2-40B4-BE49-F238E27FC236}">
                  <a16:creationId xmlns:a16="http://schemas.microsoft.com/office/drawing/2014/main" id="{1E3B12B2-59A6-793A-0758-29CBF7129157}"/>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20" name="Google Shape;124;g12f20562990_0_39">
              <a:extLst>
                <a:ext uri="{FF2B5EF4-FFF2-40B4-BE49-F238E27FC236}">
                  <a16:creationId xmlns:a16="http://schemas.microsoft.com/office/drawing/2014/main" id="{8104E06D-2170-0AAF-F3DA-C2351D59F41E}"/>
                </a:ext>
              </a:extLst>
            </p:cNvPr>
            <p:cNvSpPr/>
            <p:nvPr/>
          </p:nvSpPr>
          <p:spPr>
            <a:xfrm>
              <a:off x="5152512" y="6398681"/>
              <a:ext cx="19833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bg1"/>
                  </a:solidFill>
                  <a:latin typeface="+mj-lt"/>
                  <a:sym typeface="Avenir"/>
                </a:rPr>
                <a:t>Literature</a:t>
              </a:r>
              <a:endParaRPr sz="1400" b="1" i="0" u="none" strike="noStrike" cap="none" dirty="0">
                <a:solidFill>
                  <a:schemeClr val="bg1"/>
                </a:solidFill>
                <a:latin typeface="+mj-lt"/>
                <a:sym typeface="Arial"/>
              </a:endParaRPr>
            </a:p>
          </p:txBody>
        </p:sp>
        <p:sp>
          <p:nvSpPr>
            <p:cNvPr id="21" name="Google Shape;125;g12f20562990_0_39">
              <a:extLst>
                <a:ext uri="{FF2B5EF4-FFF2-40B4-BE49-F238E27FC236}">
                  <a16:creationId xmlns:a16="http://schemas.microsoft.com/office/drawing/2014/main" id="{6DE2C577-DA2C-DBCC-43EF-C1AB5D0B6A03}"/>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2" name="Google Shape;126;g12f20562990_0_39">
              <a:extLst>
                <a:ext uri="{FF2B5EF4-FFF2-40B4-BE49-F238E27FC236}">
                  <a16:creationId xmlns:a16="http://schemas.microsoft.com/office/drawing/2014/main" id="{B859DF7D-17E3-7A4E-F986-31B3A4018524}"/>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3" name="Google Shape;126;g12f20562990_0_39">
            <a:extLst>
              <a:ext uri="{FF2B5EF4-FFF2-40B4-BE49-F238E27FC236}">
                <a16:creationId xmlns:a16="http://schemas.microsoft.com/office/drawing/2014/main" id="{33861A0F-12B2-86B1-BF93-E6F297A8C45C}"/>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24" name="Google Shape;126;g12f20562990_0_39">
            <a:extLst>
              <a:ext uri="{FF2B5EF4-FFF2-40B4-BE49-F238E27FC236}">
                <a16:creationId xmlns:a16="http://schemas.microsoft.com/office/drawing/2014/main" id="{02D896FF-5EEA-4B26-0435-A46C6457FA67}"/>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26" name="TextBox 25">
            <a:extLst>
              <a:ext uri="{FF2B5EF4-FFF2-40B4-BE49-F238E27FC236}">
                <a16:creationId xmlns:a16="http://schemas.microsoft.com/office/drawing/2014/main" id="{1D375882-D984-8C1D-D5EB-C3E8B1BEA420}"/>
              </a:ext>
            </a:extLst>
          </p:cNvPr>
          <p:cNvSpPr txBox="1"/>
          <p:nvPr/>
        </p:nvSpPr>
        <p:spPr>
          <a:xfrm>
            <a:off x="8157791" y="2916687"/>
            <a:ext cx="3714005" cy="2246769"/>
          </a:xfrm>
          <a:prstGeom prst="rect">
            <a:avLst/>
          </a:prstGeom>
          <a:noFill/>
        </p:spPr>
        <p:txBody>
          <a:bodyPr wrap="square">
            <a:spAutoFit/>
          </a:bodyPr>
          <a:lstStyle/>
          <a:p>
            <a:r>
              <a:rPr lang="en-AU" sz="1400" b="1" i="1" dirty="0"/>
              <a:t>Did:</a:t>
            </a:r>
            <a:r>
              <a:rPr lang="en-AU" sz="1400" i="1" dirty="0"/>
              <a:t> </a:t>
            </a:r>
            <a:r>
              <a:rPr lang="en-AU" sz="1400" dirty="0"/>
              <a:t>Used a Hierarchical Ensemble Construction (HEC) algorithm with diverse NLP models, achieving a mean accuracy of 90% +  across eight sentiment analysis datasets. </a:t>
            </a:r>
            <a:r>
              <a:rPr lang="en-AU" sz="1400" dirty="0">
                <a:sym typeface="Wingdings" pitchFamily="2" charset="2"/>
              </a:rPr>
              <a:t> Establish benefit of potential stacking</a:t>
            </a:r>
            <a:endParaRPr lang="en-AU" sz="1400" dirty="0"/>
          </a:p>
          <a:p>
            <a:endParaRPr lang="en-AU" sz="1400" dirty="0"/>
          </a:p>
          <a:p>
            <a:r>
              <a:rPr lang="en-AU" sz="1400" b="1" i="1" dirty="0"/>
              <a:t>Limitation:</a:t>
            </a:r>
            <a:r>
              <a:rPr lang="en-AU" sz="1400" i="1" dirty="0"/>
              <a:t> </a:t>
            </a:r>
            <a:r>
              <a:rPr lang="en-AU" sz="1400" dirty="0"/>
              <a:t>Increased complexity and computational demands compared to using a single transformer model, requiring up to 75 base-learners in evaluation.</a:t>
            </a:r>
          </a:p>
        </p:txBody>
      </p:sp>
    </p:spTree>
    <p:extLst>
      <p:ext uri="{BB962C8B-B14F-4D97-AF65-F5344CB8AC3E}">
        <p14:creationId xmlns:p14="http://schemas.microsoft.com/office/powerpoint/2010/main" val="2782640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AD402-1A6D-7812-79A1-43A5282CBC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969D4-299D-0161-6888-EF63DE499133}"/>
              </a:ext>
            </a:extLst>
          </p:cNvPr>
          <p:cNvSpPr>
            <a:spLocks noGrp="1"/>
          </p:cNvSpPr>
          <p:nvPr>
            <p:ph type="title"/>
          </p:nvPr>
        </p:nvSpPr>
        <p:spPr>
          <a:xfrm>
            <a:off x="231648" y="136525"/>
            <a:ext cx="11631168" cy="838835"/>
          </a:xfrm>
        </p:spPr>
        <p:txBody>
          <a:bodyPr/>
          <a:lstStyle/>
          <a:p>
            <a:r>
              <a:rPr lang="en-GB" dirty="0"/>
              <a:t>Literature Review</a:t>
            </a:r>
            <a:endParaRPr lang="en-AU" dirty="0"/>
          </a:p>
        </p:txBody>
      </p:sp>
      <p:sp>
        <p:nvSpPr>
          <p:cNvPr id="4" name="Slide Number Placeholder 3">
            <a:extLst>
              <a:ext uri="{FF2B5EF4-FFF2-40B4-BE49-F238E27FC236}">
                <a16:creationId xmlns:a16="http://schemas.microsoft.com/office/drawing/2014/main" id="{94D834E7-020E-2578-AF3A-F44C47830D31}"/>
              </a:ext>
            </a:extLst>
          </p:cNvPr>
          <p:cNvSpPr>
            <a:spLocks noGrp="1"/>
          </p:cNvSpPr>
          <p:nvPr>
            <p:ph type="sldNum" sz="quarter" idx="12"/>
          </p:nvPr>
        </p:nvSpPr>
        <p:spPr/>
        <p:txBody>
          <a:bodyPr/>
          <a:lstStyle/>
          <a:p>
            <a:fld id="{6BAD6A8B-B5C3-4437-A9DE-A8C2149171DD}" type="slidenum">
              <a:rPr lang="en-AU" smtClean="0"/>
              <a:t>9</a:t>
            </a:fld>
            <a:endParaRPr lang="en-AU"/>
          </a:p>
        </p:txBody>
      </p:sp>
      <p:sp>
        <p:nvSpPr>
          <p:cNvPr id="5" name="TextBox 4">
            <a:extLst>
              <a:ext uri="{FF2B5EF4-FFF2-40B4-BE49-F238E27FC236}">
                <a16:creationId xmlns:a16="http://schemas.microsoft.com/office/drawing/2014/main" id="{5CB40E5E-626D-C15D-EBC4-C5EB5814F6DF}"/>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Nigel Li (z5320405)</a:t>
            </a:r>
          </a:p>
        </p:txBody>
      </p:sp>
      <p:cxnSp>
        <p:nvCxnSpPr>
          <p:cNvPr id="7" name="Google Shape;119;g12f20562990_0_39">
            <a:extLst>
              <a:ext uri="{FF2B5EF4-FFF2-40B4-BE49-F238E27FC236}">
                <a16:creationId xmlns:a16="http://schemas.microsoft.com/office/drawing/2014/main" id="{76FA8522-1FCC-7877-8C57-27ED9A1800FA}"/>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18" name="Google Shape;176;p6">
            <a:extLst>
              <a:ext uri="{FF2B5EF4-FFF2-40B4-BE49-F238E27FC236}">
                <a16:creationId xmlns:a16="http://schemas.microsoft.com/office/drawing/2014/main" id="{A506B0CB-E894-5787-3BED-5745B8E274ED}"/>
              </a:ext>
            </a:extLst>
          </p:cNvPr>
          <p:cNvSpPr txBox="1"/>
          <p:nvPr/>
        </p:nvSpPr>
        <p:spPr>
          <a:xfrm>
            <a:off x="360693" y="769727"/>
            <a:ext cx="11144034" cy="523180"/>
          </a:xfrm>
          <a:prstGeom prst="rect">
            <a:avLst/>
          </a:prstGeom>
          <a:noFill/>
          <a:ln>
            <a:noFill/>
          </a:ln>
        </p:spPr>
        <p:txBody>
          <a:bodyPr spcFirstLastPara="1" wrap="square" lIns="91425" tIns="45700" rIns="91425" bIns="45700" anchor="t" anchorCtr="0">
            <a:spAutoFit/>
          </a:bodyPr>
          <a:lstStyle/>
          <a:p>
            <a:pPr>
              <a:buSzPts val="2800"/>
            </a:pPr>
            <a:r>
              <a:rPr lang="en-AU" sz="1400" i="1" dirty="0" err="1">
                <a:solidFill>
                  <a:schemeClr val="accent3">
                    <a:lumMod val="60000"/>
                    <a:lumOff val="40000"/>
                  </a:schemeClr>
                </a:solidFill>
              </a:rPr>
              <a:t>Etelis</a:t>
            </a:r>
            <a:r>
              <a:rPr lang="en-AU" sz="1400" i="1" dirty="0">
                <a:solidFill>
                  <a:schemeClr val="accent3">
                    <a:lumMod val="60000"/>
                    <a:lumOff val="40000"/>
                  </a:schemeClr>
                </a:solidFill>
              </a:rPr>
              <a:t> et al. (2023) demonstrated that ensemble stacking, incorporating diverse NLP model types, improves sentiment analysis performance beyond individual transformer models.</a:t>
            </a:r>
            <a:endParaRPr lang="en-US" sz="1400" b="1" i="1" u="none" strike="noStrike" cap="none" dirty="0">
              <a:solidFill>
                <a:schemeClr val="accent3">
                  <a:lumMod val="60000"/>
                  <a:lumOff val="40000"/>
                </a:schemeClr>
              </a:solidFill>
              <a:latin typeface="+mn-lt"/>
              <a:ea typeface="Avenir"/>
              <a:cs typeface="Avenir"/>
            </a:endParaRPr>
          </a:p>
        </p:txBody>
      </p:sp>
      <p:pic>
        <p:nvPicPr>
          <p:cNvPr id="19" name="Picture 18">
            <a:extLst>
              <a:ext uri="{FF2B5EF4-FFF2-40B4-BE49-F238E27FC236}">
                <a16:creationId xmlns:a16="http://schemas.microsoft.com/office/drawing/2014/main" id="{6347404D-B0F5-9178-7948-DD7A6788E49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025" y="1487492"/>
            <a:ext cx="8636299" cy="4522559"/>
          </a:xfrm>
          <a:prstGeom prst="rect">
            <a:avLst/>
          </a:prstGeom>
        </p:spPr>
      </p:pic>
      <p:sp>
        <p:nvSpPr>
          <p:cNvPr id="3" name="TextBox 2">
            <a:extLst>
              <a:ext uri="{FF2B5EF4-FFF2-40B4-BE49-F238E27FC236}">
                <a16:creationId xmlns:a16="http://schemas.microsoft.com/office/drawing/2014/main" id="{D687F58E-47D6-9E1E-8C67-31EBF4C6451C}"/>
              </a:ext>
            </a:extLst>
          </p:cNvPr>
          <p:cNvSpPr txBox="1"/>
          <p:nvPr/>
        </p:nvSpPr>
        <p:spPr>
          <a:xfrm>
            <a:off x="6248848" y="1577890"/>
            <a:ext cx="1908944" cy="1240972"/>
          </a:xfrm>
          <a:prstGeom prst="rect">
            <a:avLst/>
          </a:prstGeom>
          <a:noFill/>
          <a:ln w="34925">
            <a:solidFill>
              <a:srgbClr val="FF0000"/>
            </a:solidFill>
          </a:ln>
        </p:spPr>
        <p:txBody>
          <a:bodyPr wrap="square" rtlCol="0">
            <a:noAutofit/>
          </a:bodyPr>
          <a:lstStyle/>
          <a:p>
            <a:endParaRPr lang="en-US" dirty="0"/>
          </a:p>
        </p:txBody>
      </p:sp>
      <p:grpSp>
        <p:nvGrpSpPr>
          <p:cNvPr id="6" name="Google Shape;121;g12f20562990_0_39">
            <a:extLst>
              <a:ext uri="{FF2B5EF4-FFF2-40B4-BE49-F238E27FC236}">
                <a16:creationId xmlns:a16="http://schemas.microsoft.com/office/drawing/2014/main" id="{51F2A159-6B7D-4E5C-C496-8C38100C7EB0}"/>
              </a:ext>
            </a:extLst>
          </p:cNvPr>
          <p:cNvGrpSpPr/>
          <p:nvPr/>
        </p:nvGrpSpPr>
        <p:grpSpPr>
          <a:xfrm>
            <a:off x="2610855" y="6225545"/>
            <a:ext cx="6060176" cy="365125"/>
            <a:chOff x="1425588" y="6394039"/>
            <a:chExt cx="9340906" cy="363742"/>
          </a:xfrm>
        </p:grpSpPr>
        <p:sp>
          <p:nvSpPr>
            <p:cNvPr id="8" name="Google Shape;122;g12f20562990_0_39">
              <a:extLst>
                <a:ext uri="{FF2B5EF4-FFF2-40B4-BE49-F238E27FC236}">
                  <a16:creationId xmlns:a16="http://schemas.microsoft.com/office/drawing/2014/main" id="{2F88F521-3ADE-4A39-7960-7007D0516B56}"/>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7" name="Google Shape;123;g12f20562990_0_39">
              <a:extLst>
                <a:ext uri="{FF2B5EF4-FFF2-40B4-BE49-F238E27FC236}">
                  <a16:creationId xmlns:a16="http://schemas.microsoft.com/office/drawing/2014/main" id="{740A4D20-73D6-A0A9-F71B-D84DA7369200}"/>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20" name="Google Shape;124;g12f20562990_0_39">
              <a:extLst>
                <a:ext uri="{FF2B5EF4-FFF2-40B4-BE49-F238E27FC236}">
                  <a16:creationId xmlns:a16="http://schemas.microsoft.com/office/drawing/2014/main" id="{8F5A974D-D3D0-725C-0C0A-6CC059090FC9}"/>
                </a:ext>
              </a:extLst>
            </p:cNvPr>
            <p:cNvSpPr/>
            <p:nvPr/>
          </p:nvSpPr>
          <p:spPr>
            <a:xfrm>
              <a:off x="5152512" y="6398681"/>
              <a:ext cx="19833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bg1"/>
                  </a:solidFill>
                  <a:latin typeface="+mj-lt"/>
                  <a:sym typeface="Avenir"/>
                </a:rPr>
                <a:t>Literature</a:t>
              </a:r>
              <a:endParaRPr sz="1400" b="1" i="0" u="none" strike="noStrike" cap="none" dirty="0">
                <a:solidFill>
                  <a:schemeClr val="bg1"/>
                </a:solidFill>
                <a:latin typeface="+mj-lt"/>
                <a:sym typeface="Arial"/>
              </a:endParaRPr>
            </a:p>
          </p:txBody>
        </p:sp>
        <p:sp>
          <p:nvSpPr>
            <p:cNvPr id="21" name="Google Shape;125;g12f20562990_0_39">
              <a:extLst>
                <a:ext uri="{FF2B5EF4-FFF2-40B4-BE49-F238E27FC236}">
                  <a16:creationId xmlns:a16="http://schemas.microsoft.com/office/drawing/2014/main" id="{1460C580-0EB6-BABC-428D-66989EC2CAA3}"/>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2" name="Google Shape;126;g12f20562990_0_39">
              <a:extLst>
                <a:ext uri="{FF2B5EF4-FFF2-40B4-BE49-F238E27FC236}">
                  <a16:creationId xmlns:a16="http://schemas.microsoft.com/office/drawing/2014/main" id="{E37FCDD1-0AEB-1CF4-0DB2-C78230B12347}"/>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3" name="Google Shape;126;g12f20562990_0_39">
            <a:extLst>
              <a:ext uri="{FF2B5EF4-FFF2-40B4-BE49-F238E27FC236}">
                <a16:creationId xmlns:a16="http://schemas.microsoft.com/office/drawing/2014/main" id="{AB6539EC-ECF5-80DB-7EF7-EB3A60C5F64C}"/>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24" name="Google Shape;126;g12f20562990_0_39">
            <a:extLst>
              <a:ext uri="{FF2B5EF4-FFF2-40B4-BE49-F238E27FC236}">
                <a16:creationId xmlns:a16="http://schemas.microsoft.com/office/drawing/2014/main" id="{1E4D3F96-2227-2F12-5389-D13AE3F9BEA4}"/>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26" name="TextBox 25">
            <a:extLst>
              <a:ext uri="{FF2B5EF4-FFF2-40B4-BE49-F238E27FC236}">
                <a16:creationId xmlns:a16="http://schemas.microsoft.com/office/drawing/2014/main" id="{1F7A376B-E1ED-5FAC-413C-BA27B8A88899}"/>
              </a:ext>
            </a:extLst>
          </p:cNvPr>
          <p:cNvSpPr txBox="1"/>
          <p:nvPr/>
        </p:nvSpPr>
        <p:spPr>
          <a:xfrm>
            <a:off x="8157791" y="2916687"/>
            <a:ext cx="3714005" cy="2246769"/>
          </a:xfrm>
          <a:prstGeom prst="rect">
            <a:avLst/>
          </a:prstGeom>
          <a:noFill/>
        </p:spPr>
        <p:txBody>
          <a:bodyPr wrap="square">
            <a:spAutoFit/>
          </a:bodyPr>
          <a:lstStyle/>
          <a:p>
            <a:r>
              <a:rPr lang="en-AU" sz="1400" b="1" i="1" dirty="0"/>
              <a:t>Did:</a:t>
            </a:r>
            <a:r>
              <a:rPr lang="en-AU" sz="1400" i="1" dirty="0"/>
              <a:t> </a:t>
            </a:r>
            <a:r>
              <a:rPr lang="en-AU" sz="1400" dirty="0"/>
              <a:t>Used a Hierarchical Ensemble Construction (HEC) algorithm with diverse NLP models, achieving a mean accuracy of 90% +  across eight sentiment analysis datasets. </a:t>
            </a:r>
            <a:r>
              <a:rPr lang="en-AU" sz="1400" dirty="0">
                <a:sym typeface="Wingdings" pitchFamily="2" charset="2"/>
              </a:rPr>
              <a:t> Establish benefit of potential stacking</a:t>
            </a:r>
            <a:endParaRPr lang="en-AU" sz="1400" dirty="0"/>
          </a:p>
          <a:p>
            <a:endParaRPr lang="en-AU" sz="1400" dirty="0"/>
          </a:p>
          <a:p>
            <a:r>
              <a:rPr lang="en-AU" sz="1400" b="1" i="1" dirty="0"/>
              <a:t>Limitation:</a:t>
            </a:r>
            <a:r>
              <a:rPr lang="en-AU" sz="1400" i="1" dirty="0"/>
              <a:t> </a:t>
            </a:r>
            <a:r>
              <a:rPr lang="en-AU" sz="1400" dirty="0"/>
              <a:t>Increased complexity and computational demands compared to using a single transformer model, requiring up to 75 base-learners in evaluation.</a:t>
            </a:r>
          </a:p>
        </p:txBody>
      </p:sp>
      <p:sp>
        <p:nvSpPr>
          <p:cNvPr id="9" name="TextBox 8">
            <a:extLst>
              <a:ext uri="{FF2B5EF4-FFF2-40B4-BE49-F238E27FC236}">
                <a16:creationId xmlns:a16="http://schemas.microsoft.com/office/drawing/2014/main" id="{854608FC-DB48-78A1-9D65-A8008B506031}"/>
              </a:ext>
            </a:extLst>
          </p:cNvPr>
          <p:cNvSpPr txBox="1"/>
          <p:nvPr/>
        </p:nvSpPr>
        <p:spPr>
          <a:xfrm>
            <a:off x="9023126" y="1489752"/>
            <a:ext cx="3168874" cy="1015663"/>
          </a:xfrm>
          <a:prstGeom prst="rect">
            <a:avLst/>
          </a:prstGeom>
          <a:noFill/>
        </p:spPr>
        <p:txBody>
          <a:bodyPr wrap="square" rtlCol="0">
            <a:spAutoFit/>
          </a:bodyPr>
          <a:lstStyle/>
          <a:p>
            <a:r>
              <a:rPr lang="en-US" sz="1200" b="1" dirty="0">
                <a:solidFill>
                  <a:srgbClr val="FF0000"/>
                </a:solidFill>
              </a:rPr>
              <a:t>Note that the HEC algorithm is more for models with a hierarchical model structure with each model learning an element from the data, and outputs fed as inputs to higher-level models </a:t>
            </a:r>
          </a:p>
        </p:txBody>
      </p:sp>
    </p:spTree>
    <p:extLst>
      <p:ext uri="{BB962C8B-B14F-4D97-AF65-F5344CB8AC3E}">
        <p14:creationId xmlns:p14="http://schemas.microsoft.com/office/powerpoint/2010/main" val="2875872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lstStyle/>
          <a:p>
            <a:r>
              <a:rPr lang="en-GB" dirty="0"/>
              <a:t>Dataset &amp; Data Exploration</a:t>
            </a:r>
            <a:endParaRPr lang="en-AU" dirty="0"/>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10</a:t>
            </a:fld>
            <a:endParaRPr lang="en-AU"/>
          </a:p>
        </p:txBody>
      </p:sp>
      <p:sp>
        <p:nvSpPr>
          <p:cNvPr id="5" name="TextBox 4">
            <a:extLst>
              <a:ext uri="{FF2B5EF4-FFF2-40B4-BE49-F238E27FC236}">
                <a16:creationId xmlns:a16="http://schemas.microsoft.com/office/drawing/2014/main" id="{47471554-0422-62B8-814A-4ABC624E8E60}"/>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Ying Bi (z5444398)</a:t>
            </a:r>
          </a:p>
        </p:txBody>
      </p:sp>
      <p:pic>
        <p:nvPicPr>
          <p:cNvPr id="6" name="Picture 5">
            <a:extLst>
              <a:ext uri="{FF2B5EF4-FFF2-40B4-BE49-F238E27FC236}">
                <a16:creationId xmlns:a16="http://schemas.microsoft.com/office/drawing/2014/main" id="{E05A847D-63A4-7D5D-1220-A39A046CBCD5}"/>
              </a:ext>
            </a:extLst>
          </p:cNvPr>
          <p:cNvPicPr>
            <a:picLocks noChangeAspect="1"/>
          </p:cNvPicPr>
          <p:nvPr/>
        </p:nvPicPr>
        <p:blipFill>
          <a:blip r:embed="rId3"/>
          <a:stretch>
            <a:fillRect/>
          </a:stretch>
        </p:blipFill>
        <p:spPr>
          <a:xfrm>
            <a:off x="6621517" y="1680037"/>
            <a:ext cx="3054129" cy="1891352"/>
          </a:xfrm>
          <a:prstGeom prst="rect">
            <a:avLst/>
          </a:prstGeom>
        </p:spPr>
      </p:pic>
      <p:pic>
        <p:nvPicPr>
          <p:cNvPr id="7" name="Picture 6">
            <a:extLst>
              <a:ext uri="{FF2B5EF4-FFF2-40B4-BE49-F238E27FC236}">
                <a16:creationId xmlns:a16="http://schemas.microsoft.com/office/drawing/2014/main" id="{40F6A02D-A852-4320-9F8E-C6C9E7331857}"/>
              </a:ext>
            </a:extLst>
          </p:cNvPr>
          <p:cNvPicPr>
            <a:picLocks noChangeAspect="1"/>
          </p:cNvPicPr>
          <p:nvPr/>
        </p:nvPicPr>
        <p:blipFill>
          <a:blip r:embed="rId4"/>
          <a:stretch>
            <a:fillRect/>
          </a:stretch>
        </p:blipFill>
        <p:spPr>
          <a:xfrm>
            <a:off x="6614937" y="3662993"/>
            <a:ext cx="2888474" cy="1947125"/>
          </a:xfrm>
          <a:prstGeom prst="rect">
            <a:avLst/>
          </a:prstGeom>
        </p:spPr>
      </p:pic>
      <p:cxnSp>
        <p:nvCxnSpPr>
          <p:cNvPr id="10" name="Google Shape;119;g12f20562990_0_39">
            <a:extLst>
              <a:ext uri="{FF2B5EF4-FFF2-40B4-BE49-F238E27FC236}">
                <a16:creationId xmlns:a16="http://schemas.microsoft.com/office/drawing/2014/main" id="{71385815-1F02-C75D-BC28-4A0CC8F21760}"/>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grpSp>
        <p:nvGrpSpPr>
          <p:cNvPr id="12" name="Google Shape;121;g12f20562990_0_39">
            <a:extLst>
              <a:ext uri="{FF2B5EF4-FFF2-40B4-BE49-F238E27FC236}">
                <a16:creationId xmlns:a16="http://schemas.microsoft.com/office/drawing/2014/main" id="{B801DFDC-97B8-0958-E127-D7709553094C}"/>
              </a:ext>
            </a:extLst>
          </p:cNvPr>
          <p:cNvGrpSpPr/>
          <p:nvPr/>
        </p:nvGrpSpPr>
        <p:grpSpPr>
          <a:xfrm>
            <a:off x="2610855" y="6225545"/>
            <a:ext cx="6060176" cy="365125"/>
            <a:chOff x="1425588" y="6394039"/>
            <a:chExt cx="9340906" cy="363742"/>
          </a:xfrm>
        </p:grpSpPr>
        <p:sp>
          <p:nvSpPr>
            <p:cNvPr id="13" name="Google Shape;122;g12f20562990_0_39">
              <a:extLst>
                <a:ext uri="{FF2B5EF4-FFF2-40B4-BE49-F238E27FC236}">
                  <a16:creationId xmlns:a16="http://schemas.microsoft.com/office/drawing/2014/main" id="{B3816701-7C7E-5B88-4B3F-EB3F39520319}"/>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4" name="Google Shape;123;g12f20562990_0_39">
              <a:extLst>
                <a:ext uri="{FF2B5EF4-FFF2-40B4-BE49-F238E27FC236}">
                  <a16:creationId xmlns:a16="http://schemas.microsoft.com/office/drawing/2014/main" id="{747CD86A-ED5A-C054-D483-5542FE0B2223}"/>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15" name="Google Shape;124;g12f20562990_0_39">
              <a:extLst>
                <a:ext uri="{FF2B5EF4-FFF2-40B4-BE49-F238E27FC236}">
                  <a16:creationId xmlns:a16="http://schemas.microsoft.com/office/drawing/2014/main" id="{829AF608-4C1B-6389-A759-FC51166D6B2F}"/>
                </a:ext>
              </a:extLst>
            </p:cNvPr>
            <p:cNvSpPr/>
            <p:nvPr/>
          </p:nvSpPr>
          <p:spPr>
            <a:xfrm>
              <a:off x="5152512" y="6398681"/>
              <a:ext cx="19833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latin typeface="+mj-lt"/>
                  <a:sym typeface="Avenir"/>
                </a:rPr>
                <a:t>Literature</a:t>
              </a:r>
              <a:endParaRPr sz="1400" b="1" i="0" u="none" strike="noStrike" cap="none" dirty="0">
                <a:latin typeface="+mj-lt"/>
                <a:sym typeface="Arial"/>
              </a:endParaRPr>
            </a:p>
          </p:txBody>
        </p:sp>
        <p:sp>
          <p:nvSpPr>
            <p:cNvPr id="16" name="Google Shape;125;g12f20562990_0_39">
              <a:extLst>
                <a:ext uri="{FF2B5EF4-FFF2-40B4-BE49-F238E27FC236}">
                  <a16:creationId xmlns:a16="http://schemas.microsoft.com/office/drawing/2014/main" id="{959CEEEC-E329-B7D9-F60D-5C9F30D07930}"/>
                </a:ext>
              </a:extLst>
            </p:cNvPr>
            <p:cNvSpPr/>
            <p:nvPr/>
          </p:nvSpPr>
          <p:spPr>
            <a:xfrm>
              <a:off x="7033040" y="6398681"/>
              <a:ext cx="19632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bg1"/>
                  </a:solidFill>
                  <a:latin typeface="+mj-lt"/>
                  <a:ea typeface="Avenir"/>
                  <a:cs typeface="Avenir"/>
                  <a:sym typeface="Avenir"/>
                </a:rPr>
                <a:t>Data Exploration</a:t>
              </a:r>
              <a:endParaRPr sz="1800" b="1" i="0" u="none" strike="noStrike" cap="none" dirty="0">
                <a:solidFill>
                  <a:schemeClr val="bg1"/>
                </a:solidFill>
                <a:latin typeface="+mj-lt"/>
                <a:ea typeface="Calibri"/>
                <a:cs typeface="Calibri"/>
                <a:sym typeface="Calibri"/>
              </a:endParaRPr>
            </a:p>
          </p:txBody>
        </p:sp>
        <p:sp>
          <p:nvSpPr>
            <p:cNvPr id="17" name="Google Shape;126;g12f20562990_0_39">
              <a:extLst>
                <a:ext uri="{FF2B5EF4-FFF2-40B4-BE49-F238E27FC236}">
                  <a16:creationId xmlns:a16="http://schemas.microsoft.com/office/drawing/2014/main" id="{6854C0C3-3C64-C02D-C0A7-9D0B62C5A9F8}"/>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18" name="Google Shape;126;g12f20562990_0_39">
            <a:extLst>
              <a:ext uri="{FF2B5EF4-FFF2-40B4-BE49-F238E27FC236}">
                <a16:creationId xmlns:a16="http://schemas.microsoft.com/office/drawing/2014/main" id="{D98D7D7B-C394-E2A2-0F36-7B05F7BCF142}"/>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19" name="Google Shape;126;g12f20562990_0_39">
            <a:extLst>
              <a:ext uri="{FF2B5EF4-FFF2-40B4-BE49-F238E27FC236}">
                <a16:creationId xmlns:a16="http://schemas.microsoft.com/office/drawing/2014/main" id="{6E5B2F85-1D39-506A-EF93-4769F5BC7939}"/>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21" name="Rectangle 20">
            <a:extLst>
              <a:ext uri="{FF2B5EF4-FFF2-40B4-BE49-F238E27FC236}">
                <a16:creationId xmlns:a16="http://schemas.microsoft.com/office/drawing/2014/main" id="{31A3AF6E-2B6B-8B34-57A5-5AB8661990AB}"/>
              </a:ext>
            </a:extLst>
          </p:cNvPr>
          <p:cNvSpPr/>
          <p:nvPr/>
        </p:nvSpPr>
        <p:spPr>
          <a:xfrm>
            <a:off x="360695" y="1102780"/>
            <a:ext cx="5078952" cy="1225874"/>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solidFill>
                  <a:schemeClr val="tx1"/>
                </a:solidFill>
                <a:latin typeface="Arial" panose="020B0604020202020204" pitchFamily="34" charset="0"/>
                <a:cs typeface="Arial" panose="020B0604020202020204" pitchFamily="34" charset="0"/>
              </a:rPr>
              <a:t>Dataset from the Financial Services Innovation Lab of Georgia Tech, specifically the FOMC dataset titled 'Trillion Dollar Words: A New Financial Dataset, Task &amp; Market Analysis,' presented at ACL 2023. The team decided to use the "78516" dataset split due to its balance between representativeness and computational feasibility. </a:t>
            </a:r>
          </a:p>
        </p:txBody>
      </p:sp>
      <p:pic>
        <p:nvPicPr>
          <p:cNvPr id="24" name="Picture 23">
            <a:extLst>
              <a:ext uri="{FF2B5EF4-FFF2-40B4-BE49-F238E27FC236}">
                <a16:creationId xmlns:a16="http://schemas.microsoft.com/office/drawing/2014/main" id="{A50ACCF6-E357-4731-83BA-A1F3201D7823}"/>
              </a:ext>
            </a:extLst>
          </p:cNvPr>
          <p:cNvPicPr>
            <a:picLocks noChangeAspect="1"/>
          </p:cNvPicPr>
          <p:nvPr/>
        </p:nvPicPr>
        <p:blipFill>
          <a:blip r:embed="rId5"/>
          <a:stretch>
            <a:fillRect/>
          </a:stretch>
        </p:blipFill>
        <p:spPr>
          <a:xfrm>
            <a:off x="2955330" y="2973920"/>
            <a:ext cx="2888474" cy="1944829"/>
          </a:xfrm>
          <a:prstGeom prst="rect">
            <a:avLst/>
          </a:prstGeom>
        </p:spPr>
      </p:pic>
      <p:sp>
        <p:nvSpPr>
          <p:cNvPr id="25" name="Google Shape;132;g12f20562990_0_39">
            <a:extLst>
              <a:ext uri="{FF2B5EF4-FFF2-40B4-BE49-F238E27FC236}">
                <a16:creationId xmlns:a16="http://schemas.microsoft.com/office/drawing/2014/main" id="{3EFD37A9-28A0-C4A9-5E91-922D2B0D6A2C}"/>
              </a:ext>
            </a:extLst>
          </p:cNvPr>
          <p:cNvSpPr/>
          <p:nvPr/>
        </p:nvSpPr>
        <p:spPr>
          <a:xfrm>
            <a:off x="326829" y="2534705"/>
            <a:ext cx="5189271"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dirty="0">
                <a:solidFill>
                  <a:schemeClr val="bg1"/>
                </a:solidFill>
                <a:latin typeface="Arial" panose="020B0604020202020204" pitchFamily="34" charset="0"/>
                <a:cs typeface="Arial" panose="020B0604020202020204" pitchFamily="34" charset="0"/>
              </a:rPr>
              <a:t>Nature of Data</a:t>
            </a:r>
            <a:endParaRPr lang="en-AU" i="0" u="none" strike="noStrike" cap="none" dirty="0">
              <a:solidFill>
                <a:schemeClr val="bg1"/>
              </a:solidFill>
              <a:latin typeface="Arial" panose="020B0604020202020204" pitchFamily="34" charset="0"/>
              <a:ea typeface="Avenir"/>
              <a:cs typeface="Arial" panose="020B0604020202020204" pitchFamily="34" charset="0"/>
              <a:sym typeface="Avenir"/>
            </a:endParaRPr>
          </a:p>
        </p:txBody>
      </p:sp>
      <p:pic>
        <p:nvPicPr>
          <p:cNvPr id="26" name="Picture 25">
            <a:extLst>
              <a:ext uri="{FF2B5EF4-FFF2-40B4-BE49-F238E27FC236}">
                <a16:creationId xmlns:a16="http://schemas.microsoft.com/office/drawing/2014/main" id="{AF3476F5-5245-34CD-273A-72B967C39E8F}"/>
              </a:ext>
            </a:extLst>
          </p:cNvPr>
          <p:cNvPicPr>
            <a:picLocks noChangeAspect="1"/>
          </p:cNvPicPr>
          <p:nvPr/>
        </p:nvPicPr>
        <p:blipFill>
          <a:blip r:embed="rId6"/>
          <a:stretch>
            <a:fillRect/>
          </a:stretch>
        </p:blipFill>
        <p:spPr>
          <a:xfrm>
            <a:off x="248818" y="3213317"/>
            <a:ext cx="2580653" cy="1473632"/>
          </a:xfrm>
          <a:prstGeom prst="rect">
            <a:avLst/>
          </a:prstGeom>
        </p:spPr>
      </p:pic>
      <p:sp>
        <p:nvSpPr>
          <p:cNvPr id="27" name="Google Shape;132;g12f20562990_0_39">
            <a:extLst>
              <a:ext uri="{FF2B5EF4-FFF2-40B4-BE49-F238E27FC236}">
                <a16:creationId xmlns:a16="http://schemas.microsoft.com/office/drawing/2014/main" id="{677D40F1-4297-C0C4-163A-EC26B2A7DA8F}"/>
              </a:ext>
            </a:extLst>
          </p:cNvPr>
          <p:cNvSpPr/>
          <p:nvPr/>
        </p:nvSpPr>
        <p:spPr>
          <a:xfrm>
            <a:off x="6705547" y="1102779"/>
            <a:ext cx="5189271"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dirty="0">
                <a:solidFill>
                  <a:schemeClr val="bg1"/>
                </a:solidFill>
                <a:latin typeface="Arial" panose="020B0604020202020204" pitchFamily="34" charset="0"/>
                <a:cs typeface="Arial" panose="020B0604020202020204" pitchFamily="34" charset="0"/>
              </a:rPr>
              <a:t>Data Split</a:t>
            </a:r>
            <a:endParaRPr lang="en-AU" i="0" u="none" strike="noStrike" cap="none" dirty="0">
              <a:solidFill>
                <a:schemeClr val="bg1"/>
              </a:solidFill>
              <a:latin typeface="Arial" panose="020B0604020202020204" pitchFamily="34" charset="0"/>
              <a:ea typeface="Avenir"/>
              <a:cs typeface="Arial" panose="020B0604020202020204" pitchFamily="34" charset="0"/>
              <a:sym typeface="Avenir"/>
            </a:endParaRPr>
          </a:p>
        </p:txBody>
      </p:sp>
      <p:sp>
        <p:nvSpPr>
          <p:cNvPr id="29" name="TextBox 28">
            <a:extLst>
              <a:ext uri="{FF2B5EF4-FFF2-40B4-BE49-F238E27FC236}">
                <a16:creationId xmlns:a16="http://schemas.microsoft.com/office/drawing/2014/main" id="{83E30FFF-AD5A-95AD-FB38-DD27609AAF34}"/>
              </a:ext>
            </a:extLst>
          </p:cNvPr>
          <p:cNvSpPr txBox="1"/>
          <p:nvPr/>
        </p:nvSpPr>
        <p:spPr>
          <a:xfrm>
            <a:off x="147372" y="5286688"/>
            <a:ext cx="5292275" cy="769441"/>
          </a:xfrm>
          <a:prstGeom prst="rect">
            <a:avLst/>
          </a:prstGeom>
          <a:noFill/>
        </p:spPr>
        <p:txBody>
          <a:bodyPr wrap="square">
            <a:spAutoFit/>
          </a:bodyPr>
          <a:lstStyle/>
          <a:p>
            <a:pPr algn="ctr"/>
            <a:r>
              <a:rPr lang="en-AU" sz="1100" i="1" dirty="0"/>
              <a:t>The distribution of list lengths in the training set shows that most lists have fewer than 50 tokens, with a peak around 20-30 tokens. This information is critical for the model to understand the average sentence length, which helps in configuring the appropriate model architecture and parameter settings</a:t>
            </a:r>
            <a:endParaRPr lang="en-US" sz="1100" i="1" dirty="0"/>
          </a:p>
        </p:txBody>
      </p:sp>
      <p:sp>
        <p:nvSpPr>
          <p:cNvPr id="32" name="Rectangle 31">
            <a:extLst>
              <a:ext uri="{FF2B5EF4-FFF2-40B4-BE49-F238E27FC236}">
                <a16:creationId xmlns:a16="http://schemas.microsoft.com/office/drawing/2014/main" id="{4BFD2C35-6FE8-872B-D4F3-4F489D424632}"/>
              </a:ext>
            </a:extLst>
          </p:cNvPr>
          <p:cNvSpPr/>
          <p:nvPr/>
        </p:nvSpPr>
        <p:spPr>
          <a:xfrm>
            <a:off x="9458469" y="3952078"/>
            <a:ext cx="2404347" cy="902905"/>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b="1" dirty="0">
                <a:solidFill>
                  <a:schemeClr val="tx1"/>
                </a:solidFill>
                <a:latin typeface="Arial" panose="020B0604020202020204" pitchFamily="34" charset="0"/>
                <a:cs typeface="Arial" panose="020B0604020202020204" pitchFamily="34" charset="0"/>
              </a:rPr>
              <a:t>Label Distribution:</a:t>
            </a:r>
          </a:p>
          <a:p>
            <a:r>
              <a:rPr lang="en-AU" sz="1200" dirty="0">
                <a:solidFill>
                  <a:schemeClr val="tx1"/>
                </a:solidFill>
                <a:latin typeface="Arial" panose="020B0604020202020204" pitchFamily="34" charset="0"/>
                <a:cs typeface="Arial" panose="020B0604020202020204" pitchFamily="34" charset="0"/>
              </a:rPr>
              <a:t>Neutral: 979 samples</a:t>
            </a:r>
          </a:p>
          <a:p>
            <a:r>
              <a:rPr lang="en-AU" sz="1200" dirty="0">
                <a:solidFill>
                  <a:schemeClr val="tx1"/>
                </a:solidFill>
                <a:latin typeface="Arial" panose="020B0604020202020204" pitchFamily="34" charset="0"/>
                <a:cs typeface="Arial" panose="020B0604020202020204" pitchFamily="34" charset="0"/>
              </a:rPr>
              <a:t>Dovish: 521 samples</a:t>
            </a:r>
          </a:p>
          <a:p>
            <a:r>
              <a:rPr lang="en-AU" sz="1200" dirty="0">
                <a:solidFill>
                  <a:schemeClr val="tx1"/>
                </a:solidFill>
                <a:latin typeface="Arial" panose="020B0604020202020204" pitchFamily="34" charset="0"/>
                <a:cs typeface="Arial" panose="020B0604020202020204" pitchFamily="34" charset="0"/>
              </a:rPr>
              <a:t>Hawkish: 484 samples</a:t>
            </a:r>
            <a:endParaRPr lang="en-US" sz="1200" dirty="0">
              <a:solidFill>
                <a:schemeClr val="tx1"/>
              </a:solidFill>
              <a:latin typeface="Arial" panose="020B0604020202020204" pitchFamily="34" charset="0"/>
              <a:cs typeface="Arial" panose="020B0604020202020204" pitchFamily="34" charset="0"/>
            </a:endParaRPr>
          </a:p>
        </p:txBody>
      </p:sp>
      <p:sp>
        <p:nvSpPr>
          <p:cNvPr id="33" name="Rectangle 32">
            <a:extLst>
              <a:ext uri="{FF2B5EF4-FFF2-40B4-BE49-F238E27FC236}">
                <a16:creationId xmlns:a16="http://schemas.microsoft.com/office/drawing/2014/main" id="{01E294BB-F3FE-CB8E-48FC-B23840B25B37}"/>
              </a:ext>
            </a:extLst>
          </p:cNvPr>
          <p:cNvSpPr/>
          <p:nvPr/>
        </p:nvSpPr>
        <p:spPr>
          <a:xfrm>
            <a:off x="9403680" y="1955186"/>
            <a:ext cx="2404347" cy="1241757"/>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200" b="1" dirty="0">
                <a:solidFill>
                  <a:schemeClr val="tx1"/>
                </a:solidFill>
              </a:rPr>
              <a:t>80/20 Split</a:t>
            </a:r>
            <a:r>
              <a:rPr lang="en-AU" sz="1200" dirty="0">
                <a:solidFill>
                  <a:schemeClr val="tx1"/>
                </a:solidFill>
              </a:rPr>
              <a:t>: </a:t>
            </a:r>
          </a:p>
          <a:p>
            <a:r>
              <a:rPr lang="en-AU" sz="1200" dirty="0">
                <a:solidFill>
                  <a:schemeClr val="tx1"/>
                </a:solidFill>
              </a:rPr>
              <a:t>The dataset was split into 80% for training (1,984 samples) and 20% for testing (496 samples), ensuring a standard division for robust training and generalisable model evaluation.</a:t>
            </a:r>
          </a:p>
        </p:txBody>
      </p:sp>
    </p:spTree>
    <p:extLst>
      <p:ext uri="{BB962C8B-B14F-4D97-AF65-F5344CB8AC3E}">
        <p14:creationId xmlns:p14="http://schemas.microsoft.com/office/powerpoint/2010/main" val="14824842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normAutofit/>
          </a:bodyPr>
          <a:lstStyle/>
          <a:p>
            <a:r>
              <a:rPr lang="en-GB" dirty="0"/>
              <a:t>Data </a:t>
            </a:r>
            <a:r>
              <a:rPr lang="en-US" altLang="zh-CN" dirty="0"/>
              <a:t>Pre-processing</a:t>
            </a:r>
            <a:endParaRPr lang="en-AU" dirty="0"/>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11</a:t>
            </a:fld>
            <a:endParaRPr lang="en-AU"/>
          </a:p>
        </p:txBody>
      </p:sp>
      <p:sp>
        <p:nvSpPr>
          <p:cNvPr id="6" name="TextBox 5">
            <a:extLst>
              <a:ext uri="{FF2B5EF4-FFF2-40B4-BE49-F238E27FC236}">
                <a16:creationId xmlns:a16="http://schemas.microsoft.com/office/drawing/2014/main" id="{0699F208-1CDC-6FEA-A315-8FBE78581435}"/>
              </a:ext>
            </a:extLst>
          </p:cNvPr>
          <p:cNvSpPr txBox="1"/>
          <p:nvPr/>
        </p:nvSpPr>
        <p:spPr>
          <a:xfrm>
            <a:off x="119743" y="6225545"/>
            <a:ext cx="7326086" cy="261610"/>
          </a:xfrm>
          <a:prstGeom prst="rect">
            <a:avLst/>
          </a:prstGeom>
          <a:noFill/>
        </p:spPr>
        <p:txBody>
          <a:bodyPr wrap="square" rtlCol="0">
            <a:spAutoFit/>
          </a:bodyPr>
          <a:lstStyle/>
          <a:p>
            <a:r>
              <a:rPr lang="en-US" altLang="zh-CN" sz="1100" b="1" dirty="0">
                <a:latin typeface="Arial" panose="020B0604020202020204" pitchFamily="34" charset="0"/>
                <a:cs typeface="Arial" panose="020B0604020202020204" pitchFamily="34" charset="0"/>
              </a:rPr>
              <a:t>Presenter: Ying Bi (z5444398)</a:t>
            </a:r>
          </a:p>
        </p:txBody>
      </p:sp>
      <p:cxnSp>
        <p:nvCxnSpPr>
          <p:cNvPr id="5" name="Google Shape;119;g12f20562990_0_39">
            <a:extLst>
              <a:ext uri="{FF2B5EF4-FFF2-40B4-BE49-F238E27FC236}">
                <a16:creationId xmlns:a16="http://schemas.microsoft.com/office/drawing/2014/main" id="{BBBB0AA7-C6C6-2C63-9A48-E84DE8ABD3B9}"/>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grpSp>
        <p:nvGrpSpPr>
          <p:cNvPr id="30" name="Google Shape;121;g12f20562990_0_39">
            <a:extLst>
              <a:ext uri="{FF2B5EF4-FFF2-40B4-BE49-F238E27FC236}">
                <a16:creationId xmlns:a16="http://schemas.microsoft.com/office/drawing/2014/main" id="{2F0D5E10-B592-8139-8A2B-E02E23054D18}"/>
              </a:ext>
            </a:extLst>
          </p:cNvPr>
          <p:cNvGrpSpPr/>
          <p:nvPr/>
        </p:nvGrpSpPr>
        <p:grpSpPr>
          <a:xfrm>
            <a:off x="2610855" y="6225545"/>
            <a:ext cx="6060176" cy="365125"/>
            <a:chOff x="1425588" y="6394039"/>
            <a:chExt cx="9340906" cy="363742"/>
          </a:xfrm>
        </p:grpSpPr>
        <p:sp>
          <p:nvSpPr>
            <p:cNvPr id="31" name="Google Shape;122;g12f20562990_0_39">
              <a:extLst>
                <a:ext uri="{FF2B5EF4-FFF2-40B4-BE49-F238E27FC236}">
                  <a16:creationId xmlns:a16="http://schemas.microsoft.com/office/drawing/2014/main" id="{42E9565B-0AEC-FE99-B8E7-8EC649DEF1C0}"/>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32" name="Google Shape;123;g12f20562990_0_39">
              <a:extLst>
                <a:ext uri="{FF2B5EF4-FFF2-40B4-BE49-F238E27FC236}">
                  <a16:creationId xmlns:a16="http://schemas.microsoft.com/office/drawing/2014/main" id="{F81B7E50-A0FC-3963-49A9-F1287BAB60F1}"/>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33" name="Google Shape;124;g12f20562990_0_39">
              <a:extLst>
                <a:ext uri="{FF2B5EF4-FFF2-40B4-BE49-F238E27FC236}">
                  <a16:creationId xmlns:a16="http://schemas.microsoft.com/office/drawing/2014/main" id="{5AF43E5C-C115-F906-87C2-10717F94F6E4}"/>
                </a:ext>
              </a:extLst>
            </p:cNvPr>
            <p:cNvSpPr/>
            <p:nvPr/>
          </p:nvSpPr>
          <p:spPr>
            <a:xfrm>
              <a:off x="5152512" y="6398681"/>
              <a:ext cx="19833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latin typeface="+mj-lt"/>
                  <a:sym typeface="Avenir"/>
                </a:rPr>
                <a:t>Literature</a:t>
              </a:r>
              <a:endParaRPr sz="1400" b="1" i="0" u="none" strike="noStrike" cap="none" dirty="0">
                <a:latin typeface="+mj-lt"/>
                <a:sym typeface="Arial"/>
              </a:endParaRPr>
            </a:p>
          </p:txBody>
        </p:sp>
        <p:sp>
          <p:nvSpPr>
            <p:cNvPr id="34" name="Google Shape;125;g12f20562990_0_39">
              <a:extLst>
                <a:ext uri="{FF2B5EF4-FFF2-40B4-BE49-F238E27FC236}">
                  <a16:creationId xmlns:a16="http://schemas.microsoft.com/office/drawing/2014/main" id="{D2BE2490-4C57-DEE5-05E0-900F8A813651}"/>
                </a:ext>
              </a:extLst>
            </p:cNvPr>
            <p:cNvSpPr/>
            <p:nvPr/>
          </p:nvSpPr>
          <p:spPr>
            <a:xfrm>
              <a:off x="7033040" y="6398681"/>
              <a:ext cx="19632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bg1"/>
                  </a:solidFill>
                  <a:latin typeface="+mj-lt"/>
                  <a:ea typeface="Avenir"/>
                  <a:cs typeface="Avenir"/>
                  <a:sym typeface="Avenir"/>
                </a:rPr>
                <a:t>Data Exploration</a:t>
              </a:r>
              <a:endParaRPr sz="1800" b="1" i="0" u="none" strike="noStrike" cap="none" dirty="0">
                <a:solidFill>
                  <a:schemeClr val="bg1"/>
                </a:solidFill>
                <a:latin typeface="+mj-lt"/>
                <a:ea typeface="Calibri"/>
                <a:cs typeface="Calibri"/>
                <a:sym typeface="Calibri"/>
              </a:endParaRPr>
            </a:p>
          </p:txBody>
        </p:sp>
        <p:sp>
          <p:nvSpPr>
            <p:cNvPr id="35" name="Google Shape;126;g12f20562990_0_39">
              <a:extLst>
                <a:ext uri="{FF2B5EF4-FFF2-40B4-BE49-F238E27FC236}">
                  <a16:creationId xmlns:a16="http://schemas.microsoft.com/office/drawing/2014/main" id="{662B7A98-ADE1-8B47-AB31-0DD07898E2A1}"/>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36" name="Google Shape;126;g12f20562990_0_39">
            <a:extLst>
              <a:ext uri="{FF2B5EF4-FFF2-40B4-BE49-F238E27FC236}">
                <a16:creationId xmlns:a16="http://schemas.microsoft.com/office/drawing/2014/main" id="{E1891B8E-2996-470F-54B0-523FDB77C5DA}"/>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37" name="Google Shape;126;g12f20562990_0_39">
            <a:extLst>
              <a:ext uri="{FF2B5EF4-FFF2-40B4-BE49-F238E27FC236}">
                <a16:creationId xmlns:a16="http://schemas.microsoft.com/office/drawing/2014/main" id="{6805A146-59BC-4426-E28C-3BF852665F3F}"/>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7" name="Google Shape;132;g12f20562990_0_39">
            <a:extLst>
              <a:ext uri="{FF2B5EF4-FFF2-40B4-BE49-F238E27FC236}">
                <a16:creationId xmlns:a16="http://schemas.microsoft.com/office/drawing/2014/main" id="{41C102AB-896C-D33F-92B8-614975C66370}"/>
              </a:ext>
            </a:extLst>
          </p:cNvPr>
          <p:cNvSpPr/>
          <p:nvPr/>
        </p:nvSpPr>
        <p:spPr>
          <a:xfrm>
            <a:off x="1096729" y="1438152"/>
            <a:ext cx="3178518"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i="0" u="none" strike="noStrike" cap="none" dirty="0">
                <a:solidFill>
                  <a:schemeClr val="bg1"/>
                </a:solidFill>
                <a:latin typeface="Arial" panose="020B0604020202020204" pitchFamily="34" charset="0"/>
                <a:ea typeface="Avenir"/>
                <a:cs typeface="Arial" panose="020B0604020202020204" pitchFamily="34" charset="0"/>
                <a:sym typeface="Avenir"/>
              </a:rPr>
              <a:t>Word2Vec (LSTM)</a:t>
            </a:r>
          </a:p>
        </p:txBody>
      </p:sp>
      <p:sp>
        <p:nvSpPr>
          <p:cNvPr id="10" name="Google Shape;132;g12f20562990_0_39">
            <a:extLst>
              <a:ext uri="{FF2B5EF4-FFF2-40B4-BE49-F238E27FC236}">
                <a16:creationId xmlns:a16="http://schemas.microsoft.com/office/drawing/2014/main" id="{B6BEF29E-BF09-DBFE-A5D3-EE9457610C71}"/>
              </a:ext>
            </a:extLst>
          </p:cNvPr>
          <p:cNvSpPr/>
          <p:nvPr/>
        </p:nvSpPr>
        <p:spPr>
          <a:xfrm>
            <a:off x="7343336" y="1403287"/>
            <a:ext cx="3449278"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dirty="0">
                <a:solidFill>
                  <a:schemeClr val="bg1"/>
                </a:solidFill>
                <a:latin typeface="Arial" panose="020B0604020202020204" pitchFamily="34" charset="0"/>
                <a:cs typeface="Arial" panose="020B0604020202020204" pitchFamily="34" charset="0"/>
              </a:rPr>
              <a:t>Tokenization (</a:t>
            </a:r>
            <a:r>
              <a:rPr lang="en-US" altLang="zh-CN" dirty="0">
                <a:solidFill>
                  <a:schemeClr val="bg1"/>
                </a:solidFill>
                <a:latin typeface="Arial" panose="020B0604020202020204" pitchFamily="34" charset="0"/>
                <a:cs typeface="Arial" panose="020B0604020202020204" pitchFamily="34" charset="0"/>
              </a:rPr>
              <a:t>BERT</a:t>
            </a:r>
            <a:r>
              <a:rPr lang="en-AU" dirty="0">
                <a:solidFill>
                  <a:schemeClr val="bg1"/>
                </a:solidFill>
                <a:latin typeface="Arial" panose="020B0604020202020204" pitchFamily="34" charset="0"/>
                <a:cs typeface="Arial" panose="020B0604020202020204" pitchFamily="34" charset="0"/>
              </a:rPr>
              <a:t>)</a:t>
            </a:r>
            <a:endParaRPr lang="en-AU" i="0" u="none" strike="noStrike" cap="none" dirty="0">
              <a:solidFill>
                <a:schemeClr val="bg1"/>
              </a:solidFill>
              <a:latin typeface="Arial" panose="020B0604020202020204" pitchFamily="34" charset="0"/>
              <a:ea typeface="Avenir"/>
              <a:cs typeface="Arial" panose="020B0604020202020204" pitchFamily="34" charset="0"/>
              <a:sym typeface="Avenir"/>
            </a:endParaRPr>
          </a:p>
        </p:txBody>
      </p:sp>
      <p:sp>
        <p:nvSpPr>
          <p:cNvPr id="11" name="Google Shape;132;g12f20562990_0_39">
            <a:extLst>
              <a:ext uri="{FF2B5EF4-FFF2-40B4-BE49-F238E27FC236}">
                <a16:creationId xmlns:a16="http://schemas.microsoft.com/office/drawing/2014/main" id="{48DC0B80-803F-C546-9790-A16AF357FC41}"/>
              </a:ext>
            </a:extLst>
          </p:cNvPr>
          <p:cNvSpPr/>
          <p:nvPr/>
        </p:nvSpPr>
        <p:spPr>
          <a:xfrm>
            <a:off x="661182" y="903320"/>
            <a:ext cx="10635175"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i="0" u="none" strike="noStrike" cap="none" dirty="0">
                <a:solidFill>
                  <a:schemeClr val="bg1"/>
                </a:solidFill>
                <a:latin typeface="Arial" panose="020B0604020202020204" pitchFamily="34" charset="0"/>
                <a:ea typeface="Avenir"/>
                <a:cs typeface="Arial" panose="020B0604020202020204" pitchFamily="34" charset="0"/>
                <a:sym typeface="Avenir"/>
              </a:rPr>
              <a:t>Text Data</a:t>
            </a:r>
          </a:p>
        </p:txBody>
      </p:sp>
      <p:sp>
        <p:nvSpPr>
          <p:cNvPr id="16" name="文本框 15">
            <a:extLst>
              <a:ext uri="{FF2B5EF4-FFF2-40B4-BE49-F238E27FC236}">
                <a16:creationId xmlns:a16="http://schemas.microsoft.com/office/drawing/2014/main" id="{A944B28B-4F36-323F-350B-B3DE0A92ED60}"/>
              </a:ext>
            </a:extLst>
          </p:cNvPr>
          <p:cNvSpPr txBox="1"/>
          <p:nvPr/>
        </p:nvSpPr>
        <p:spPr>
          <a:xfrm>
            <a:off x="1323147" y="1904718"/>
            <a:ext cx="2798689" cy="276999"/>
          </a:xfrm>
          <a:prstGeom prst="rect">
            <a:avLst/>
          </a:prstGeom>
        </p:spPr>
        <p:style>
          <a:lnRef idx="1">
            <a:schemeClr val="accent1"/>
          </a:lnRef>
          <a:fillRef idx="3">
            <a:schemeClr val="accent1"/>
          </a:fillRef>
          <a:effectRef idx="2">
            <a:schemeClr val="accent1"/>
          </a:effectRef>
          <a:fontRef idx="minor">
            <a:schemeClr val="lt1"/>
          </a:fontRef>
        </p:style>
        <p:txBody>
          <a:bodyPr wrap="square">
            <a:spAutoFit/>
          </a:bodyPr>
          <a:lstStyle/>
          <a:p>
            <a:r>
              <a:rPr lang="en-US" altLang="zh-CN" sz="1200" dirty="0"/>
              <a:t>E.g. Our mandate, sorry, is price inflation.</a:t>
            </a:r>
            <a:endParaRPr lang="zh-CN" altLang="en-US" sz="1200" dirty="0"/>
          </a:p>
        </p:txBody>
      </p:sp>
      <p:sp>
        <p:nvSpPr>
          <p:cNvPr id="18" name="Arrow: Right 5">
            <a:extLst>
              <a:ext uri="{FF2B5EF4-FFF2-40B4-BE49-F238E27FC236}">
                <a16:creationId xmlns:a16="http://schemas.microsoft.com/office/drawing/2014/main" id="{D47B8997-A1E8-1153-6DD9-0B2FB91DBCDD}"/>
              </a:ext>
            </a:extLst>
          </p:cNvPr>
          <p:cNvSpPr/>
          <p:nvPr/>
        </p:nvSpPr>
        <p:spPr>
          <a:xfrm rot="5400000">
            <a:off x="2627911" y="2238804"/>
            <a:ext cx="184374" cy="387207"/>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文本框 18">
            <a:extLst>
              <a:ext uri="{FF2B5EF4-FFF2-40B4-BE49-F238E27FC236}">
                <a16:creationId xmlns:a16="http://schemas.microsoft.com/office/drawing/2014/main" id="{948885D0-CFB1-10EF-2F2E-28084748AFF9}"/>
              </a:ext>
            </a:extLst>
          </p:cNvPr>
          <p:cNvSpPr txBox="1"/>
          <p:nvPr/>
        </p:nvSpPr>
        <p:spPr>
          <a:xfrm>
            <a:off x="1191796" y="2655406"/>
            <a:ext cx="3056604" cy="276999"/>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altLang="zh-CN" sz="1200" dirty="0"/>
              <a:t>['our', 'mandate', 'sorry', 'is', 'price', 'inflation']</a:t>
            </a:r>
            <a:endParaRPr lang="zh-CN" altLang="en-US" sz="1200" dirty="0"/>
          </a:p>
        </p:txBody>
      </p:sp>
      <p:sp>
        <p:nvSpPr>
          <p:cNvPr id="22" name="文本框 21">
            <a:extLst>
              <a:ext uri="{FF2B5EF4-FFF2-40B4-BE49-F238E27FC236}">
                <a16:creationId xmlns:a16="http://schemas.microsoft.com/office/drawing/2014/main" id="{E60465CE-1B76-45ED-4839-00089CEAA3AE}"/>
              </a:ext>
            </a:extLst>
          </p:cNvPr>
          <p:cNvSpPr txBox="1"/>
          <p:nvPr/>
        </p:nvSpPr>
        <p:spPr>
          <a:xfrm>
            <a:off x="3007833" y="2286055"/>
            <a:ext cx="1753186" cy="261610"/>
          </a:xfrm>
          <a:prstGeom prst="rect">
            <a:avLst/>
          </a:prstGeom>
          <a:noFill/>
        </p:spPr>
        <p:txBody>
          <a:bodyPr wrap="square">
            <a:spAutoFit/>
          </a:bodyPr>
          <a:lstStyle/>
          <a:p>
            <a:r>
              <a:rPr lang="en-AU" altLang="zh-CN" sz="1100" i="1" dirty="0"/>
              <a:t>Remove case, punctuation</a:t>
            </a:r>
            <a:endParaRPr lang="zh-CN" altLang="en-US" sz="1100" dirty="0"/>
          </a:p>
        </p:txBody>
      </p:sp>
      <p:sp>
        <p:nvSpPr>
          <p:cNvPr id="23" name="文本框 22">
            <a:extLst>
              <a:ext uri="{FF2B5EF4-FFF2-40B4-BE49-F238E27FC236}">
                <a16:creationId xmlns:a16="http://schemas.microsoft.com/office/drawing/2014/main" id="{A0E4EE1D-2471-7B7A-CC65-5CEFFED1D690}"/>
              </a:ext>
            </a:extLst>
          </p:cNvPr>
          <p:cNvSpPr txBox="1"/>
          <p:nvPr/>
        </p:nvSpPr>
        <p:spPr>
          <a:xfrm>
            <a:off x="966912" y="2289902"/>
            <a:ext cx="1753186" cy="261610"/>
          </a:xfrm>
          <a:prstGeom prst="rect">
            <a:avLst/>
          </a:prstGeom>
          <a:noFill/>
        </p:spPr>
        <p:txBody>
          <a:bodyPr wrap="square">
            <a:spAutoFit/>
          </a:bodyPr>
          <a:lstStyle/>
          <a:p>
            <a:r>
              <a:rPr lang="en-AU" altLang="zh-CN" sz="1100" i="1" dirty="0"/>
              <a:t>Sentences to word lists</a:t>
            </a:r>
            <a:endParaRPr lang="zh-CN" altLang="en-US" sz="1100" dirty="0"/>
          </a:p>
        </p:txBody>
      </p:sp>
      <p:sp>
        <p:nvSpPr>
          <p:cNvPr id="24" name="Arrow: Right 5">
            <a:extLst>
              <a:ext uri="{FF2B5EF4-FFF2-40B4-BE49-F238E27FC236}">
                <a16:creationId xmlns:a16="http://schemas.microsoft.com/office/drawing/2014/main" id="{2DC86EEF-1C85-77B2-8126-F18F6189B001}"/>
              </a:ext>
            </a:extLst>
          </p:cNvPr>
          <p:cNvSpPr/>
          <p:nvPr/>
        </p:nvSpPr>
        <p:spPr>
          <a:xfrm rot="5400000">
            <a:off x="2627910" y="2997952"/>
            <a:ext cx="184374" cy="387207"/>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文本框 24">
            <a:extLst>
              <a:ext uri="{FF2B5EF4-FFF2-40B4-BE49-F238E27FC236}">
                <a16:creationId xmlns:a16="http://schemas.microsoft.com/office/drawing/2014/main" id="{AFFEDB93-DFC5-C6B9-A43C-FADB7D0DCA92}"/>
              </a:ext>
            </a:extLst>
          </p:cNvPr>
          <p:cNvSpPr txBox="1"/>
          <p:nvPr/>
        </p:nvSpPr>
        <p:spPr>
          <a:xfrm>
            <a:off x="966911" y="3060750"/>
            <a:ext cx="1753186" cy="261610"/>
          </a:xfrm>
          <a:prstGeom prst="rect">
            <a:avLst/>
          </a:prstGeom>
          <a:noFill/>
        </p:spPr>
        <p:txBody>
          <a:bodyPr wrap="square">
            <a:spAutoFit/>
          </a:bodyPr>
          <a:lstStyle/>
          <a:p>
            <a:r>
              <a:rPr lang="en-AU" altLang="zh-CN" sz="1100" i="1" dirty="0"/>
              <a:t>Convert word to vector</a:t>
            </a:r>
            <a:endParaRPr lang="zh-CN" altLang="en-US" sz="1100" dirty="0"/>
          </a:p>
        </p:txBody>
      </p:sp>
      <p:sp>
        <p:nvSpPr>
          <p:cNvPr id="26" name="文本框 25">
            <a:extLst>
              <a:ext uri="{FF2B5EF4-FFF2-40B4-BE49-F238E27FC236}">
                <a16:creationId xmlns:a16="http://schemas.microsoft.com/office/drawing/2014/main" id="{F491FB54-FC97-0729-BC53-0D747EE87D47}"/>
              </a:ext>
            </a:extLst>
          </p:cNvPr>
          <p:cNvSpPr txBox="1"/>
          <p:nvPr/>
        </p:nvSpPr>
        <p:spPr>
          <a:xfrm>
            <a:off x="3117991" y="3062167"/>
            <a:ext cx="1130409" cy="261610"/>
          </a:xfrm>
          <a:prstGeom prst="rect">
            <a:avLst/>
          </a:prstGeom>
          <a:noFill/>
        </p:spPr>
        <p:txBody>
          <a:bodyPr wrap="square">
            <a:spAutoFit/>
          </a:bodyPr>
          <a:lstStyle/>
          <a:p>
            <a:r>
              <a:rPr lang="en-AU" altLang="zh-CN" sz="1100" i="1" dirty="0"/>
              <a:t>vector size = 100</a:t>
            </a:r>
            <a:endParaRPr lang="zh-CN" altLang="en-US" sz="1100" dirty="0"/>
          </a:p>
        </p:txBody>
      </p:sp>
      <p:sp>
        <p:nvSpPr>
          <p:cNvPr id="39" name="文本框 38">
            <a:extLst>
              <a:ext uri="{FF2B5EF4-FFF2-40B4-BE49-F238E27FC236}">
                <a16:creationId xmlns:a16="http://schemas.microsoft.com/office/drawing/2014/main" id="{039709FF-7B2F-12C8-D534-C3AC8C725A3D}"/>
              </a:ext>
            </a:extLst>
          </p:cNvPr>
          <p:cNvSpPr txBox="1"/>
          <p:nvPr/>
        </p:nvSpPr>
        <p:spPr>
          <a:xfrm>
            <a:off x="926719" y="3439730"/>
            <a:ext cx="792856" cy="307777"/>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altLang="zh-CN" sz="1200" dirty="0"/>
              <a:t>'Inflation</a:t>
            </a:r>
            <a:r>
              <a:rPr lang="en-US" altLang="zh-CN" sz="1400" dirty="0"/>
              <a:t>'</a:t>
            </a:r>
            <a:endParaRPr lang="zh-CN" altLang="en-US" sz="1400" dirty="0"/>
          </a:p>
        </p:txBody>
      </p:sp>
      <p:sp>
        <p:nvSpPr>
          <p:cNvPr id="45" name="Arrow: Right 5">
            <a:extLst>
              <a:ext uri="{FF2B5EF4-FFF2-40B4-BE49-F238E27FC236}">
                <a16:creationId xmlns:a16="http://schemas.microsoft.com/office/drawing/2014/main" id="{0C564475-CFCC-3679-3468-532FFD8CAF78}"/>
              </a:ext>
            </a:extLst>
          </p:cNvPr>
          <p:cNvSpPr/>
          <p:nvPr/>
        </p:nvSpPr>
        <p:spPr>
          <a:xfrm>
            <a:off x="1984508" y="3400150"/>
            <a:ext cx="184374" cy="387207"/>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1" name="文本框 50">
            <a:extLst>
              <a:ext uri="{FF2B5EF4-FFF2-40B4-BE49-F238E27FC236}">
                <a16:creationId xmlns:a16="http://schemas.microsoft.com/office/drawing/2014/main" id="{FF335ECB-F5D1-078F-7D24-565846F31C6A}"/>
              </a:ext>
            </a:extLst>
          </p:cNvPr>
          <p:cNvSpPr txBox="1"/>
          <p:nvPr/>
        </p:nvSpPr>
        <p:spPr>
          <a:xfrm>
            <a:off x="2274030" y="3465191"/>
            <a:ext cx="2698868" cy="25391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just"/>
            <a:r>
              <a:rPr lang="en-US" altLang="zh-CN" sz="1050" dirty="0"/>
              <a:t>[ 0.05  0.01 …..   -0.58   0.32  0.68  1.29  -0.27 ]</a:t>
            </a:r>
            <a:endParaRPr lang="zh-CN" altLang="en-US" sz="1050" dirty="0"/>
          </a:p>
        </p:txBody>
      </p:sp>
      <p:sp>
        <p:nvSpPr>
          <p:cNvPr id="57" name="右大括号 56">
            <a:extLst>
              <a:ext uri="{FF2B5EF4-FFF2-40B4-BE49-F238E27FC236}">
                <a16:creationId xmlns:a16="http://schemas.microsoft.com/office/drawing/2014/main" id="{55BD1F2E-29FB-A54F-CB6F-A55B1D9DAE49}"/>
              </a:ext>
            </a:extLst>
          </p:cNvPr>
          <p:cNvSpPr/>
          <p:nvPr/>
        </p:nvSpPr>
        <p:spPr>
          <a:xfrm rot="5400000">
            <a:off x="3575000" y="2457193"/>
            <a:ext cx="109900" cy="2698869"/>
          </a:xfrm>
          <a:prstGeom prst="rightBrace">
            <a:avLst>
              <a:gd name="adj1" fmla="val 8333"/>
              <a:gd name="adj2" fmla="val 5052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A13090B0-787F-2026-5AD2-DDBA8D35383A}"/>
              </a:ext>
            </a:extLst>
          </p:cNvPr>
          <p:cNvSpPr txBox="1"/>
          <p:nvPr/>
        </p:nvSpPr>
        <p:spPr>
          <a:xfrm>
            <a:off x="2741144" y="3789902"/>
            <a:ext cx="1753186" cy="261610"/>
          </a:xfrm>
          <a:prstGeom prst="rect">
            <a:avLst/>
          </a:prstGeom>
          <a:noFill/>
        </p:spPr>
        <p:txBody>
          <a:bodyPr wrap="square">
            <a:spAutoFit/>
          </a:bodyPr>
          <a:lstStyle/>
          <a:p>
            <a:r>
              <a:rPr lang="en-AU" altLang="zh-CN" sz="1100" i="1" dirty="0"/>
              <a:t>Dimension of vector: 100 </a:t>
            </a:r>
            <a:endParaRPr lang="zh-CN" altLang="en-US" sz="1100" dirty="0"/>
          </a:p>
        </p:txBody>
      </p:sp>
      <p:sp>
        <p:nvSpPr>
          <p:cNvPr id="61" name="Arrow: Right 5">
            <a:extLst>
              <a:ext uri="{FF2B5EF4-FFF2-40B4-BE49-F238E27FC236}">
                <a16:creationId xmlns:a16="http://schemas.microsoft.com/office/drawing/2014/main" id="{0178B545-0CE7-B5EF-5CB8-74A5E1DF9AFA}"/>
              </a:ext>
            </a:extLst>
          </p:cNvPr>
          <p:cNvSpPr/>
          <p:nvPr/>
        </p:nvSpPr>
        <p:spPr>
          <a:xfrm rot="5400000">
            <a:off x="2627909" y="4132007"/>
            <a:ext cx="184374" cy="387207"/>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2" name="文本框 61">
            <a:extLst>
              <a:ext uri="{FF2B5EF4-FFF2-40B4-BE49-F238E27FC236}">
                <a16:creationId xmlns:a16="http://schemas.microsoft.com/office/drawing/2014/main" id="{3673A96B-0290-5FF4-2041-9385AFCA190E}"/>
              </a:ext>
            </a:extLst>
          </p:cNvPr>
          <p:cNvSpPr txBox="1"/>
          <p:nvPr/>
        </p:nvSpPr>
        <p:spPr>
          <a:xfrm>
            <a:off x="258796" y="4767118"/>
            <a:ext cx="2267697" cy="1107996"/>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ctr"/>
            <a:r>
              <a:rPr lang="en-US" altLang="zh-CN" sz="1100" dirty="0"/>
              <a:t>Our mandate, sorry, is price inflation.</a:t>
            </a:r>
          </a:p>
          <a:p>
            <a:pPr algn="ctr"/>
            <a:r>
              <a:rPr lang="en-US" altLang="zh-CN" sz="1100" dirty="0"/>
              <a:t>…</a:t>
            </a:r>
          </a:p>
          <a:p>
            <a:pPr algn="ctr"/>
            <a:r>
              <a:rPr lang="en-US" altLang="zh-CN" sz="1100" dirty="0"/>
              <a:t>…</a:t>
            </a:r>
          </a:p>
          <a:p>
            <a:pPr algn="ctr"/>
            <a:r>
              <a:rPr lang="en-US" altLang="zh-CN" sz="1100" dirty="0"/>
              <a:t>…</a:t>
            </a:r>
          </a:p>
          <a:p>
            <a:pPr algn="ctr"/>
            <a:r>
              <a:rPr lang="en-US" altLang="zh-CN" sz="1100" dirty="0"/>
              <a:t>…</a:t>
            </a:r>
          </a:p>
          <a:p>
            <a:pPr algn="ctr"/>
            <a:r>
              <a:rPr lang="en-US" altLang="zh-CN" sz="1100" dirty="0"/>
              <a:t>…</a:t>
            </a:r>
            <a:endParaRPr lang="zh-CN" altLang="en-US" sz="1100" dirty="0"/>
          </a:p>
        </p:txBody>
      </p:sp>
      <p:sp>
        <p:nvSpPr>
          <p:cNvPr id="65" name="文本框 64">
            <a:extLst>
              <a:ext uri="{FF2B5EF4-FFF2-40B4-BE49-F238E27FC236}">
                <a16:creationId xmlns:a16="http://schemas.microsoft.com/office/drawing/2014/main" id="{A1250CE4-7FDF-5560-D0B1-53148BB875BD}"/>
              </a:ext>
            </a:extLst>
          </p:cNvPr>
          <p:cNvSpPr txBox="1"/>
          <p:nvPr/>
        </p:nvSpPr>
        <p:spPr>
          <a:xfrm>
            <a:off x="2942906" y="4719317"/>
            <a:ext cx="2483074" cy="122264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a:spAutoFit/>
          </a:bodyPr>
          <a:lstStyle/>
          <a:p>
            <a:pPr>
              <a:lnSpc>
                <a:spcPct val="150000"/>
              </a:lnSpc>
            </a:pPr>
            <a:r>
              <a:rPr lang="en-US" altLang="zh-CN" sz="1000" dirty="0"/>
              <a:t>0    [[0.07637715, 0.00684211, -0.3023...</a:t>
            </a:r>
          </a:p>
          <a:p>
            <a:pPr>
              <a:lnSpc>
                <a:spcPct val="150000"/>
              </a:lnSpc>
            </a:pPr>
            <a:r>
              <a:rPr lang="en-US" altLang="zh-CN" sz="1000" dirty="0"/>
              <a:t>1    [[0.04294358, -0.0225435, -0.1720...</a:t>
            </a:r>
          </a:p>
          <a:p>
            <a:pPr>
              <a:lnSpc>
                <a:spcPct val="150000"/>
              </a:lnSpc>
            </a:pPr>
            <a:r>
              <a:rPr lang="en-US" altLang="zh-CN" sz="1000" dirty="0"/>
              <a:t>2    [[0.07670072, -0.027039701, -0.38...</a:t>
            </a:r>
          </a:p>
          <a:p>
            <a:pPr>
              <a:lnSpc>
                <a:spcPct val="150000"/>
              </a:lnSpc>
            </a:pPr>
            <a:r>
              <a:rPr lang="en-US" altLang="zh-CN" sz="1000" dirty="0"/>
              <a:t>3    [[0.018912664, -0.010538941, -0.14...</a:t>
            </a:r>
          </a:p>
          <a:p>
            <a:pPr>
              <a:lnSpc>
                <a:spcPct val="150000"/>
              </a:lnSpc>
            </a:pPr>
            <a:r>
              <a:rPr lang="en-US" altLang="zh-CN" sz="1000" dirty="0"/>
              <a:t>4    [[0.07670072, -0.027039701,, -0.38...</a:t>
            </a:r>
            <a:endParaRPr lang="zh-CN" altLang="en-US" sz="1000" dirty="0"/>
          </a:p>
        </p:txBody>
      </p:sp>
      <p:sp>
        <p:nvSpPr>
          <p:cNvPr id="68" name="文本框 67">
            <a:extLst>
              <a:ext uri="{FF2B5EF4-FFF2-40B4-BE49-F238E27FC236}">
                <a16:creationId xmlns:a16="http://schemas.microsoft.com/office/drawing/2014/main" id="{F8A306DD-584F-1F38-5B95-CE43D8EE090F}"/>
              </a:ext>
            </a:extLst>
          </p:cNvPr>
          <p:cNvSpPr txBox="1"/>
          <p:nvPr/>
        </p:nvSpPr>
        <p:spPr>
          <a:xfrm>
            <a:off x="2987785" y="4085332"/>
            <a:ext cx="2393316" cy="600164"/>
          </a:xfrm>
          <a:prstGeom prst="rect">
            <a:avLst/>
          </a:prstGeom>
          <a:noFill/>
        </p:spPr>
        <p:txBody>
          <a:bodyPr wrap="square">
            <a:spAutoFit/>
          </a:bodyPr>
          <a:lstStyle>
            <a:defPPr>
              <a:defRPr lang="en-US"/>
            </a:defPPr>
            <a:lvl1pPr>
              <a:defRPr sz="1100" i="1"/>
            </a:lvl1pPr>
          </a:lstStyle>
          <a:p>
            <a:pPr algn="just"/>
            <a:r>
              <a:rPr lang="en-US" altLang="zh-CN" dirty="0"/>
              <a:t>Set the maximum number of characters to fill the empty field with a vector of zero.</a:t>
            </a:r>
            <a:endParaRPr lang="zh-CN" altLang="en-US" dirty="0"/>
          </a:p>
        </p:txBody>
      </p:sp>
      <p:sp>
        <p:nvSpPr>
          <p:cNvPr id="69" name="文本框 68">
            <a:extLst>
              <a:ext uri="{FF2B5EF4-FFF2-40B4-BE49-F238E27FC236}">
                <a16:creationId xmlns:a16="http://schemas.microsoft.com/office/drawing/2014/main" id="{F8A5C468-30EA-B87E-1970-8359A68EBE57}"/>
              </a:ext>
            </a:extLst>
          </p:cNvPr>
          <p:cNvSpPr txBox="1"/>
          <p:nvPr/>
        </p:nvSpPr>
        <p:spPr>
          <a:xfrm>
            <a:off x="926719" y="4175322"/>
            <a:ext cx="1753186" cy="261610"/>
          </a:xfrm>
          <a:prstGeom prst="rect">
            <a:avLst/>
          </a:prstGeom>
          <a:noFill/>
        </p:spPr>
        <p:txBody>
          <a:bodyPr wrap="square">
            <a:spAutoFit/>
          </a:bodyPr>
          <a:lstStyle/>
          <a:p>
            <a:r>
              <a:rPr lang="en-AU" altLang="zh-CN" sz="1100" i="1" dirty="0"/>
              <a:t>Convert sentence to list</a:t>
            </a:r>
            <a:endParaRPr lang="zh-CN" altLang="en-US" sz="1100" dirty="0"/>
          </a:p>
        </p:txBody>
      </p:sp>
      <p:sp>
        <p:nvSpPr>
          <p:cNvPr id="70" name="文本框 69">
            <a:extLst>
              <a:ext uri="{FF2B5EF4-FFF2-40B4-BE49-F238E27FC236}">
                <a16:creationId xmlns:a16="http://schemas.microsoft.com/office/drawing/2014/main" id="{E687FA1E-39DE-D5EE-BE5D-0344DE115772}"/>
              </a:ext>
            </a:extLst>
          </p:cNvPr>
          <p:cNvSpPr txBox="1"/>
          <p:nvPr/>
        </p:nvSpPr>
        <p:spPr>
          <a:xfrm>
            <a:off x="7773993" y="1870305"/>
            <a:ext cx="2798689" cy="276999"/>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altLang="zh-CN" sz="1200" dirty="0"/>
              <a:t>E.g. Our mandate, sorry, is price inflation.</a:t>
            </a:r>
            <a:endParaRPr lang="zh-CN" altLang="en-US" sz="1200" dirty="0"/>
          </a:p>
        </p:txBody>
      </p:sp>
      <p:sp>
        <p:nvSpPr>
          <p:cNvPr id="73" name="文本框 72">
            <a:extLst>
              <a:ext uri="{FF2B5EF4-FFF2-40B4-BE49-F238E27FC236}">
                <a16:creationId xmlns:a16="http://schemas.microsoft.com/office/drawing/2014/main" id="{583F837F-674A-1451-0D9B-46F23101F6CE}"/>
              </a:ext>
            </a:extLst>
          </p:cNvPr>
          <p:cNvSpPr txBox="1"/>
          <p:nvPr/>
        </p:nvSpPr>
        <p:spPr>
          <a:xfrm>
            <a:off x="7023084" y="2873941"/>
            <a:ext cx="4337843" cy="299313"/>
          </a:xfrm>
          <a:prstGeom prst="rect">
            <a:avLst/>
          </a:prstGeom>
          <a:ln>
            <a:solidFill>
              <a:srgbClr val="92D050"/>
            </a:solidFill>
          </a:ln>
        </p:spPr>
        <p:style>
          <a:lnRef idx="2">
            <a:schemeClr val="accent6"/>
          </a:lnRef>
          <a:fillRef idx="1">
            <a:schemeClr val="lt1"/>
          </a:fillRef>
          <a:effectRef idx="0">
            <a:schemeClr val="accent6"/>
          </a:effectRef>
          <a:fontRef idx="minor">
            <a:schemeClr val="dk1"/>
          </a:fontRef>
        </p:style>
        <p:txBody>
          <a:bodyPr wrap="square">
            <a:spAutoFit/>
          </a:bodyPr>
          <a:lstStyle>
            <a:defPPr>
              <a:defRPr lang="en-US"/>
            </a:defPPr>
            <a:lvl1pPr>
              <a:lnSpc>
                <a:spcPct val="150000"/>
              </a:lnSpc>
              <a:defRPr sz="10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vl6pPr>
              <a:defRPr>
                <a:solidFill>
                  <a:schemeClr val="accent1"/>
                </a:solidFill>
              </a:defRPr>
            </a:lvl6pPr>
            <a:lvl7pPr>
              <a:defRPr>
                <a:solidFill>
                  <a:schemeClr val="accent1"/>
                </a:solidFill>
              </a:defRPr>
            </a:lvl7pPr>
            <a:lvl8pPr>
              <a:defRPr>
                <a:solidFill>
                  <a:schemeClr val="accent1"/>
                </a:solidFill>
              </a:defRPr>
            </a:lvl8pPr>
            <a:lvl9pPr>
              <a:defRPr>
                <a:solidFill>
                  <a:schemeClr val="accent1"/>
                </a:solidFill>
              </a:defRPr>
            </a:lvl9pPr>
          </a:lstStyle>
          <a:p>
            <a:r>
              <a:rPr lang="en-US" altLang="zh-CN" dirty="0">
                <a:solidFill>
                  <a:srgbClr val="92D050"/>
                </a:solidFill>
              </a:rPr>
              <a:t>[  101,  2256, 11405,  1010,  3374,  1010,  2003,  3976, 14200,  1012, 102, …… , 0]</a:t>
            </a:r>
            <a:endParaRPr lang="zh-CN" altLang="en-US" dirty="0">
              <a:solidFill>
                <a:srgbClr val="92D050"/>
              </a:solidFill>
            </a:endParaRPr>
          </a:p>
        </p:txBody>
      </p:sp>
      <p:sp>
        <p:nvSpPr>
          <p:cNvPr id="74" name="Arrow: Right 5">
            <a:extLst>
              <a:ext uri="{FF2B5EF4-FFF2-40B4-BE49-F238E27FC236}">
                <a16:creationId xmlns:a16="http://schemas.microsoft.com/office/drawing/2014/main" id="{8F5977C9-F6FE-97D3-CC14-204CBE89F16B}"/>
              </a:ext>
            </a:extLst>
          </p:cNvPr>
          <p:cNvSpPr/>
          <p:nvPr/>
        </p:nvSpPr>
        <p:spPr>
          <a:xfrm rot="5400000">
            <a:off x="9081149" y="2321864"/>
            <a:ext cx="184374" cy="387207"/>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5" name="文本框 74">
            <a:extLst>
              <a:ext uri="{FF2B5EF4-FFF2-40B4-BE49-F238E27FC236}">
                <a16:creationId xmlns:a16="http://schemas.microsoft.com/office/drawing/2014/main" id="{A5E8BC89-A597-42C5-C912-749AE0C7483A}"/>
              </a:ext>
            </a:extLst>
          </p:cNvPr>
          <p:cNvSpPr txBox="1"/>
          <p:nvPr/>
        </p:nvSpPr>
        <p:spPr>
          <a:xfrm>
            <a:off x="7423026" y="2373029"/>
            <a:ext cx="1413746" cy="261610"/>
          </a:xfrm>
          <a:prstGeom prst="rect">
            <a:avLst/>
          </a:prstGeom>
          <a:noFill/>
        </p:spPr>
        <p:txBody>
          <a:bodyPr wrap="square">
            <a:spAutoFit/>
          </a:bodyPr>
          <a:lstStyle/>
          <a:p>
            <a:r>
              <a:rPr lang="en-US" altLang="zh-CN" sz="1100" i="1" dirty="0"/>
              <a:t>Pretrained tokenizer</a:t>
            </a:r>
            <a:endParaRPr lang="zh-CN" altLang="en-US" sz="1100" dirty="0"/>
          </a:p>
        </p:txBody>
      </p:sp>
      <p:sp>
        <p:nvSpPr>
          <p:cNvPr id="76" name="文本框 75">
            <a:extLst>
              <a:ext uri="{FF2B5EF4-FFF2-40B4-BE49-F238E27FC236}">
                <a16:creationId xmlns:a16="http://schemas.microsoft.com/office/drawing/2014/main" id="{05456A31-D114-61CE-823D-3682DA7AA0AF}"/>
              </a:ext>
            </a:extLst>
          </p:cNvPr>
          <p:cNvSpPr txBox="1"/>
          <p:nvPr/>
        </p:nvSpPr>
        <p:spPr>
          <a:xfrm>
            <a:off x="9576321" y="2373029"/>
            <a:ext cx="1413746" cy="261610"/>
          </a:xfrm>
          <a:prstGeom prst="rect">
            <a:avLst/>
          </a:prstGeom>
          <a:noFill/>
        </p:spPr>
        <p:txBody>
          <a:bodyPr wrap="square">
            <a:spAutoFit/>
          </a:bodyPr>
          <a:lstStyle/>
          <a:p>
            <a:r>
              <a:rPr lang="en-US" altLang="zh-CN" sz="1100" i="1" dirty="0"/>
              <a:t>Input</a:t>
            </a:r>
            <a:r>
              <a:rPr lang="zh-CN" altLang="en-US" sz="1100" i="1" dirty="0"/>
              <a:t> </a:t>
            </a:r>
            <a:r>
              <a:rPr lang="en-US" altLang="zh-CN" sz="1100" i="1" dirty="0"/>
              <a:t>ID</a:t>
            </a:r>
          </a:p>
        </p:txBody>
      </p:sp>
      <p:sp>
        <p:nvSpPr>
          <p:cNvPr id="77" name="右大括号 76">
            <a:extLst>
              <a:ext uri="{FF2B5EF4-FFF2-40B4-BE49-F238E27FC236}">
                <a16:creationId xmlns:a16="http://schemas.microsoft.com/office/drawing/2014/main" id="{8E19B6CE-0635-EFAF-24FC-1180920EE6D1}"/>
              </a:ext>
            </a:extLst>
          </p:cNvPr>
          <p:cNvSpPr/>
          <p:nvPr/>
        </p:nvSpPr>
        <p:spPr>
          <a:xfrm rot="5400000">
            <a:off x="9096936" y="1148566"/>
            <a:ext cx="190138" cy="4337843"/>
          </a:xfrm>
          <a:prstGeom prst="rightBrace">
            <a:avLst>
              <a:gd name="adj1" fmla="val 11022"/>
              <a:gd name="adj2" fmla="val 47602"/>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92D050"/>
              </a:solidFill>
            </a:endParaRPr>
          </a:p>
        </p:txBody>
      </p:sp>
      <p:cxnSp>
        <p:nvCxnSpPr>
          <p:cNvPr id="79" name="直接箭头连接符 78">
            <a:extLst>
              <a:ext uri="{FF2B5EF4-FFF2-40B4-BE49-F238E27FC236}">
                <a16:creationId xmlns:a16="http://schemas.microsoft.com/office/drawing/2014/main" id="{AD7A1081-368B-6D9F-218D-7EBF061E509C}"/>
              </a:ext>
            </a:extLst>
          </p:cNvPr>
          <p:cNvCxnSpPr>
            <a:cxnSpLocks/>
          </p:cNvCxnSpPr>
          <p:nvPr/>
        </p:nvCxnSpPr>
        <p:spPr>
          <a:xfrm>
            <a:off x="7343336" y="3222418"/>
            <a:ext cx="0" cy="108229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80" name="直接箭头连接符 79">
            <a:extLst>
              <a:ext uri="{FF2B5EF4-FFF2-40B4-BE49-F238E27FC236}">
                <a16:creationId xmlns:a16="http://schemas.microsoft.com/office/drawing/2014/main" id="{357C9410-69F6-DAC9-8C6A-B2F47D1C93AB}"/>
              </a:ext>
            </a:extLst>
          </p:cNvPr>
          <p:cNvCxnSpPr/>
          <p:nvPr/>
        </p:nvCxnSpPr>
        <p:spPr>
          <a:xfrm>
            <a:off x="8374967" y="3222418"/>
            <a:ext cx="0" cy="108229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81" name="直接箭头连接符 80">
            <a:extLst>
              <a:ext uri="{FF2B5EF4-FFF2-40B4-BE49-F238E27FC236}">
                <a16:creationId xmlns:a16="http://schemas.microsoft.com/office/drawing/2014/main" id="{96111E10-302E-7CFF-C793-F8C4BA01E648}"/>
              </a:ext>
            </a:extLst>
          </p:cNvPr>
          <p:cNvCxnSpPr/>
          <p:nvPr/>
        </p:nvCxnSpPr>
        <p:spPr>
          <a:xfrm>
            <a:off x="10792614" y="3173254"/>
            <a:ext cx="0" cy="1082296"/>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82" name="直接箭头连接符 81">
            <a:extLst>
              <a:ext uri="{FF2B5EF4-FFF2-40B4-BE49-F238E27FC236}">
                <a16:creationId xmlns:a16="http://schemas.microsoft.com/office/drawing/2014/main" id="{F83E8C22-5C7F-9BA4-6FF6-E3877C098554}"/>
              </a:ext>
            </a:extLst>
          </p:cNvPr>
          <p:cNvCxnSpPr>
            <a:cxnSpLocks/>
          </p:cNvCxnSpPr>
          <p:nvPr/>
        </p:nvCxnSpPr>
        <p:spPr>
          <a:xfrm>
            <a:off x="11242431" y="3173254"/>
            <a:ext cx="0" cy="87825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85" name="文本框 84">
            <a:extLst>
              <a:ext uri="{FF2B5EF4-FFF2-40B4-BE49-F238E27FC236}">
                <a16:creationId xmlns:a16="http://schemas.microsoft.com/office/drawing/2014/main" id="{74E75FDA-F910-5678-4D42-A096B5716AA2}"/>
              </a:ext>
            </a:extLst>
          </p:cNvPr>
          <p:cNvSpPr txBox="1"/>
          <p:nvPr/>
        </p:nvSpPr>
        <p:spPr>
          <a:xfrm>
            <a:off x="7122385" y="4339133"/>
            <a:ext cx="441901" cy="260771"/>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en-US"/>
            </a:defPPr>
            <a:lvl1pP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050" dirty="0"/>
              <a:t>[CLS]</a:t>
            </a:r>
            <a:endParaRPr lang="zh-CN" altLang="en-US" sz="1050" dirty="0"/>
          </a:p>
        </p:txBody>
      </p:sp>
      <p:sp>
        <p:nvSpPr>
          <p:cNvPr id="86" name="文本框 85">
            <a:extLst>
              <a:ext uri="{FF2B5EF4-FFF2-40B4-BE49-F238E27FC236}">
                <a16:creationId xmlns:a16="http://schemas.microsoft.com/office/drawing/2014/main" id="{7B65750C-0A62-FFA9-0896-7D3288E45FAF}"/>
              </a:ext>
            </a:extLst>
          </p:cNvPr>
          <p:cNvSpPr txBox="1"/>
          <p:nvPr/>
        </p:nvSpPr>
        <p:spPr>
          <a:xfrm>
            <a:off x="10564020" y="4349308"/>
            <a:ext cx="441900" cy="261610"/>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en-US"/>
            </a:defPPr>
            <a:lvl1pP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050" dirty="0"/>
              <a:t>[SEP]</a:t>
            </a:r>
            <a:endParaRPr lang="zh-CN" altLang="en-US" sz="1050" dirty="0"/>
          </a:p>
        </p:txBody>
      </p:sp>
      <p:sp>
        <p:nvSpPr>
          <p:cNvPr id="87" name="文本框 86">
            <a:extLst>
              <a:ext uri="{FF2B5EF4-FFF2-40B4-BE49-F238E27FC236}">
                <a16:creationId xmlns:a16="http://schemas.microsoft.com/office/drawing/2014/main" id="{B2640196-FC1D-9712-72E1-02A32E39ED11}"/>
              </a:ext>
            </a:extLst>
          </p:cNvPr>
          <p:cNvSpPr txBox="1"/>
          <p:nvPr/>
        </p:nvSpPr>
        <p:spPr>
          <a:xfrm>
            <a:off x="10978374" y="4048364"/>
            <a:ext cx="635966" cy="253916"/>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en-US"/>
            </a:defPPr>
            <a:lvl1pP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050" dirty="0"/>
              <a:t>Padding</a:t>
            </a:r>
            <a:endParaRPr lang="zh-CN" altLang="en-US" sz="1050" dirty="0"/>
          </a:p>
        </p:txBody>
      </p:sp>
      <p:sp>
        <p:nvSpPr>
          <p:cNvPr id="89" name="文本框 88">
            <a:extLst>
              <a:ext uri="{FF2B5EF4-FFF2-40B4-BE49-F238E27FC236}">
                <a16:creationId xmlns:a16="http://schemas.microsoft.com/office/drawing/2014/main" id="{AF4FF44B-CD15-1B45-54B8-7471E765FE03}"/>
              </a:ext>
            </a:extLst>
          </p:cNvPr>
          <p:cNvSpPr txBox="1"/>
          <p:nvPr/>
        </p:nvSpPr>
        <p:spPr>
          <a:xfrm>
            <a:off x="8124183" y="4342560"/>
            <a:ext cx="604820" cy="253916"/>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en-US"/>
            </a:defPPr>
            <a:lvl1pP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050" dirty="0"/>
              <a:t>comma</a:t>
            </a:r>
            <a:endParaRPr lang="zh-CN" altLang="en-US" sz="1050" dirty="0"/>
          </a:p>
        </p:txBody>
      </p:sp>
      <p:cxnSp>
        <p:nvCxnSpPr>
          <p:cNvPr id="90" name="直接箭头连接符 89">
            <a:extLst>
              <a:ext uri="{FF2B5EF4-FFF2-40B4-BE49-F238E27FC236}">
                <a16:creationId xmlns:a16="http://schemas.microsoft.com/office/drawing/2014/main" id="{C8B6E72C-FDB2-1944-AC38-F002DA7DD979}"/>
              </a:ext>
            </a:extLst>
          </p:cNvPr>
          <p:cNvCxnSpPr>
            <a:cxnSpLocks/>
          </p:cNvCxnSpPr>
          <p:nvPr/>
        </p:nvCxnSpPr>
        <p:spPr>
          <a:xfrm>
            <a:off x="7634068" y="3177959"/>
            <a:ext cx="0" cy="180200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93" name="文本框 92">
            <a:extLst>
              <a:ext uri="{FF2B5EF4-FFF2-40B4-BE49-F238E27FC236}">
                <a16:creationId xmlns:a16="http://schemas.microsoft.com/office/drawing/2014/main" id="{149E40D3-3D31-774C-E862-B852E2C26BFA}"/>
              </a:ext>
            </a:extLst>
          </p:cNvPr>
          <p:cNvSpPr txBox="1"/>
          <p:nvPr/>
        </p:nvSpPr>
        <p:spPr>
          <a:xfrm>
            <a:off x="7423026" y="5038198"/>
            <a:ext cx="441899" cy="253916"/>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defPPr>
              <a:defRPr lang="en-US"/>
            </a:defPPr>
            <a:lvl1pPr>
              <a:defRPr sz="12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050" dirty="0"/>
              <a:t>‘our’</a:t>
            </a:r>
            <a:endParaRPr lang="zh-CN" altLang="en-US" sz="1050" dirty="0"/>
          </a:p>
        </p:txBody>
      </p:sp>
      <p:sp>
        <p:nvSpPr>
          <p:cNvPr id="94" name="文本框 93">
            <a:extLst>
              <a:ext uri="{FF2B5EF4-FFF2-40B4-BE49-F238E27FC236}">
                <a16:creationId xmlns:a16="http://schemas.microsoft.com/office/drawing/2014/main" id="{18FBF491-1406-AB42-D271-69FCE22A9480}"/>
              </a:ext>
            </a:extLst>
          </p:cNvPr>
          <p:cNvSpPr txBox="1"/>
          <p:nvPr/>
        </p:nvSpPr>
        <p:spPr>
          <a:xfrm>
            <a:off x="8358566" y="3360352"/>
            <a:ext cx="1880072" cy="261610"/>
          </a:xfrm>
          <a:prstGeom prst="rect">
            <a:avLst/>
          </a:prstGeom>
          <a:noFill/>
        </p:spPr>
        <p:txBody>
          <a:bodyPr wrap="square">
            <a:spAutoFit/>
          </a:bodyPr>
          <a:lstStyle>
            <a:defPPr>
              <a:defRPr lang="en-US"/>
            </a:defPPr>
            <a:lvl1pPr>
              <a:defRPr sz="1100" i="1"/>
            </a:lvl1pPr>
          </a:lstStyle>
          <a:p>
            <a:r>
              <a:rPr lang="en-US" altLang="zh-CN" dirty="0"/>
              <a:t>Maximum length of sentence</a:t>
            </a:r>
            <a:endParaRPr lang="zh-CN" altLang="en-US" dirty="0"/>
          </a:p>
        </p:txBody>
      </p:sp>
    </p:spTree>
    <p:extLst>
      <p:ext uri="{BB962C8B-B14F-4D97-AF65-F5344CB8AC3E}">
        <p14:creationId xmlns:p14="http://schemas.microsoft.com/office/powerpoint/2010/main" val="417774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normAutofit/>
          </a:bodyPr>
          <a:lstStyle/>
          <a:p>
            <a:r>
              <a:rPr lang="en-GB" dirty="0"/>
              <a:t>Method(s)</a:t>
            </a:r>
            <a:endParaRPr lang="en-AU" dirty="0"/>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12</a:t>
            </a:fld>
            <a:endParaRPr lang="en-AU"/>
          </a:p>
        </p:txBody>
      </p:sp>
      <p:sp>
        <p:nvSpPr>
          <p:cNvPr id="6" name="TextBox 5">
            <a:extLst>
              <a:ext uri="{FF2B5EF4-FFF2-40B4-BE49-F238E27FC236}">
                <a16:creationId xmlns:a16="http://schemas.microsoft.com/office/drawing/2014/main" id="{0699F208-1CDC-6FEA-A315-8FBE78581435}"/>
              </a:ext>
            </a:extLst>
          </p:cNvPr>
          <p:cNvSpPr txBox="1"/>
          <p:nvPr/>
        </p:nvSpPr>
        <p:spPr>
          <a:xfrm>
            <a:off x="107443" y="6072392"/>
            <a:ext cx="7326086" cy="938719"/>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a:t>
            </a:r>
          </a:p>
          <a:p>
            <a:r>
              <a:rPr lang="en-US" sz="1100" b="1" dirty="0">
                <a:latin typeface="Arial" panose="020B0604020202020204" pitchFamily="34" charset="0"/>
                <a:cs typeface="Arial" panose="020B0604020202020204" pitchFamily="34" charset="0"/>
              </a:rPr>
              <a:t>Ying Bi (z5444398)</a:t>
            </a:r>
          </a:p>
          <a:p>
            <a:r>
              <a:rPr lang="en-US" sz="1100" b="1" dirty="0">
                <a:latin typeface="Arial" panose="020B0604020202020204" pitchFamily="34" charset="0"/>
                <a:cs typeface="Arial" panose="020B0604020202020204" pitchFamily="34" charset="0"/>
              </a:rPr>
              <a:t>Tong Zhang (z5542524)</a:t>
            </a:r>
          </a:p>
          <a:p>
            <a:r>
              <a:rPr lang="en-US" sz="1100" b="1" dirty="0">
                <a:latin typeface="Arial" panose="020B0604020202020204" pitchFamily="34" charset="0"/>
                <a:cs typeface="Arial" panose="020B0604020202020204" pitchFamily="34" charset="0"/>
              </a:rPr>
              <a:t>Zhenhua Liu (z</a:t>
            </a:r>
            <a:r>
              <a:rPr lang="en-US" altLang="zh-CN" sz="1100" b="1" dirty="0">
                <a:latin typeface="Arial" panose="020B0604020202020204" pitchFamily="34" charset="0"/>
                <a:cs typeface="Arial" panose="020B0604020202020204" pitchFamily="34" charset="0"/>
              </a:rPr>
              <a:t>5433153)</a:t>
            </a:r>
          </a:p>
          <a:p>
            <a:endParaRPr lang="en-US" sz="1100" b="1" dirty="0">
              <a:latin typeface="Arial" panose="020B0604020202020204" pitchFamily="34" charset="0"/>
              <a:cs typeface="Arial" panose="020B0604020202020204" pitchFamily="34" charset="0"/>
            </a:endParaRPr>
          </a:p>
        </p:txBody>
      </p:sp>
      <p:cxnSp>
        <p:nvCxnSpPr>
          <p:cNvPr id="5" name="Google Shape;119;g12f20562990_0_39">
            <a:extLst>
              <a:ext uri="{FF2B5EF4-FFF2-40B4-BE49-F238E27FC236}">
                <a16:creationId xmlns:a16="http://schemas.microsoft.com/office/drawing/2014/main" id="{CC232CC8-ACA4-056F-FE9A-DA0D59CD65CC}"/>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grpSp>
        <p:nvGrpSpPr>
          <p:cNvPr id="8" name="Google Shape;121;g12f20562990_0_39">
            <a:extLst>
              <a:ext uri="{FF2B5EF4-FFF2-40B4-BE49-F238E27FC236}">
                <a16:creationId xmlns:a16="http://schemas.microsoft.com/office/drawing/2014/main" id="{48180592-F63B-EA68-84C4-9518949A1ACF}"/>
              </a:ext>
            </a:extLst>
          </p:cNvPr>
          <p:cNvGrpSpPr/>
          <p:nvPr/>
        </p:nvGrpSpPr>
        <p:grpSpPr>
          <a:xfrm>
            <a:off x="2610855" y="6225545"/>
            <a:ext cx="6060176" cy="365125"/>
            <a:chOff x="1425588" y="6394039"/>
            <a:chExt cx="9340906" cy="363742"/>
          </a:xfrm>
        </p:grpSpPr>
        <p:sp>
          <p:nvSpPr>
            <p:cNvPr id="9" name="Google Shape;122;g12f20562990_0_39">
              <a:extLst>
                <a:ext uri="{FF2B5EF4-FFF2-40B4-BE49-F238E27FC236}">
                  <a16:creationId xmlns:a16="http://schemas.microsoft.com/office/drawing/2014/main" id="{B61FD9D2-D2BF-6BFA-45D8-E524B52DDD5F}"/>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0" name="Google Shape;123;g12f20562990_0_39">
              <a:extLst>
                <a:ext uri="{FF2B5EF4-FFF2-40B4-BE49-F238E27FC236}">
                  <a16:creationId xmlns:a16="http://schemas.microsoft.com/office/drawing/2014/main" id="{FB405045-9436-6D8F-03BF-A2CE37FBF79C}"/>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11" name="Google Shape;124;g12f20562990_0_39">
              <a:extLst>
                <a:ext uri="{FF2B5EF4-FFF2-40B4-BE49-F238E27FC236}">
                  <a16:creationId xmlns:a16="http://schemas.microsoft.com/office/drawing/2014/main" id="{4651A53E-B90D-1A3E-0678-570E2C49358F}"/>
                </a:ext>
              </a:extLst>
            </p:cNvPr>
            <p:cNvSpPr/>
            <p:nvPr/>
          </p:nvSpPr>
          <p:spPr>
            <a:xfrm>
              <a:off x="5152512" y="6398681"/>
              <a:ext cx="19833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dk1"/>
                  </a:solidFill>
                  <a:latin typeface="+mj-lt"/>
                  <a:sym typeface="Avenir"/>
                </a:rPr>
                <a:t>Literature</a:t>
              </a:r>
              <a:endParaRPr sz="1400" b="1" i="0" u="none" strike="noStrike" cap="none" dirty="0">
                <a:solidFill>
                  <a:srgbClr val="000000"/>
                </a:solidFill>
                <a:latin typeface="+mj-lt"/>
                <a:sym typeface="Arial"/>
              </a:endParaRPr>
            </a:p>
          </p:txBody>
        </p:sp>
        <p:sp>
          <p:nvSpPr>
            <p:cNvPr id="12" name="Google Shape;125;g12f20562990_0_39">
              <a:extLst>
                <a:ext uri="{FF2B5EF4-FFF2-40B4-BE49-F238E27FC236}">
                  <a16:creationId xmlns:a16="http://schemas.microsoft.com/office/drawing/2014/main" id="{5FDA3EF8-C227-0F7D-EDE5-BD697990004B}"/>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13" name="Google Shape;126;g12f20562990_0_39">
              <a:extLst>
                <a:ext uri="{FF2B5EF4-FFF2-40B4-BE49-F238E27FC236}">
                  <a16:creationId xmlns:a16="http://schemas.microsoft.com/office/drawing/2014/main" id="{EE0FC301-AE20-B612-06E0-02724476B7C8}"/>
                </a:ext>
              </a:extLst>
            </p:cNvPr>
            <p:cNvSpPr/>
            <p:nvPr/>
          </p:nvSpPr>
          <p:spPr>
            <a:xfrm>
              <a:off x="8893594" y="6394039"/>
              <a:ext cx="18729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bg1"/>
                  </a:solidFill>
                  <a:latin typeface="+mj-lt"/>
                  <a:ea typeface="Avenir"/>
                  <a:cs typeface="Avenir"/>
                  <a:sym typeface="Avenir"/>
                </a:rPr>
                <a:t>Method/s</a:t>
              </a:r>
              <a:endParaRPr sz="1800" b="1" i="0" u="none" strike="noStrike" cap="none" dirty="0">
                <a:solidFill>
                  <a:schemeClr val="bg1"/>
                </a:solidFill>
                <a:latin typeface="+mj-lt"/>
                <a:ea typeface="Calibri"/>
                <a:cs typeface="Calibri"/>
                <a:sym typeface="Calibri"/>
              </a:endParaRPr>
            </a:p>
          </p:txBody>
        </p:sp>
      </p:grpSp>
      <p:sp>
        <p:nvSpPr>
          <p:cNvPr id="14" name="Google Shape;126;g12f20562990_0_39">
            <a:extLst>
              <a:ext uri="{FF2B5EF4-FFF2-40B4-BE49-F238E27FC236}">
                <a16:creationId xmlns:a16="http://schemas.microsoft.com/office/drawing/2014/main" id="{8D6EA067-CBE9-4AC0-DDD4-D933AD9DA270}"/>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15" name="Google Shape;126;g12f20562990_0_39">
            <a:extLst>
              <a:ext uri="{FF2B5EF4-FFF2-40B4-BE49-F238E27FC236}">
                <a16:creationId xmlns:a16="http://schemas.microsoft.com/office/drawing/2014/main" id="{CE9B41DF-C2B9-528D-E796-E8DA12EF8A97}"/>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pic>
        <p:nvPicPr>
          <p:cNvPr id="17" name="Picture 16">
            <a:extLst>
              <a:ext uri="{FF2B5EF4-FFF2-40B4-BE49-F238E27FC236}">
                <a16:creationId xmlns:a16="http://schemas.microsoft.com/office/drawing/2014/main" id="{3B853703-3FF3-C6D4-E5A1-2FC11267F88D}"/>
              </a:ext>
            </a:extLst>
          </p:cNvPr>
          <p:cNvPicPr>
            <a:picLocks noChangeAspect="1"/>
          </p:cNvPicPr>
          <p:nvPr/>
        </p:nvPicPr>
        <p:blipFill>
          <a:blip r:embed="rId2"/>
          <a:stretch>
            <a:fillRect/>
          </a:stretch>
        </p:blipFill>
        <p:spPr>
          <a:xfrm>
            <a:off x="1131843" y="970700"/>
            <a:ext cx="9601804" cy="2320279"/>
          </a:xfrm>
          <a:prstGeom prst="rect">
            <a:avLst/>
          </a:prstGeom>
        </p:spPr>
      </p:pic>
      <p:sp>
        <p:nvSpPr>
          <p:cNvPr id="20" name="Rectangle 19">
            <a:extLst>
              <a:ext uri="{FF2B5EF4-FFF2-40B4-BE49-F238E27FC236}">
                <a16:creationId xmlns:a16="http://schemas.microsoft.com/office/drawing/2014/main" id="{6AABC5CA-326F-91A5-8692-8356AB66C4A5}"/>
              </a:ext>
            </a:extLst>
          </p:cNvPr>
          <p:cNvSpPr/>
          <p:nvPr/>
        </p:nvSpPr>
        <p:spPr>
          <a:xfrm>
            <a:off x="131700" y="3550234"/>
            <a:ext cx="2728663" cy="802945"/>
          </a:xfrm>
          <a:prstGeom prst="rect">
            <a:avLst/>
          </a:prstGeom>
          <a:solidFill>
            <a:srgbClr val="003265"/>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1200" dirty="0">
                <a:solidFill>
                  <a:schemeClr val="bg1"/>
                </a:solidFill>
              </a:rPr>
              <a:t>Used LSTM </a:t>
            </a:r>
            <a:r>
              <a:rPr lang="en-AU" sz="1200" b="1" dirty="0">
                <a:solidFill>
                  <a:schemeClr val="bg1"/>
                </a:solidFill>
              </a:rPr>
              <a:t>(Long Short-Term Memory) </a:t>
            </a:r>
            <a:r>
              <a:rPr lang="en-AU" sz="1200" dirty="0">
                <a:solidFill>
                  <a:schemeClr val="bg1"/>
                </a:solidFill>
              </a:rPr>
              <a:t>model as the </a:t>
            </a:r>
            <a:r>
              <a:rPr lang="en-AU" sz="1200" b="1" dirty="0">
                <a:solidFill>
                  <a:schemeClr val="bg1"/>
                </a:solidFill>
              </a:rPr>
              <a:t>foundational model </a:t>
            </a:r>
            <a:r>
              <a:rPr lang="en-AU" sz="1200" dirty="0">
                <a:solidFill>
                  <a:schemeClr val="bg1"/>
                </a:solidFill>
              </a:rPr>
              <a:t>to establish a baseline for sentiment analysis</a:t>
            </a:r>
            <a:endParaRPr lang="en-US" sz="1200" dirty="0">
              <a:solidFill>
                <a:schemeClr val="bg1"/>
              </a:solidFill>
              <a:latin typeface="Arial"/>
              <a:cs typeface="Arial"/>
            </a:endParaRPr>
          </a:p>
        </p:txBody>
      </p:sp>
      <p:sp>
        <p:nvSpPr>
          <p:cNvPr id="21" name="Rectangle 20">
            <a:extLst>
              <a:ext uri="{FF2B5EF4-FFF2-40B4-BE49-F238E27FC236}">
                <a16:creationId xmlns:a16="http://schemas.microsoft.com/office/drawing/2014/main" id="{2852B945-3026-8516-F1B4-35268259C18C}"/>
              </a:ext>
            </a:extLst>
          </p:cNvPr>
          <p:cNvSpPr/>
          <p:nvPr/>
        </p:nvSpPr>
        <p:spPr>
          <a:xfrm>
            <a:off x="131701" y="4457978"/>
            <a:ext cx="2728663" cy="802945"/>
          </a:xfrm>
          <a:prstGeom prst="rect">
            <a:avLst/>
          </a:prstGeom>
          <a:solidFill>
            <a:srgbClr val="0032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solidFill>
                  <a:schemeClr val="bg1"/>
                </a:solidFill>
              </a:rPr>
              <a:t>Chosen due to its proven </a:t>
            </a:r>
            <a:r>
              <a:rPr lang="en-AU" sz="1200" b="1" dirty="0">
                <a:solidFill>
                  <a:schemeClr val="bg1"/>
                </a:solidFill>
              </a:rPr>
              <a:t>effectiveness in handling sequential data</a:t>
            </a:r>
            <a:r>
              <a:rPr lang="en-AU" sz="1200" dirty="0">
                <a:solidFill>
                  <a:schemeClr val="bg1"/>
                </a:solidFill>
              </a:rPr>
              <a:t>, particularly for natural language processing tasks &amp; </a:t>
            </a:r>
            <a:r>
              <a:rPr lang="en-AU" sz="1200" dirty="0" err="1">
                <a:solidFill>
                  <a:schemeClr val="bg1"/>
                </a:solidFill>
              </a:rPr>
              <a:t>bc</a:t>
            </a:r>
            <a:r>
              <a:rPr lang="en-AU" sz="1200" dirty="0">
                <a:solidFill>
                  <a:schemeClr val="bg1"/>
                </a:solidFill>
              </a:rPr>
              <a:t>. Learnt in course</a:t>
            </a:r>
            <a:endParaRPr lang="en-US" sz="1200" dirty="0">
              <a:solidFill>
                <a:schemeClr val="bg1"/>
              </a:solidFill>
              <a:latin typeface="Arial"/>
              <a:cs typeface="Arial"/>
            </a:endParaRPr>
          </a:p>
        </p:txBody>
      </p:sp>
      <p:sp>
        <p:nvSpPr>
          <p:cNvPr id="22" name="Arrow: Right 5">
            <a:extLst>
              <a:ext uri="{FF2B5EF4-FFF2-40B4-BE49-F238E27FC236}">
                <a16:creationId xmlns:a16="http://schemas.microsoft.com/office/drawing/2014/main" id="{814B1092-7AF5-5276-F613-0AE790AB510C}"/>
              </a:ext>
            </a:extLst>
          </p:cNvPr>
          <p:cNvSpPr/>
          <p:nvPr/>
        </p:nvSpPr>
        <p:spPr>
          <a:xfrm>
            <a:off x="3075156" y="3616246"/>
            <a:ext cx="531766" cy="1469661"/>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Rectangle 22">
            <a:extLst>
              <a:ext uri="{FF2B5EF4-FFF2-40B4-BE49-F238E27FC236}">
                <a16:creationId xmlns:a16="http://schemas.microsoft.com/office/drawing/2014/main" id="{2E059E34-B01F-3D5B-25B9-A26774C28491}"/>
              </a:ext>
            </a:extLst>
          </p:cNvPr>
          <p:cNvSpPr/>
          <p:nvPr/>
        </p:nvSpPr>
        <p:spPr>
          <a:xfrm>
            <a:off x="3821717" y="3550235"/>
            <a:ext cx="1273680" cy="1613110"/>
          </a:xfrm>
          <a:prstGeom prst="rect">
            <a:avLst/>
          </a:prstGeom>
          <a:solidFill>
            <a:srgbClr val="0F9293"/>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solidFill>
                  <a:schemeClr val="bg1"/>
                </a:solidFill>
                <a:latin typeface="Arial"/>
                <a:cs typeface="Arial"/>
              </a:rPr>
              <a:t>Exploration</a:t>
            </a:r>
            <a:r>
              <a:rPr lang="en-US" sz="1200" dirty="0">
                <a:solidFill>
                  <a:schemeClr val="bg1"/>
                </a:solidFill>
                <a:latin typeface="Arial"/>
                <a:cs typeface="Arial"/>
              </a:rPr>
              <a:t> of various </a:t>
            </a:r>
            <a:r>
              <a:rPr lang="en-US" sz="1200" b="1" dirty="0">
                <a:solidFill>
                  <a:schemeClr val="bg1"/>
                </a:solidFill>
                <a:latin typeface="Arial"/>
                <a:cs typeface="Arial"/>
              </a:rPr>
              <a:t>Transformer-based models </a:t>
            </a:r>
            <a:r>
              <a:rPr lang="en-US" sz="1200" dirty="0">
                <a:solidFill>
                  <a:schemeClr val="bg1"/>
                </a:solidFill>
                <a:latin typeface="Arial"/>
                <a:cs typeface="Arial"/>
              </a:rPr>
              <a:t>to build upon the baseline</a:t>
            </a:r>
          </a:p>
        </p:txBody>
      </p:sp>
      <p:sp>
        <p:nvSpPr>
          <p:cNvPr id="24" name="Arrow: Right 5">
            <a:extLst>
              <a:ext uri="{FF2B5EF4-FFF2-40B4-BE49-F238E27FC236}">
                <a16:creationId xmlns:a16="http://schemas.microsoft.com/office/drawing/2014/main" id="{C0D25AA8-530E-7FD6-3348-4F4A375AE8BC}"/>
              </a:ext>
            </a:extLst>
          </p:cNvPr>
          <p:cNvSpPr/>
          <p:nvPr/>
        </p:nvSpPr>
        <p:spPr>
          <a:xfrm>
            <a:off x="5162339" y="3909483"/>
            <a:ext cx="481006" cy="846448"/>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Rectangle 25">
            <a:extLst>
              <a:ext uri="{FF2B5EF4-FFF2-40B4-BE49-F238E27FC236}">
                <a16:creationId xmlns:a16="http://schemas.microsoft.com/office/drawing/2014/main" id="{C94BF3F7-DBE7-D8FA-9B44-3F06C724262F}"/>
              </a:ext>
            </a:extLst>
          </p:cNvPr>
          <p:cNvSpPr/>
          <p:nvPr/>
        </p:nvSpPr>
        <p:spPr>
          <a:xfrm>
            <a:off x="5672163" y="3550233"/>
            <a:ext cx="909749" cy="1613109"/>
          </a:xfrm>
          <a:prstGeom prst="rect">
            <a:avLst/>
          </a:prstGeom>
          <a:solidFill>
            <a:srgbClr val="66A3E0"/>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200" b="1" dirty="0">
                <a:solidFill>
                  <a:schemeClr val="bg1"/>
                </a:solidFill>
                <a:latin typeface="Arial"/>
                <a:cs typeface="Arial"/>
              </a:rPr>
              <a:t>Selection</a:t>
            </a:r>
            <a:r>
              <a:rPr lang="en-US" sz="1200" dirty="0">
                <a:solidFill>
                  <a:schemeClr val="bg1"/>
                </a:solidFill>
                <a:latin typeface="Arial"/>
                <a:cs typeface="Arial"/>
              </a:rPr>
              <a:t> of best models by metrics of {F1, Precision, Accuracy}</a:t>
            </a:r>
          </a:p>
        </p:txBody>
      </p:sp>
      <p:sp>
        <p:nvSpPr>
          <p:cNvPr id="27" name="Rectangle 26">
            <a:extLst>
              <a:ext uri="{FF2B5EF4-FFF2-40B4-BE49-F238E27FC236}">
                <a16:creationId xmlns:a16="http://schemas.microsoft.com/office/drawing/2014/main" id="{3D66EEC3-4DF5-366C-61F3-96469E711F50}"/>
              </a:ext>
            </a:extLst>
          </p:cNvPr>
          <p:cNvSpPr/>
          <p:nvPr/>
        </p:nvSpPr>
        <p:spPr>
          <a:xfrm>
            <a:off x="9657650" y="3865246"/>
            <a:ext cx="1998267" cy="869035"/>
          </a:xfrm>
          <a:prstGeom prst="rect">
            <a:avLst/>
          </a:prstGeom>
          <a:solidFill>
            <a:srgbClr val="003265"/>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200" b="1" dirty="0">
                <a:solidFill>
                  <a:schemeClr val="bg1"/>
                </a:solidFill>
                <a:latin typeface="Arial"/>
                <a:cs typeface="Arial"/>
              </a:rPr>
              <a:t>Stacking Phase</a:t>
            </a:r>
          </a:p>
        </p:txBody>
      </p:sp>
      <p:sp>
        <p:nvSpPr>
          <p:cNvPr id="28" name="Arrow: Right 5">
            <a:extLst>
              <a:ext uri="{FF2B5EF4-FFF2-40B4-BE49-F238E27FC236}">
                <a16:creationId xmlns:a16="http://schemas.microsoft.com/office/drawing/2014/main" id="{06B53CE6-1C1F-9171-655D-382F89DF4D6D}"/>
              </a:ext>
            </a:extLst>
          </p:cNvPr>
          <p:cNvSpPr/>
          <p:nvPr/>
        </p:nvSpPr>
        <p:spPr>
          <a:xfrm>
            <a:off x="6635956" y="3953640"/>
            <a:ext cx="481006" cy="792000"/>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9" name="Rectangle 28">
            <a:extLst>
              <a:ext uri="{FF2B5EF4-FFF2-40B4-BE49-F238E27FC236}">
                <a16:creationId xmlns:a16="http://schemas.microsoft.com/office/drawing/2014/main" id="{1530EB42-7B14-DEC2-4343-146E63221046}"/>
              </a:ext>
            </a:extLst>
          </p:cNvPr>
          <p:cNvSpPr/>
          <p:nvPr/>
        </p:nvSpPr>
        <p:spPr>
          <a:xfrm>
            <a:off x="7099728" y="3549839"/>
            <a:ext cx="1998268" cy="688302"/>
          </a:xfrm>
          <a:prstGeom prst="rect">
            <a:avLst/>
          </a:prstGeom>
          <a:solidFill>
            <a:srgbClr val="99C2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1200" b="1" dirty="0">
                <a:solidFill>
                  <a:schemeClr val="bg1"/>
                </a:solidFill>
              </a:rPr>
              <a:t>1. Random Search Tuning</a:t>
            </a:r>
            <a:endParaRPr lang="en-US" sz="1200" b="1" dirty="0">
              <a:solidFill>
                <a:schemeClr val="bg1"/>
              </a:solidFill>
              <a:latin typeface="Arial"/>
              <a:cs typeface="Arial"/>
            </a:endParaRPr>
          </a:p>
        </p:txBody>
      </p:sp>
      <p:sp>
        <p:nvSpPr>
          <p:cNvPr id="30" name="Rectangle 29">
            <a:extLst>
              <a:ext uri="{FF2B5EF4-FFF2-40B4-BE49-F238E27FC236}">
                <a16:creationId xmlns:a16="http://schemas.microsoft.com/office/drawing/2014/main" id="{51E6C487-0822-812B-EA32-A12DCD33D093}"/>
              </a:ext>
            </a:extLst>
          </p:cNvPr>
          <p:cNvSpPr/>
          <p:nvPr/>
        </p:nvSpPr>
        <p:spPr>
          <a:xfrm>
            <a:off x="7116962" y="4492908"/>
            <a:ext cx="1998268" cy="688302"/>
          </a:xfrm>
          <a:prstGeom prst="rect">
            <a:avLst/>
          </a:prstGeom>
          <a:solidFill>
            <a:srgbClr val="CCE0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1200" b="1" dirty="0">
                <a:solidFill>
                  <a:schemeClr val="bg1"/>
                </a:solidFill>
              </a:rPr>
              <a:t>2. Optimised Search</a:t>
            </a:r>
            <a:endParaRPr lang="en-US" sz="1200" b="1" dirty="0">
              <a:solidFill>
                <a:schemeClr val="bg1"/>
              </a:solidFill>
              <a:latin typeface="Arial"/>
              <a:cs typeface="Arial"/>
            </a:endParaRPr>
          </a:p>
        </p:txBody>
      </p:sp>
      <p:sp>
        <p:nvSpPr>
          <p:cNvPr id="31" name="Arrow: Right 5">
            <a:extLst>
              <a:ext uri="{FF2B5EF4-FFF2-40B4-BE49-F238E27FC236}">
                <a16:creationId xmlns:a16="http://schemas.microsoft.com/office/drawing/2014/main" id="{18CD9EED-42A4-5EE4-F449-34AC99AE3C6C}"/>
              </a:ext>
            </a:extLst>
          </p:cNvPr>
          <p:cNvSpPr/>
          <p:nvPr/>
        </p:nvSpPr>
        <p:spPr>
          <a:xfrm>
            <a:off x="9165540" y="4025640"/>
            <a:ext cx="481006" cy="648000"/>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Tree>
    <p:extLst>
      <p:ext uri="{BB962C8B-B14F-4D97-AF65-F5344CB8AC3E}">
        <p14:creationId xmlns:p14="http://schemas.microsoft.com/office/powerpoint/2010/main" val="546283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5C882-4238-23A4-7BDB-BDBA5874F2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FB1C2-4DB9-398B-67EA-9F46A02D9773}"/>
              </a:ext>
            </a:extLst>
          </p:cNvPr>
          <p:cNvSpPr>
            <a:spLocks noGrp="1"/>
          </p:cNvSpPr>
          <p:nvPr>
            <p:ph type="title"/>
          </p:nvPr>
        </p:nvSpPr>
        <p:spPr>
          <a:xfrm>
            <a:off x="231648" y="136525"/>
            <a:ext cx="11631168" cy="838835"/>
          </a:xfrm>
        </p:spPr>
        <p:txBody>
          <a:bodyPr>
            <a:normAutofit/>
          </a:bodyPr>
          <a:lstStyle/>
          <a:p>
            <a:r>
              <a:rPr lang="en-GB" dirty="0"/>
              <a:t>Method(s)</a:t>
            </a:r>
            <a:endParaRPr lang="en-AU" dirty="0"/>
          </a:p>
        </p:txBody>
      </p:sp>
      <p:sp>
        <p:nvSpPr>
          <p:cNvPr id="4" name="Slide Number Placeholder 3">
            <a:extLst>
              <a:ext uri="{FF2B5EF4-FFF2-40B4-BE49-F238E27FC236}">
                <a16:creationId xmlns:a16="http://schemas.microsoft.com/office/drawing/2014/main" id="{8184B2B6-27FB-18B1-A199-6CB2CA8A132F}"/>
              </a:ext>
            </a:extLst>
          </p:cNvPr>
          <p:cNvSpPr>
            <a:spLocks noGrp="1"/>
          </p:cNvSpPr>
          <p:nvPr>
            <p:ph type="sldNum" sz="quarter" idx="12"/>
          </p:nvPr>
        </p:nvSpPr>
        <p:spPr/>
        <p:txBody>
          <a:bodyPr/>
          <a:lstStyle/>
          <a:p>
            <a:fld id="{6BAD6A8B-B5C3-4437-A9DE-A8C2149171DD}" type="slidenum">
              <a:rPr lang="en-AU" smtClean="0"/>
              <a:t>13</a:t>
            </a:fld>
            <a:endParaRPr lang="en-AU"/>
          </a:p>
        </p:txBody>
      </p:sp>
      <p:sp>
        <p:nvSpPr>
          <p:cNvPr id="6" name="TextBox 5">
            <a:extLst>
              <a:ext uri="{FF2B5EF4-FFF2-40B4-BE49-F238E27FC236}">
                <a16:creationId xmlns:a16="http://schemas.microsoft.com/office/drawing/2014/main" id="{02820DC2-FB01-8B84-C5B0-513DC5367C61}"/>
              </a:ext>
            </a:extLst>
          </p:cNvPr>
          <p:cNvSpPr txBox="1"/>
          <p:nvPr/>
        </p:nvSpPr>
        <p:spPr>
          <a:xfrm>
            <a:off x="119743" y="6225545"/>
            <a:ext cx="7326086" cy="261610"/>
          </a:xfrm>
          <a:prstGeom prst="rect">
            <a:avLst/>
          </a:prstGeom>
          <a:noFill/>
        </p:spPr>
        <p:txBody>
          <a:bodyPr wrap="square" rtlCol="0">
            <a:spAutoFit/>
          </a:bodyPr>
          <a:lstStyle/>
          <a:p>
            <a:r>
              <a:rPr lang="en-US" altLang="zh-CN" sz="1100" b="1" dirty="0">
                <a:latin typeface="Arial" panose="020B0604020202020204" pitchFamily="34" charset="0"/>
                <a:cs typeface="Arial" panose="020B0604020202020204" pitchFamily="34" charset="0"/>
              </a:rPr>
              <a:t>Presenter: Ying Bi (z5444398)</a:t>
            </a:r>
          </a:p>
        </p:txBody>
      </p:sp>
      <p:cxnSp>
        <p:nvCxnSpPr>
          <p:cNvPr id="5" name="Google Shape;119;g12f20562990_0_39">
            <a:extLst>
              <a:ext uri="{FF2B5EF4-FFF2-40B4-BE49-F238E27FC236}">
                <a16:creationId xmlns:a16="http://schemas.microsoft.com/office/drawing/2014/main" id="{EA82A527-9E26-BA85-D1FD-1A39255992EC}"/>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grpSp>
        <p:nvGrpSpPr>
          <p:cNvPr id="8" name="Google Shape;121;g12f20562990_0_39">
            <a:extLst>
              <a:ext uri="{FF2B5EF4-FFF2-40B4-BE49-F238E27FC236}">
                <a16:creationId xmlns:a16="http://schemas.microsoft.com/office/drawing/2014/main" id="{317CBC77-4B01-3618-7F55-D1DB7D39F34E}"/>
              </a:ext>
            </a:extLst>
          </p:cNvPr>
          <p:cNvGrpSpPr/>
          <p:nvPr/>
        </p:nvGrpSpPr>
        <p:grpSpPr>
          <a:xfrm>
            <a:off x="2610855" y="6225545"/>
            <a:ext cx="6060176" cy="365125"/>
            <a:chOff x="1425588" y="6394039"/>
            <a:chExt cx="9340906" cy="363742"/>
          </a:xfrm>
        </p:grpSpPr>
        <p:sp>
          <p:nvSpPr>
            <p:cNvPr id="9" name="Google Shape;122;g12f20562990_0_39">
              <a:extLst>
                <a:ext uri="{FF2B5EF4-FFF2-40B4-BE49-F238E27FC236}">
                  <a16:creationId xmlns:a16="http://schemas.microsoft.com/office/drawing/2014/main" id="{3D821A5F-703F-4795-29C2-861E029CBE8B}"/>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0" name="Google Shape;123;g12f20562990_0_39">
              <a:extLst>
                <a:ext uri="{FF2B5EF4-FFF2-40B4-BE49-F238E27FC236}">
                  <a16:creationId xmlns:a16="http://schemas.microsoft.com/office/drawing/2014/main" id="{7BA5AC60-0B68-C4B1-0E59-9E787FC6E0CB}"/>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11" name="Google Shape;124;g12f20562990_0_39">
              <a:extLst>
                <a:ext uri="{FF2B5EF4-FFF2-40B4-BE49-F238E27FC236}">
                  <a16:creationId xmlns:a16="http://schemas.microsoft.com/office/drawing/2014/main" id="{3874A91E-9DDD-0C7C-2868-F7EF1F49123D}"/>
                </a:ext>
              </a:extLst>
            </p:cNvPr>
            <p:cNvSpPr/>
            <p:nvPr/>
          </p:nvSpPr>
          <p:spPr>
            <a:xfrm>
              <a:off x="5152512" y="6398681"/>
              <a:ext cx="19833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dk1"/>
                  </a:solidFill>
                  <a:latin typeface="+mj-lt"/>
                  <a:sym typeface="Avenir"/>
                </a:rPr>
                <a:t>Literature</a:t>
              </a:r>
              <a:endParaRPr sz="1400" b="1" i="0" u="none" strike="noStrike" cap="none" dirty="0">
                <a:solidFill>
                  <a:srgbClr val="000000"/>
                </a:solidFill>
                <a:latin typeface="+mj-lt"/>
                <a:sym typeface="Arial"/>
              </a:endParaRPr>
            </a:p>
          </p:txBody>
        </p:sp>
        <p:sp>
          <p:nvSpPr>
            <p:cNvPr id="12" name="Google Shape;125;g12f20562990_0_39">
              <a:extLst>
                <a:ext uri="{FF2B5EF4-FFF2-40B4-BE49-F238E27FC236}">
                  <a16:creationId xmlns:a16="http://schemas.microsoft.com/office/drawing/2014/main" id="{43EBB451-8076-92CC-2F83-72798469F90B}"/>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13" name="Google Shape;126;g12f20562990_0_39">
              <a:extLst>
                <a:ext uri="{FF2B5EF4-FFF2-40B4-BE49-F238E27FC236}">
                  <a16:creationId xmlns:a16="http://schemas.microsoft.com/office/drawing/2014/main" id="{F243EBF9-81AA-6A3A-C6CF-A43367C39139}"/>
                </a:ext>
              </a:extLst>
            </p:cNvPr>
            <p:cNvSpPr/>
            <p:nvPr/>
          </p:nvSpPr>
          <p:spPr>
            <a:xfrm>
              <a:off x="8893594" y="6394039"/>
              <a:ext cx="18729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bg1"/>
                  </a:solidFill>
                  <a:latin typeface="+mj-lt"/>
                  <a:ea typeface="Avenir"/>
                  <a:cs typeface="Avenir"/>
                  <a:sym typeface="Avenir"/>
                </a:rPr>
                <a:t>Method/s</a:t>
              </a:r>
              <a:endParaRPr sz="1800" b="1" i="0" u="none" strike="noStrike" cap="none" dirty="0">
                <a:solidFill>
                  <a:schemeClr val="bg1"/>
                </a:solidFill>
                <a:latin typeface="+mj-lt"/>
                <a:ea typeface="Calibri"/>
                <a:cs typeface="Calibri"/>
                <a:sym typeface="Calibri"/>
              </a:endParaRPr>
            </a:p>
          </p:txBody>
        </p:sp>
      </p:grpSp>
      <p:sp>
        <p:nvSpPr>
          <p:cNvPr id="14" name="Google Shape;126;g12f20562990_0_39">
            <a:extLst>
              <a:ext uri="{FF2B5EF4-FFF2-40B4-BE49-F238E27FC236}">
                <a16:creationId xmlns:a16="http://schemas.microsoft.com/office/drawing/2014/main" id="{8CCFE905-E543-63A2-804E-493704E89E9F}"/>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15" name="Google Shape;126;g12f20562990_0_39">
            <a:extLst>
              <a:ext uri="{FF2B5EF4-FFF2-40B4-BE49-F238E27FC236}">
                <a16:creationId xmlns:a16="http://schemas.microsoft.com/office/drawing/2014/main" id="{DE0EBAA3-AF8F-0D53-9895-20141674ADDE}"/>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7" name="Google Shape;132;g12f20562990_0_39">
            <a:extLst>
              <a:ext uri="{FF2B5EF4-FFF2-40B4-BE49-F238E27FC236}">
                <a16:creationId xmlns:a16="http://schemas.microsoft.com/office/drawing/2014/main" id="{2548EBD7-032F-A4CF-20DD-60CA725D45BA}"/>
              </a:ext>
            </a:extLst>
          </p:cNvPr>
          <p:cNvSpPr/>
          <p:nvPr/>
        </p:nvSpPr>
        <p:spPr>
          <a:xfrm>
            <a:off x="3530927" y="887475"/>
            <a:ext cx="5034863"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altLang="zh-CN" i="0" u="none" strike="noStrike" cap="none" dirty="0">
                <a:solidFill>
                  <a:schemeClr val="bg1"/>
                </a:solidFill>
                <a:latin typeface="Arial" panose="020B0604020202020204" pitchFamily="34" charset="0"/>
                <a:ea typeface="Avenir"/>
                <a:cs typeface="Arial" panose="020B0604020202020204" pitchFamily="34" charset="0"/>
                <a:sym typeface="Avenir"/>
              </a:rPr>
              <a:t>Pre-trained BERTs</a:t>
            </a:r>
            <a:endParaRPr lang="en-AU" i="0" u="none" strike="noStrike" cap="none" dirty="0">
              <a:solidFill>
                <a:schemeClr val="bg1"/>
              </a:solidFill>
              <a:latin typeface="Arial" panose="020B0604020202020204" pitchFamily="34" charset="0"/>
              <a:ea typeface="Avenir"/>
              <a:cs typeface="Arial" panose="020B0604020202020204" pitchFamily="34" charset="0"/>
              <a:sym typeface="Avenir"/>
            </a:endParaRPr>
          </a:p>
        </p:txBody>
      </p:sp>
      <p:sp>
        <p:nvSpPr>
          <p:cNvPr id="25" name="文本框 24">
            <a:extLst>
              <a:ext uri="{FF2B5EF4-FFF2-40B4-BE49-F238E27FC236}">
                <a16:creationId xmlns:a16="http://schemas.microsoft.com/office/drawing/2014/main" id="{0FF4AFCD-9CB2-B819-AECE-93EB5EA59884}"/>
              </a:ext>
            </a:extLst>
          </p:cNvPr>
          <p:cNvSpPr txBox="1"/>
          <p:nvPr/>
        </p:nvSpPr>
        <p:spPr>
          <a:xfrm>
            <a:off x="11066589" y="2243297"/>
            <a:ext cx="1020316" cy="547856"/>
          </a:xfrm>
          <a:prstGeom prst="rect">
            <a:avLst/>
          </a:prstGeom>
          <a:noFill/>
          <a:ln>
            <a:solidFill>
              <a:srgbClr val="0F9293"/>
            </a:solid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algn="ctr">
              <a:defRPr sz="1200" b="1">
                <a:solidFill>
                  <a:schemeClr val="bg1"/>
                </a:solidFill>
                <a:latin typeface="Arial"/>
                <a:cs typeface="Aria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AU" altLang="zh-CN" sz="1050" b="0" dirty="0">
                <a:solidFill>
                  <a:schemeClr val="tx1"/>
                </a:solidFill>
              </a:rPr>
              <a:t>BERT</a:t>
            </a:r>
          </a:p>
          <a:p>
            <a:r>
              <a:rPr lang="en-AU" altLang="zh-CN" sz="1050" b="0" dirty="0">
                <a:solidFill>
                  <a:schemeClr val="tx1"/>
                </a:solidFill>
              </a:rPr>
              <a:t>RoBERTa</a:t>
            </a:r>
          </a:p>
          <a:p>
            <a:r>
              <a:rPr lang="en-AU" altLang="zh-CN" sz="1050" b="0" dirty="0">
                <a:solidFill>
                  <a:schemeClr val="tx1"/>
                </a:solidFill>
              </a:rPr>
              <a:t>DeBERTa</a:t>
            </a:r>
          </a:p>
        </p:txBody>
      </p:sp>
      <p:sp>
        <p:nvSpPr>
          <p:cNvPr id="39" name="矩形 38">
            <a:extLst>
              <a:ext uri="{FF2B5EF4-FFF2-40B4-BE49-F238E27FC236}">
                <a16:creationId xmlns:a16="http://schemas.microsoft.com/office/drawing/2014/main" id="{6A5D0887-2F06-F5E8-59E2-4A7F51295451}"/>
              </a:ext>
            </a:extLst>
          </p:cNvPr>
          <p:cNvSpPr/>
          <p:nvPr/>
        </p:nvSpPr>
        <p:spPr>
          <a:xfrm>
            <a:off x="5840637" y="2214215"/>
            <a:ext cx="2480225" cy="382801"/>
          </a:xfrm>
          <a:prstGeom prst="rect">
            <a:avLst/>
          </a:prstGeom>
          <a:ln>
            <a:solidFill>
              <a:srgbClr val="0F92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dirty="0"/>
              <a:t>BERT</a:t>
            </a:r>
            <a:endParaRPr lang="zh-CN" altLang="en-US" dirty="0"/>
          </a:p>
        </p:txBody>
      </p:sp>
      <p:sp>
        <p:nvSpPr>
          <p:cNvPr id="40" name="文本框 39">
            <a:extLst>
              <a:ext uri="{FF2B5EF4-FFF2-40B4-BE49-F238E27FC236}">
                <a16:creationId xmlns:a16="http://schemas.microsoft.com/office/drawing/2014/main" id="{A28D44D6-A831-75C5-7B6B-0C1BAD3CA8F6}"/>
              </a:ext>
            </a:extLst>
          </p:cNvPr>
          <p:cNvSpPr txBox="1"/>
          <p:nvPr/>
        </p:nvSpPr>
        <p:spPr>
          <a:xfrm>
            <a:off x="5988138" y="2791153"/>
            <a:ext cx="256501" cy="276999"/>
          </a:xfrm>
          <a:prstGeom prst="rect">
            <a:avLst/>
          </a:prstGeom>
          <a:noFill/>
        </p:spPr>
        <p:txBody>
          <a:bodyPr wrap="square" rtlCol="0">
            <a:spAutoFit/>
          </a:bodyPr>
          <a:lstStyle/>
          <a:p>
            <a:r>
              <a:rPr lang="en-US" altLang="zh-CN" sz="1200" dirty="0"/>
              <a:t>I</a:t>
            </a:r>
            <a:endParaRPr lang="zh-CN" altLang="en-US" sz="1200" dirty="0"/>
          </a:p>
        </p:txBody>
      </p:sp>
      <p:sp>
        <p:nvSpPr>
          <p:cNvPr id="41" name="文本框 40">
            <a:extLst>
              <a:ext uri="{FF2B5EF4-FFF2-40B4-BE49-F238E27FC236}">
                <a16:creationId xmlns:a16="http://schemas.microsoft.com/office/drawing/2014/main" id="{D8FEB2BD-774C-D855-CEC8-7754F405EB90}"/>
              </a:ext>
            </a:extLst>
          </p:cNvPr>
          <p:cNvSpPr txBox="1"/>
          <p:nvPr/>
        </p:nvSpPr>
        <p:spPr>
          <a:xfrm>
            <a:off x="6382997" y="2791153"/>
            <a:ext cx="669477" cy="276999"/>
          </a:xfrm>
          <a:prstGeom prst="rect">
            <a:avLst/>
          </a:prstGeom>
          <a:noFill/>
        </p:spPr>
        <p:txBody>
          <a:bodyPr wrap="square" rtlCol="0">
            <a:spAutoFit/>
          </a:bodyPr>
          <a:lstStyle/>
          <a:p>
            <a:r>
              <a:rPr lang="en-US" altLang="zh-CN" sz="1200" dirty="0"/>
              <a:t>have</a:t>
            </a:r>
            <a:endParaRPr lang="zh-CN" altLang="en-US" sz="1200" dirty="0"/>
          </a:p>
        </p:txBody>
      </p:sp>
      <p:sp>
        <p:nvSpPr>
          <p:cNvPr id="42" name="文本框 41">
            <a:extLst>
              <a:ext uri="{FF2B5EF4-FFF2-40B4-BE49-F238E27FC236}">
                <a16:creationId xmlns:a16="http://schemas.microsoft.com/office/drawing/2014/main" id="{3BE856E0-E165-AAE9-BDF4-B9D4D496EFFA}"/>
              </a:ext>
            </a:extLst>
          </p:cNvPr>
          <p:cNvSpPr txBox="1"/>
          <p:nvPr/>
        </p:nvSpPr>
        <p:spPr>
          <a:xfrm>
            <a:off x="7034938" y="2791153"/>
            <a:ext cx="376030" cy="276999"/>
          </a:xfrm>
          <a:prstGeom prst="rect">
            <a:avLst/>
          </a:prstGeom>
          <a:noFill/>
        </p:spPr>
        <p:txBody>
          <a:bodyPr wrap="square" rtlCol="0">
            <a:spAutoFit/>
          </a:bodyPr>
          <a:lstStyle/>
          <a:p>
            <a:r>
              <a:rPr lang="en-US" altLang="zh-CN" sz="1200" dirty="0"/>
              <a:t>a</a:t>
            </a:r>
            <a:endParaRPr lang="zh-CN" altLang="en-US" sz="1200" dirty="0"/>
          </a:p>
        </p:txBody>
      </p:sp>
      <p:sp>
        <p:nvSpPr>
          <p:cNvPr id="43" name="文本框 42">
            <a:extLst>
              <a:ext uri="{FF2B5EF4-FFF2-40B4-BE49-F238E27FC236}">
                <a16:creationId xmlns:a16="http://schemas.microsoft.com/office/drawing/2014/main" id="{92C968FA-AC77-FADF-2296-803C2F8A0636}"/>
              </a:ext>
            </a:extLst>
          </p:cNvPr>
          <p:cNvSpPr txBox="1"/>
          <p:nvPr/>
        </p:nvSpPr>
        <p:spPr>
          <a:xfrm>
            <a:off x="7495481" y="2791153"/>
            <a:ext cx="1084109" cy="276999"/>
          </a:xfrm>
          <a:prstGeom prst="rect">
            <a:avLst/>
          </a:prstGeom>
          <a:noFill/>
        </p:spPr>
        <p:txBody>
          <a:bodyPr wrap="square" rtlCol="0">
            <a:spAutoFit/>
          </a:bodyPr>
          <a:lstStyle/>
          <a:p>
            <a:r>
              <a:rPr lang="en-US" altLang="zh-CN" sz="1200" dirty="0"/>
              <a:t>cat[mask]</a:t>
            </a:r>
            <a:endParaRPr lang="zh-CN" altLang="en-US" sz="1200" dirty="0"/>
          </a:p>
        </p:txBody>
      </p:sp>
      <p:cxnSp>
        <p:nvCxnSpPr>
          <p:cNvPr id="45" name="直接箭头连接符 44">
            <a:extLst>
              <a:ext uri="{FF2B5EF4-FFF2-40B4-BE49-F238E27FC236}">
                <a16:creationId xmlns:a16="http://schemas.microsoft.com/office/drawing/2014/main" id="{2D80C4B6-B2AD-BDDC-5FD2-C9EA5386D312}"/>
              </a:ext>
            </a:extLst>
          </p:cNvPr>
          <p:cNvCxnSpPr>
            <a:cxnSpLocks/>
            <a:stCxn id="40" idx="0"/>
          </p:cNvCxnSpPr>
          <p:nvPr/>
        </p:nvCxnSpPr>
        <p:spPr>
          <a:xfrm flipV="1">
            <a:off x="6116389" y="2597016"/>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75B65530-D184-1C4D-F515-3DA20FB19FA3}"/>
              </a:ext>
            </a:extLst>
          </p:cNvPr>
          <p:cNvCxnSpPr>
            <a:cxnSpLocks/>
          </p:cNvCxnSpPr>
          <p:nvPr/>
        </p:nvCxnSpPr>
        <p:spPr>
          <a:xfrm flipV="1">
            <a:off x="6592346" y="2597016"/>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EF5733EA-D09D-87BB-09F2-F7648AB13C78}"/>
              </a:ext>
            </a:extLst>
          </p:cNvPr>
          <p:cNvCxnSpPr>
            <a:cxnSpLocks/>
          </p:cNvCxnSpPr>
          <p:nvPr/>
        </p:nvCxnSpPr>
        <p:spPr>
          <a:xfrm flipV="1">
            <a:off x="7155053" y="2597016"/>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D2A96F75-860D-A3A9-8FAB-330BB847D44C}"/>
              </a:ext>
            </a:extLst>
          </p:cNvPr>
          <p:cNvCxnSpPr>
            <a:cxnSpLocks/>
          </p:cNvCxnSpPr>
          <p:nvPr/>
        </p:nvCxnSpPr>
        <p:spPr>
          <a:xfrm flipV="1">
            <a:off x="7820255" y="2597016"/>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D0191E5D-DC06-5BFE-FED6-3C6340BE1D02}"/>
              </a:ext>
            </a:extLst>
          </p:cNvPr>
          <p:cNvCxnSpPr>
            <a:cxnSpLocks/>
          </p:cNvCxnSpPr>
          <p:nvPr/>
        </p:nvCxnSpPr>
        <p:spPr>
          <a:xfrm flipV="1">
            <a:off x="6116389" y="1945394"/>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E4C75032-003C-A63E-786B-D1E6952C9613}"/>
              </a:ext>
            </a:extLst>
          </p:cNvPr>
          <p:cNvCxnSpPr>
            <a:cxnSpLocks/>
          </p:cNvCxnSpPr>
          <p:nvPr/>
        </p:nvCxnSpPr>
        <p:spPr>
          <a:xfrm flipV="1">
            <a:off x="6592346" y="1945394"/>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5F7CC5E5-EA9C-3FFB-B313-E2188F8BF372}"/>
              </a:ext>
            </a:extLst>
          </p:cNvPr>
          <p:cNvCxnSpPr>
            <a:cxnSpLocks/>
          </p:cNvCxnSpPr>
          <p:nvPr/>
        </p:nvCxnSpPr>
        <p:spPr>
          <a:xfrm flipV="1">
            <a:off x="7155053" y="1945394"/>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9DEA704E-AA32-141C-AA1A-0893DA073F65}"/>
              </a:ext>
            </a:extLst>
          </p:cNvPr>
          <p:cNvCxnSpPr>
            <a:cxnSpLocks/>
          </p:cNvCxnSpPr>
          <p:nvPr/>
        </p:nvCxnSpPr>
        <p:spPr>
          <a:xfrm flipV="1">
            <a:off x="7784175" y="1933517"/>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EFDFD94D-87BE-C062-D82A-B91C271C66AA}"/>
              </a:ext>
            </a:extLst>
          </p:cNvPr>
          <p:cNvSpPr txBox="1"/>
          <p:nvPr/>
        </p:nvSpPr>
        <p:spPr>
          <a:xfrm>
            <a:off x="5970602" y="1584330"/>
            <a:ext cx="256501" cy="276999"/>
          </a:xfrm>
          <a:prstGeom prst="rect">
            <a:avLst/>
          </a:prstGeom>
          <a:noFill/>
        </p:spPr>
        <p:txBody>
          <a:bodyPr wrap="square" rtlCol="0">
            <a:spAutoFit/>
          </a:bodyPr>
          <a:lstStyle/>
          <a:p>
            <a:r>
              <a:rPr lang="en-US" altLang="zh-CN" sz="1200" dirty="0"/>
              <a:t>I</a:t>
            </a:r>
            <a:endParaRPr lang="zh-CN" altLang="en-US" sz="1200" dirty="0"/>
          </a:p>
        </p:txBody>
      </p:sp>
      <p:sp>
        <p:nvSpPr>
          <p:cNvPr id="57" name="文本框 56">
            <a:extLst>
              <a:ext uri="{FF2B5EF4-FFF2-40B4-BE49-F238E27FC236}">
                <a16:creationId xmlns:a16="http://schemas.microsoft.com/office/drawing/2014/main" id="{201CEF74-B65C-4D95-DE1F-E853C273BBF3}"/>
              </a:ext>
            </a:extLst>
          </p:cNvPr>
          <p:cNvSpPr txBox="1"/>
          <p:nvPr/>
        </p:nvSpPr>
        <p:spPr>
          <a:xfrm>
            <a:off x="6365461" y="1584330"/>
            <a:ext cx="669477" cy="276999"/>
          </a:xfrm>
          <a:prstGeom prst="rect">
            <a:avLst/>
          </a:prstGeom>
          <a:noFill/>
        </p:spPr>
        <p:txBody>
          <a:bodyPr wrap="square" rtlCol="0">
            <a:spAutoFit/>
          </a:bodyPr>
          <a:lstStyle/>
          <a:p>
            <a:r>
              <a:rPr lang="en-US" altLang="zh-CN" sz="1200" dirty="0"/>
              <a:t>have</a:t>
            </a:r>
            <a:endParaRPr lang="zh-CN" altLang="en-US" sz="1200" dirty="0"/>
          </a:p>
        </p:txBody>
      </p:sp>
      <p:sp>
        <p:nvSpPr>
          <p:cNvPr id="58" name="文本框 57">
            <a:extLst>
              <a:ext uri="{FF2B5EF4-FFF2-40B4-BE49-F238E27FC236}">
                <a16:creationId xmlns:a16="http://schemas.microsoft.com/office/drawing/2014/main" id="{1E738313-F465-9972-A281-4844B5F78F70}"/>
              </a:ext>
            </a:extLst>
          </p:cNvPr>
          <p:cNvSpPr txBox="1"/>
          <p:nvPr/>
        </p:nvSpPr>
        <p:spPr>
          <a:xfrm>
            <a:off x="7017402" y="1584330"/>
            <a:ext cx="376030" cy="276999"/>
          </a:xfrm>
          <a:prstGeom prst="rect">
            <a:avLst/>
          </a:prstGeom>
          <a:noFill/>
        </p:spPr>
        <p:txBody>
          <a:bodyPr wrap="square" rtlCol="0">
            <a:spAutoFit/>
          </a:bodyPr>
          <a:lstStyle/>
          <a:p>
            <a:r>
              <a:rPr lang="en-US" altLang="zh-CN" sz="1200" dirty="0"/>
              <a:t>a</a:t>
            </a:r>
            <a:endParaRPr lang="zh-CN" altLang="en-US" sz="1200" dirty="0"/>
          </a:p>
        </p:txBody>
      </p:sp>
      <p:sp>
        <p:nvSpPr>
          <p:cNvPr id="59" name="文本框 58">
            <a:extLst>
              <a:ext uri="{FF2B5EF4-FFF2-40B4-BE49-F238E27FC236}">
                <a16:creationId xmlns:a16="http://schemas.microsoft.com/office/drawing/2014/main" id="{5E88E8A3-D0E9-0281-05C9-1D1B9F7328A0}"/>
              </a:ext>
            </a:extLst>
          </p:cNvPr>
          <p:cNvSpPr txBox="1"/>
          <p:nvPr/>
        </p:nvSpPr>
        <p:spPr>
          <a:xfrm>
            <a:off x="7549227" y="1584330"/>
            <a:ext cx="542055" cy="276999"/>
          </a:xfrm>
          <a:prstGeom prst="rect">
            <a:avLst/>
          </a:prstGeom>
          <a:noFill/>
        </p:spPr>
        <p:txBody>
          <a:bodyPr wrap="square" rtlCol="0">
            <a:spAutoFit/>
          </a:bodyPr>
          <a:lstStyle/>
          <a:p>
            <a:r>
              <a:rPr lang="en-US" altLang="zh-CN" sz="1200" dirty="0"/>
              <a:t>____</a:t>
            </a:r>
            <a:endParaRPr lang="zh-CN" altLang="en-US" sz="1200" dirty="0"/>
          </a:p>
        </p:txBody>
      </p:sp>
      <p:cxnSp>
        <p:nvCxnSpPr>
          <p:cNvPr id="60" name="直接箭头连接符 59">
            <a:extLst>
              <a:ext uri="{FF2B5EF4-FFF2-40B4-BE49-F238E27FC236}">
                <a16:creationId xmlns:a16="http://schemas.microsoft.com/office/drawing/2014/main" id="{5A85DC18-327C-4B13-3CF3-BF625D1C52FB}"/>
              </a:ext>
            </a:extLst>
          </p:cNvPr>
          <p:cNvCxnSpPr>
            <a:cxnSpLocks/>
          </p:cNvCxnSpPr>
          <p:nvPr/>
        </p:nvCxnSpPr>
        <p:spPr>
          <a:xfrm>
            <a:off x="7926001" y="1694209"/>
            <a:ext cx="275751" cy="2775"/>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3" name="表格 62">
            <a:extLst>
              <a:ext uri="{FF2B5EF4-FFF2-40B4-BE49-F238E27FC236}">
                <a16:creationId xmlns:a16="http://schemas.microsoft.com/office/drawing/2014/main" id="{1EB7A7C5-987E-B57B-3B0B-68506778F559}"/>
              </a:ext>
            </a:extLst>
          </p:cNvPr>
          <p:cNvGraphicFramePr>
            <a:graphicFrameLocks noGrp="1"/>
          </p:cNvGraphicFramePr>
          <p:nvPr/>
        </p:nvGraphicFramePr>
        <p:xfrm>
          <a:off x="8175822" y="1373013"/>
          <a:ext cx="885396" cy="712829"/>
        </p:xfrm>
        <a:graphic>
          <a:graphicData uri="http://schemas.openxmlformats.org/drawingml/2006/table">
            <a:tbl>
              <a:tblPr firstRow="1" bandRow="1">
                <a:tableStyleId>{5940675A-B579-460E-94D1-54222C63F5DA}</a:tableStyleId>
              </a:tblPr>
              <a:tblGrid>
                <a:gridCol w="442698">
                  <a:extLst>
                    <a:ext uri="{9D8B030D-6E8A-4147-A177-3AD203B41FA5}">
                      <a16:colId xmlns:a16="http://schemas.microsoft.com/office/drawing/2014/main" val="3113495255"/>
                    </a:ext>
                  </a:extLst>
                </a:gridCol>
                <a:gridCol w="442698">
                  <a:extLst>
                    <a:ext uri="{9D8B030D-6E8A-4147-A177-3AD203B41FA5}">
                      <a16:colId xmlns:a16="http://schemas.microsoft.com/office/drawing/2014/main" val="3007316505"/>
                    </a:ext>
                  </a:extLst>
                </a:gridCol>
              </a:tblGrid>
              <a:tr h="198204">
                <a:tc>
                  <a:txBody>
                    <a:bodyPr/>
                    <a:lstStyle/>
                    <a:p>
                      <a:r>
                        <a:rPr lang="en-US" altLang="zh-CN" sz="900" dirty="0"/>
                        <a:t>Cat</a:t>
                      </a:r>
                      <a:endParaRPr lang="zh-CN" altLang="en-US" sz="900" dirty="0"/>
                    </a:p>
                  </a:txBody>
                  <a:tcPr/>
                </a:tc>
                <a:tc>
                  <a:txBody>
                    <a:bodyPr/>
                    <a:lstStyle/>
                    <a:p>
                      <a:r>
                        <a:rPr lang="en-US" altLang="zh-CN" sz="900" dirty="0"/>
                        <a:t>80%</a:t>
                      </a:r>
                      <a:endParaRPr lang="zh-CN" altLang="en-US" sz="900" dirty="0"/>
                    </a:p>
                  </a:txBody>
                  <a:tcPr/>
                </a:tc>
                <a:extLst>
                  <a:ext uri="{0D108BD9-81ED-4DB2-BD59-A6C34878D82A}">
                    <a16:rowId xmlns:a16="http://schemas.microsoft.com/office/drawing/2014/main" val="3241764718"/>
                  </a:ext>
                </a:extLst>
              </a:tr>
              <a:tr h="198204">
                <a:tc>
                  <a:txBody>
                    <a:bodyPr/>
                    <a:lstStyle/>
                    <a:p>
                      <a:r>
                        <a:rPr lang="en-US" altLang="zh-CN" sz="900" dirty="0"/>
                        <a:t>Man</a:t>
                      </a:r>
                      <a:endParaRPr lang="zh-CN" altLang="en-US" sz="900" dirty="0"/>
                    </a:p>
                  </a:txBody>
                  <a:tcPr/>
                </a:tc>
                <a:tc>
                  <a:txBody>
                    <a:bodyPr/>
                    <a:lstStyle/>
                    <a:p>
                      <a:r>
                        <a:rPr lang="en-US" altLang="zh-CN" sz="900" dirty="0"/>
                        <a:t>2%</a:t>
                      </a:r>
                      <a:endParaRPr lang="zh-CN" altLang="en-US" sz="900" dirty="0"/>
                    </a:p>
                  </a:txBody>
                  <a:tcPr/>
                </a:tc>
                <a:extLst>
                  <a:ext uri="{0D108BD9-81ED-4DB2-BD59-A6C34878D82A}">
                    <a16:rowId xmlns:a16="http://schemas.microsoft.com/office/drawing/2014/main" val="867686925"/>
                  </a:ext>
                </a:extLst>
              </a:tr>
              <a:tr h="255629">
                <a:tc>
                  <a:txBody>
                    <a:bodyPr/>
                    <a:lstStyle/>
                    <a:p>
                      <a:r>
                        <a:rPr lang="en-US" altLang="zh-CN" sz="900" dirty="0"/>
                        <a:t>Toy</a:t>
                      </a:r>
                      <a:endParaRPr lang="zh-CN" altLang="en-US" sz="900" dirty="0"/>
                    </a:p>
                  </a:txBody>
                  <a:tcPr/>
                </a:tc>
                <a:tc>
                  <a:txBody>
                    <a:bodyPr/>
                    <a:lstStyle/>
                    <a:p>
                      <a:r>
                        <a:rPr lang="en-US" altLang="zh-CN" sz="900" dirty="0"/>
                        <a:t>30%</a:t>
                      </a:r>
                      <a:endParaRPr lang="zh-CN" altLang="en-US" sz="900" dirty="0"/>
                    </a:p>
                  </a:txBody>
                  <a:tcPr/>
                </a:tc>
                <a:extLst>
                  <a:ext uri="{0D108BD9-81ED-4DB2-BD59-A6C34878D82A}">
                    <a16:rowId xmlns:a16="http://schemas.microsoft.com/office/drawing/2014/main" val="4122047339"/>
                  </a:ext>
                </a:extLst>
              </a:tr>
            </a:tbl>
          </a:graphicData>
        </a:graphic>
      </p:graphicFrame>
      <p:sp>
        <p:nvSpPr>
          <p:cNvPr id="18" name="Rectangle 22">
            <a:extLst>
              <a:ext uri="{FF2B5EF4-FFF2-40B4-BE49-F238E27FC236}">
                <a16:creationId xmlns:a16="http://schemas.microsoft.com/office/drawing/2014/main" id="{DCC6F54B-C2D0-2EC5-FBAC-A8CF7F26D10F}"/>
              </a:ext>
            </a:extLst>
          </p:cNvPr>
          <p:cNvSpPr/>
          <p:nvPr/>
        </p:nvSpPr>
        <p:spPr>
          <a:xfrm>
            <a:off x="9119311" y="1913485"/>
            <a:ext cx="1609870" cy="984259"/>
          </a:xfrm>
          <a:prstGeom prst="rect">
            <a:avLst/>
          </a:prstGeom>
          <a:solidFill>
            <a:srgbClr val="0F9293"/>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solidFill>
                  <a:schemeClr val="bg1"/>
                </a:solidFill>
                <a:latin typeface="Arial"/>
                <a:cs typeface="Arial"/>
              </a:rPr>
              <a:t>Pre-trained Bert models</a:t>
            </a:r>
            <a:endParaRPr lang="en-US" sz="1200" dirty="0">
              <a:solidFill>
                <a:schemeClr val="bg1"/>
              </a:solidFill>
              <a:latin typeface="Arial"/>
              <a:cs typeface="Arial"/>
            </a:endParaRPr>
          </a:p>
        </p:txBody>
      </p:sp>
      <p:sp>
        <p:nvSpPr>
          <p:cNvPr id="64" name="Arrow: Right 5">
            <a:extLst>
              <a:ext uri="{FF2B5EF4-FFF2-40B4-BE49-F238E27FC236}">
                <a16:creationId xmlns:a16="http://schemas.microsoft.com/office/drawing/2014/main" id="{ED64D662-011A-1CFB-37CB-D6B2B8051B20}"/>
              </a:ext>
            </a:extLst>
          </p:cNvPr>
          <p:cNvSpPr/>
          <p:nvPr/>
        </p:nvSpPr>
        <p:spPr>
          <a:xfrm rot="5400000">
            <a:off x="9708309" y="3141512"/>
            <a:ext cx="481006" cy="846448"/>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7" name="Rectangle 22">
            <a:extLst>
              <a:ext uri="{FF2B5EF4-FFF2-40B4-BE49-F238E27FC236}">
                <a16:creationId xmlns:a16="http://schemas.microsoft.com/office/drawing/2014/main" id="{2835B42F-DCDB-D8E0-2076-8C53368AA729}"/>
              </a:ext>
            </a:extLst>
          </p:cNvPr>
          <p:cNvSpPr/>
          <p:nvPr/>
        </p:nvSpPr>
        <p:spPr>
          <a:xfrm>
            <a:off x="9162410" y="4104393"/>
            <a:ext cx="1609870" cy="984259"/>
          </a:xfrm>
          <a:prstGeom prst="rect">
            <a:avLst/>
          </a:prstGeom>
          <a:solidFill>
            <a:srgbClr val="0F9293"/>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sz="1200" b="1" dirty="0">
                <a:solidFill>
                  <a:schemeClr val="bg1"/>
                </a:solidFill>
                <a:latin typeface="Arial"/>
                <a:cs typeface="Arial"/>
              </a:rPr>
              <a:t>Fine-Tuning for FOMC Sentiment </a:t>
            </a:r>
            <a:endParaRPr lang="zh-CN" altLang="en-US" sz="1200" b="1" dirty="0">
              <a:solidFill>
                <a:schemeClr val="bg1"/>
              </a:solidFill>
              <a:latin typeface="Arial"/>
              <a:cs typeface="Arial"/>
            </a:endParaRPr>
          </a:p>
        </p:txBody>
      </p:sp>
      <p:sp>
        <p:nvSpPr>
          <p:cNvPr id="68" name="矩形 67">
            <a:extLst>
              <a:ext uri="{FF2B5EF4-FFF2-40B4-BE49-F238E27FC236}">
                <a16:creationId xmlns:a16="http://schemas.microsoft.com/office/drawing/2014/main" id="{59456097-1591-F9AA-56F7-2F3F0797DC50}"/>
              </a:ext>
            </a:extLst>
          </p:cNvPr>
          <p:cNvSpPr/>
          <p:nvPr/>
        </p:nvSpPr>
        <p:spPr>
          <a:xfrm>
            <a:off x="5643345" y="4475696"/>
            <a:ext cx="3098291" cy="382801"/>
          </a:xfrm>
          <a:prstGeom prst="rect">
            <a:avLst/>
          </a:prstGeom>
          <a:ln>
            <a:solidFill>
              <a:srgbClr val="0F9293"/>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altLang="zh-CN" dirty="0"/>
              <a:t>Pre-trained BERT</a:t>
            </a:r>
            <a:endParaRPr lang="zh-CN" altLang="en-US" dirty="0"/>
          </a:p>
        </p:txBody>
      </p:sp>
      <p:cxnSp>
        <p:nvCxnSpPr>
          <p:cNvPr id="69" name="直接箭头连接符 68">
            <a:extLst>
              <a:ext uri="{FF2B5EF4-FFF2-40B4-BE49-F238E27FC236}">
                <a16:creationId xmlns:a16="http://schemas.microsoft.com/office/drawing/2014/main" id="{91D485E1-272F-0758-605A-14AB17545B11}"/>
              </a:ext>
            </a:extLst>
          </p:cNvPr>
          <p:cNvCxnSpPr>
            <a:cxnSpLocks/>
            <a:stCxn id="18" idx="1"/>
            <a:endCxn id="68" idx="3"/>
          </p:cNvCxnSpPr>
          <p:nvPr/>
        </p:nvCxnSpPr>
        <p:spPr>
          <a:xfrm flipH="1">
            <a:off x="8741636" y="2405615"/>
            <a:ext cx="377675" cy="2261482"/>
          </a:xfrm>
          <a:prstGeom prst="straightConnector1">
            <a:avLst/>
          </a:prstGeom>
          <a:ln>
            <a:solidFill>
              <a:srgbClr val="0F9293"/>
            </a:solidFill>
            <a:tailEnd type="triangle"/>
          </a:ln>
        </p:spPr>
        <p:style>
          <a:lnRef idx="1">
            <a:schemeClr val="accent6"/>
          </a:lnRef>
          <a:fillRef idx="0">
            <a:schemeClr val="accent6"/>
          </a:fillRef>
          <a:effectRef idx="0">
            <a:schemeClr val="accent6"/>
          </a:effectRef>
          <a:fontRef idx="minor">
            <a:schemeClr val="tx1"/>
          </a:fontRef>
        </p:style>
      </p:cxnSp>
      <p:sp>
        <p:nvSpPr>
          <p:cNvPr id="72" name="文本框 71">
            <a:extLst>
              <a:ext uri="{FF2B5EF4-FFF2-40B4-BE49-F238E27FC236}">
                <a16:creationId xmlns:a16="http://schemas.microsoft.com/office/drawing/2014/main" id="{9BDD93C2-7EF9-1A82-61CA-20D5DA0A487E}"/>
              </a:ext>
            </a:extLst>
          </p:cNvPr>
          <p:cNvSpPr txBox="1"/>
          <p:nvPr/>
        </p:nvSpPr>
        <p:spPr>
          <a:xfrm>
            <a:off x="5917251" y="5212966"/>
            <a:ext cx="2824385" cy="276999"/>
          </a:xfrm>
          <a:prstGeom prst="rect">
            <a:avLst/>
          </a:prstGeom>
          <a:solidFill>
            <a:srgbClr val="0F9293"/>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altLang="zh-CN" sz="1200" dirty="0"/>
              <a:t>[CLS]  our mandate sorry is price inflation</a:t>
            </a:r>
            <a:endParaRPr lang="zh-CN" altLang="en-US" sz="1200" dirty="0"/>
          </a:p>
        </p:txBody>
      </p:sp>
      <p:cxnSp>
        <p:nvCxnSpPr>
          <p:cNvPr id="76" name="直接箭头连接符 75">
            <a:extLst>
              <a:ext uri="{FF2B5EF4-FFF2-40B4-BE49-F238E27FC236}">
                <a16:creationId xmlns:a16="http://schemas.microsoft.com/office/drawing/2014/main" id="{C8D180E7-6B09-2819-8983-F07C9057ED98}"/>
              </a:ext>
            </a:extLst>
          </p:cNvPr>
          <p:cNvCxnSpPr>
            <a:cxnSpLocks/>
          </p:cNvCxnSpPr>
          <p:nvPr/>
        </p:nvCxnSpPr>
        <p:spPr>
          <a:xfrm flipV="1">
            <a:off x="6471620" y="4977830"/>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6C8F74C0-96EE-7D9F-976B-E0AEC03FBD18}"/>
              </a:ext>
            </a:extLst>
          </p:cNvPr>
          <p:cNvCxnSpPr>
            <a:cxnSpLocks/>
          </p:cNvCxnSpPr>
          <p:nvPr/>
        </p:nvCxnSpPr>
        <p:spPr>
          <a:xfrm flipV="1">
            <a:off x="6875288" y="4977830"/>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E53E57A1-CCBA-F80E-8930-4D0FDDDBB79E}"/>
              </a:ext>
            </a:extLst>
          </p:cNvPr>
          <p:cNvCxnSpPr>
            <a:cxnSpLocks/>
          </p:cNvCxnSpPr>
          <p:nvPr/>
        </p:nvCxnSpPr>
        <p:spPr>
          <a:xfrm flipV="1">
            <a:off x="7283061" y="4964997"/>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BC1B7D63-82F2-CEFE-CDBE-90E820F22586}"/>
              </a:ext>
            </a:extLst>
          </p:cNvPr>
          <p:cNvCxnSpPr>
            <a:cxnSpLocks/>
          </p:cNvCxnSpPr>
          <p:nvPr/>
        </p:nvCxnSpPr>
        <p:spPr>
          <a:xfrm flipV="1">
            <a:off x="7568521" y="4964998"/>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58233DFD-DA2F-59BF-5FCC-51C420DEB670}"/>
              </a:ext>
            </a:extLst>
          </p:cNvPr>
          <p:cNvCxnSpPr>
            <a:cxnSpLocks/>
          </p:cNvCxnSpPr>
          <p:nvPr/>
        </p:nvCxnSpPr>
        <p:spPr>
          <a:xfrm flipV="1">
            <a:off x="7864715" y="4964997"/>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95C06236-D23D-FFFE-88C7-A8CEDB5906CC}"/>
              </a:ext>
            </a:extLst>
          </p:cNvPr>
          <p:cNvCxnSpPr>
            <a:cxnSpLocks/>
          </p:cNvCxnSpPr>
          <p:nvPr/>
        </p:nvCxnSpPr>
        <p:spPr>
          <a:xfrm flipV="1">
            <a:off x="8266371" y="4964997"/>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D7D92672-F5B9-0EF6-DA8F-114AEBDCF41A}"/>
              </a:ext>
            </a:extLst>
          </p:cNvPr>
          <p:cNvCxnSpPr>
            <a:cxnSpLocks/>
          </p:cNvCxnSpPr>
          <p:nvPr/>
        </p:nvCxnSpPr>
        <p:spPr>
          <a:xfrm flipV="1">
            <a:off x="6137746" y="4977830"/>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A1A4D0FA-0F73-3DB7-6BC7-1A809ACB5561}"/>
              </a:ext>
            </a:extLst>
          </p:cNvPr>
          <p:cNvCxnSpPr>
            <a:cxnSpLocks/>
          </p:cNvCxnSpPr>
          <p:nvPr/>
        </p:nvCxnSpPr>
        <p:spPr>
          <a:xfrm flipV="1">
            <a:off x="6116746" y="4157071"/>
            <a:ext cx="0" cy="194137"/>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C8822362-DCD7-2A1D-BFDF-73A817479AC5}"/>
              </a:ext>
            </a:extLst>
          </p:cNvPr>
          <p:cNvSpPr txBox="1"/>
          <p:nvPr/>
        </p:nvSpPr>
        <p:spPr>
          <a:xfrm>
            <a:off x="5749338" y="3884371"/>
            <a:ext cx="734815" cy="276999"/>
          </a:xfrm>
          <a:prstGeom prst="rect">
            <a:avLst/>
          </a:prstGeom>
          <a:noFill/>
        </p:spPr>
        <p:txBody>
          <a:bodyPr wrap="square" rtlCol="0">
            <a:spAutoFit/>
          </a:bodyPr>
          <a:lstStyle/>
          <a:p>
            <a:r>
              <a:rPr lang="en-US" altLang="zh-CN" sz="1200" dirty="0"/>
              <a:t>Hawkish</a:t>
            </a:r>
            <a:endParaRPr lang="zh-CN" altLang="en-US" sz="1200" dirty="0"/>
          </a:p>
        </p:txBody>
      </p:sp>
      <p:graphicFrame>
        <p:nvGraphicFramePr>
          <p:cNvPr id="85" name="表格 84">
            <a:extLst>
              <a:ext uri="{FF2B5EF4-FFF2-40B4-BE49-F238E27FC236}">
                <a16:creationId xmlns:a16="http://schemas.microsoft.com/office/drawing/2014/main" id="{7746BEAF-EB26-D6BB-0D5A-AF57799867DE}"/>
              </a:ext>
            </a:extLst>
          </p:cNvPr>
          <p:cNvGraphicFramePr>
            <a:graphicFrameLocks noGrp="1"/>
          </p:cNvGraphicFramePr>
          <p:nvPr/>
        </p:nvGraphicFramePr>
        <p:xfrm>
          <a:off x="6913938" y="3675324"/>
          <a:ext cx="1237982" cy="696857"/>
        </p:xfrm>
        <a:graphic>
          <a:graphicData uri="http://schemas.openxmlformats.org/drawingml/2006/table">
            <a:tbl>
              <a:tblPr firstRow="1" bandRow="1">
                <a:tableStyleId>{5940675A-B579-460E-94D1-54222C63F5DA}</a:tableStyleId>
              </a:tblPr>
              <a:tblGrid>
                <a:gridCol w="618991">
                  <a:extLst>
                    <a:ext uri="{9D8B030D-6E8A-4147-A177-3AD203B41FA5}">
                      <a16:colId xmlns:a16="http://schemas.microsoft.com/office/drawing/2014/main" val="3113495255"/>
                    </a:ext>
                  </a:extLst>
                </a:gridCol>
                <a:gridCol w="618991">
                  <a:extLst>
                    <a:ext uri="{9D8B030D-6E8A-4147-A177-3AD203B41FA5}">
                      <a16:colId xmlns:a16="http://schemas.microsoft.com/office/drawing/2014/main" val="3007316505"/>
                    </a:ext>
                  </a:extLst>
                </a:gridCol>
              </a:tblGrid>
              <a:tr h="198204">
                <a:tc>
                  <a:txBody>
                    <a:bodyPr/>
                    <a:lstStyle/>
                    <a:p>
                      <a:r>
                        <a:rPr lang="en-US" altLang="zh-CN" sz="900" dirty="0"/>
                        <a:t>Dovish</a:t>
                      </a:r>
                      <a:endParaRPr lang="zh-CN" altLang="en-US" sz="900" dirty="0"/>
                    </a:p>
                  </a:txBody>
                  <a:tcPr/>
                </a:tc>
                <a:tc>
                  <a:txBody>
                    <a:bodyPr/>
                    <a:lstStyle/>
                    <a:p>
                      <a:r>
                        <a:rPr lang="en-US" altLang="zh-CN" sz="900" dirty="0"/>
                        <a:t>20%</a:t>
                      </a:r>
                      <a:endParaRPr lang="zh-CN" altLang="en-US" sz="900" dirty="0"/>
                    </a:p>
                  </a:txBody>
                  <a:tcPr/>
                </a:tc>
                <a:extLst>
                  <a:ext uri="{0D108BD9-81ED-4DB2-BD59-A6C34878D82A}">
                    <a16:rowId xmlns:a16="http://schemas.microsoft.com/office/drawing/2014/main" val="3241764718"/>
                  </a:ext>
                </a:extLst>
              </a:tr>
              <a:tr h="198204">
                <a:tc>
                  <a:txBody>
                    <a:bodyPr/>
                    <a:lstStyle/>
                    <a:p>
                      <a:r>
                        <a:rPr lang="en-US" altLang="zh-CN" sz="900" dirty="0"/>
                        <a:t>Hawkish</a:t>
                      </a:r>
                      <a:endParaRPr lang="zh-CN" altLang="en-US" sz="900" dirty="0"/>
                    </a:p>
                  </a:txBody>
                  <a:tcPr/>
                </a:tc>
                <a:tc>
                  <a:txBody>
                    <a:bodyPr/>
                    <a:lstStyle/>
                    <a:p>
                      <a:r>
                        <a:rPr lang="en-US" altLang="zh-CN" sz="900" dirty="0"/>
                        <a:t>80%</a:t>
                      </a:r>
                      <a:endParaRPr lang="zh-CN" altLang="en-US" sz="900" dirty="0"/>
                    </a:p>
                  </a:txBody>
                  <a:tcPr/>
                </a:tc>
                <a:extLst>
                  <a:ext uri="{0D108BD9-81ED-4DB2-BD59-A6C34878D82A}">
                    <a16:rowId xmlns:a16="http://schemas.microsoft.com/office/drawing/2014/main" val="867686925"/>
                  </a:ext>
                </a:extLst>
              </a:tr>
              <a:tr h="239657">
                <a:tc>
                  <a:txBody>
                    <a:bodyPr/>
                    <a:lstStyle/>
                    <a:p>
                      <a:r>
                        <a:rPr lang="en-US" altLang="zh-CN" sz="900" dirty="0"/>
                        <a:t>Neutral</a:t>
                      </a:r>
                      <a:endParaRPr lang="zh-CN" altLang="en-US" sz="900" dirty="0"/>
                    </a:p>
                  </a:txBody>
                  <a:tcPr/>
                </a:tc>
                <a:tc>
                  <a:txBody>
                    <a:bodyPr/>
                    <a:lstStyle/>
                    <a:p>
                      <a:r>
                        <a:rPr lang="en-US" altLang="zh-CN" sz="900" dirty="0"/>
                        <a:t>50%</a:t>
                      </a:r>
                      <a:endParaRPr lang="zh-CN" altLang="en-US" sz="900" dirty="0"/>
                    </a:p>
                  </a:txBody>
                  <a:tcPr/>
                </a:tc>
                <a:extLst>
                  <a:ext uri="{0D108BD9-81ED-4DB2-BD59-A6C34878D82A}">
                    <a16:rowId xmlns:a16="http://schemas.microsoft.com/office/drawing/2014/main" val="4122047339"/>
                  </a:ext>
                </a:extLst>
              </a:tr>
            </a:tbl>
          </a:graphicData>
        </a:graphic>
      </p:graphicFrame>
      <p:cxnSp>
        <p:nvCxnSpPr>
          <p:cNvPr id="86" name="直接箭头连接符 85">
            <a:extLst>
              <a:ext uri="{FF2B5EF4-FFF2-40B4-BE49-F238E27FC236}">
                <a16:creationId xmlns:a16="http://schemas.microsoft.com/office/drawing/2014/main" id="{5A2AF31E-C2FC-A32E-1D64-BE22F5A1F55B}"/>
              </a:ext>
            </a:extLst>
          </p:cNvPr>
          <p:cNvCxnSpPr>
            <a:cxnSpLocks/>
            <a:stCxn id="85" idx="1"/>
            <a:endCxn id="84" idx="3"/>
          </p:cNvCxnSpPr>
          <p:nvPr/>
        </p:nvCxnSpPr>
        <p:spPr>
          <a:xfrm flipH="1" flipV="1">
            <a:off x="6484153" y="4022871"/>
            <a:ext cx="429785" cy="881"/>
          </a:xfrm>
          <a:prstGeom prst="straightConnector1">
            <a:avLst/>
          </a:prstGeom>
          <a:ln>
            <a:solidFill>
              <a:srgbClr val="0F9293"/>
            </a:solidFill>
            <a:tailEnd type="triangle"/>
          </a:ln>
        </p:spPr>
        <p:style>
          <a:lnRef idx="1">
            <a:schemeClr val="accent1"/>
          </a:lnRef>
          <a:fillRef idx="0">
            <a:schemeClr val="accent1"/>
          </a:fillRef>
          <a:effectRef idx="0">
            <a:schemeClr val="accent1"/>
          </a:effectRef>
          <a:fontRef idx="minor">
            <a:schemeClr val="tx1"/>
          </a:fontRef>
        </p:style>
      </p:cxnSp>
      <p:pic>
        <p:nvPicPr>
          <p:cNvPr id="95" name="图片 94">
            <a:extLst>
              <a:ext uri="{FF2B5EF4-FFF2-40B4-BE49-F238E27FC236}">
                <a16:creationId xmlns:a16="http://schemas.microsoft.com/office/drawing/2014/main" id="{5C0D08BF-FE4E-E43B-16CD-065CE462E70B}"/>
              </a:ext>
            </a:extLst>
          </p:cNvPr>
          <p:cNvPicPr>
            <a:picLocks noChangeAspect="1"/>
          </p:cNvPicPr>
          <p:nvPr/>
        </p:nvPicPr>
        <p:blipFill>
          <a:blip r:embed="rId2"/>
          <a:stretch>
            <a:fillRect/>
          </a:stretch>
        </p:blipFill>
        <p:spPr>
          <a:xfrm>
            <a:off x="1067607" y="1373013"/>
            <a:ext cx="3019425" cy="4362450"/>
          </a:xfrm>
          <a:prstGeom prst="rect">
            <a:avLst/>
          </a:prstGeom>
        </p:spPr>
      </p:pic>
      <p:sp>
        <p:nvSpPr>
          <p:cNvPr id="96" name="矩形 95">
            <a:extLst>
              <a:ext uri="{FF2B5EF4-FFF2-40B4-BE49-F238E27FC236}">
                <a16:creationId xmlns:a16="http://schemas.microsoft.com/office/drawing/2014/main" id="{1D915DC9-640A-759C-9510-6A20A7201517}"/>
              </a:ext>
            </a:extLst>
          </p:cNvPr>
          <p:cNvSpPr/>
          <p:nvPr/>
        </p:nvSpPr>
        <p:spPr>
          <a:xfrm>
            <a:off x="1055077" y="2597016"/>
            <a:ext cx="1505224" cy="3142602"/>
          </a:xfrm>
          <a:prstGeom prst="rect">
            <a:avLst/>
          </a:prstGeom>
          <a:noFill/>
          <a:ln w="19050" cap="flat" cmpd="sng" algn="ctr">
            <a:solidFill>
              <a:srgbClr val="0F92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cxnSp>
        <p:nvCxnSpPr>
          <p:cNvPr id="98" name="连接符: 肘形 97">
            <a:extLst>
              <a:ext uri="{FF2B5EF4-FFF2-40B4-BE49-F238E27FC236}">
                <a16:creationId xmlns:a16="http://schemas.microsoft.com/office/drawing/2014/main" id="{9C0D7318-E022-3DA4-92ED-96EFAE4CB69D}"/>
              </a:ext>
            </a:extLst>
          </p:cNvPr>
          <p:cNvCxnSpPr>
            <a:endCxn id="39" idx="1"/>
          </p:cNvCxnSpPr>
          <p:nvPr/>
        </p:nvCxnSpPr>
        <p:spPr>
          <a:xfrm flipV="1">
            <a:off x="1799539" y="2405616"/>
            <a:ext cx="4041098" cy="191400"/>
          </a:xfrm>
          <a:prstGeom prst="bentConnector3">
            <a:avLst>
              <a:gd name="adj1" fmla="val 2030"/>
            </a:avLst>
          </a:prstGeom>
          <a:ln w="25400">
            <a:solidFill>
              <a:srgbClr val="0F9293"/>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D8B279D7-353C-DF1E-C298-2CC0BC122F18}"/>
              </a:ext>
            </a:extLst>
          </p:cNvPr>
          <p:cNvCxnSpPr>
            <a:cxnSpLocks/>
            <a:stCxn id="39" idx="3"/>
            <a:endCxn id="18" idx="1"/>
          </p:cNvCxnSpPr>
          <p:nvPr/>
        </p:nvCxnSpPr>
        <p:spPr>
          <a:xfrm flipV="1">
            <a:off x="8320862" y="2405615"/>
            <a:ext cx="798449" cy="1"/>
          </a:xfrm>
          <a:prstGeom prst="straightConnector1">
            <a:avLst/>
          </a:prstGeom>
          <a:ln w="22225">
            <a:solidFill>
              <a:srgbClr val="0F929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0868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71637-EBB7-98C4-B293-42D3942D57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7FF23-8398-3D7A-22E1-14337DD3A5CB}"/>
              </a:ext>
            </a:extLst>
          </p:cNvPr>
          <p:cNvSpPr>
            <a:spLocks noGrp="1"/>
          </p:cNvSpPr>
          <p:nvPr>
            <p:ph type="title"/>
          </p:nvPr>
        </p:nvSpPr>
        <p:spPr>
          <a:xfrm>
            <a:off x="231648" y="136525"/>
            <a:ext cx="11631168" cy="838835"/>
          </a:xfrm>
        </p:spPr>
        <p:txBody>
          <a:bodyPr>
            <a:normAutofit/>
          </a:bodyPr>
          <a:lstStyle/>
          <a:p>
            <a:r>
              <a:rPr lang="en-GB" dirty="0"/>
              <a:t>Method(s)</a:t>
            </a:r>
            <a:endParaRPr lang="en-AU" dirty="0"/>
          </a:p>
        </p:txBody>
      </p:sp>
      <p:sp>
        <p:nvSpPr>
          <p:cNvPr id="4" name="Slide Number Placeholder 3">
            <a:extLst>
              <a:ext uri="{FF2B5EF4-FFF2-40B4-BE49-F238E27FC236}">
                <a16:creationId xmlns:a16="http://schemas.microsoft.com/office/drawing/2014/main" id="{8480E21B-0AE5-6F1F-D2EB-996DA1570FD5}"/>
              </a:ext>
            </a:extLst>
          </p:cNvPr>
          <p:cNvSpPr>
            <a:spLocks noGrp="1"/>
          </p:cNvSpPr>
          <p:nvPr>
            <p:ph type="sldNum" sz="quarter" idx="12"/>
          </p:nvPr>
        </p:nvSpPr>
        <p:spPr/>
        <p:txBody>
          <a:bodyPr/>
          <a:lstStyle/>
          <a:p>
            <a:fld id="{6BAD6A8B-B5C3-4437-A9DE-A8C2149171DD}" type="slidenum">
              <a:rPr lang="en-AU" smtClean="0"/>
              <a:t>14</a:t>
            </a:fld>
            <a:endParaRPr lang="en-AU"/>
          </a:p>
        </p:txBody>
      </p:sp>
      <p:sp>
        <p:nvSpPr>
          <p:cNvPr id="6" name="TextBox 5">
            <a:extLst>
              <a:ext uri="{FF2B5EF4-FFF2-40B4-BE49-F238E27FC236}">
                <a16:creationId xmlns:a16="http://schemas.microsoft.com/office/drawing/2014/main" id="{DCD79E3F-7C21-9C8F-FC9A-69448982295F}"/>
              </a:ext>
            </a:extLst>
          </p:cNvPr>
          <p:cNvSpPr txBox="1"/>
          <p:nvPr/>
        </p:nvSpPr>
        <p:spPr>
          <a:xfrm>
            <a:off x="107443" y="6133804"/>
            <a:ext cx="7326086" cy="590931"/>
          </a:xfrm>
          <a:prstGeom prst="rect">
            <a:avLst/>
          </a:prstGeom>
          <a:noFill/>
        </p:spPr>
        <p:txBody>
          <a:bodyPr wrap="square" rtlCol="0">
            <a:spAutoFit/>
          </a:bodyPr>
          <a:lstStyle/>
          <a:p>
            <a:r>
              <a:rPr lang="en-US" sz="1080" b="1" dirty="0">
                <a:latin typeface="Arial" panose="020B0604020202020204" pitchFamily="34" charset="0"/>
                <a:cs typeface="Arial" panose="020B0604020202020204" pitchFamily="34" charset="0"/>
              </a:rPr>
              <a:t>Presenter:</a:t>
            </a:r>
          </a:p>
          <a:p>
            <a:r>
              <a:rPr lang="en-US" sz="1080" b="1" dirty="0">
                <a:latin typeface="Arial" panose="020B0604020202020204" pitchFamily="34" charset="0"/>
                <a:cs typeface="Arial" panose="020B0604020202020204" pitchFamily="34" charset="0"/>
              </a:rPr>
              <a:t>Zhenhua Liu (z</a:t>
            </a:r>
            <a:r>
              <a:rPr lang="en-US" altLang="zh-CN" sz="1080" b="1" dirty="0">
                <a:latin typeface="Arial" panose="020B0604020202020204" pitchFamily="34" charset="0"/>
                <a:cs typeface="Arial" panose="020B0604020202020204" pitchFamily="34" charset="0"/>
              </a:rPr>
              <a:t>5433153)</a:t>
            </a:r>
          </a:p>
          <a:p>
            <a:endParaRPr lang="en-US" sz="1080" b="1" dirty="0">
              <a:latin typeface="Arial" panose="020B0604020202020204" pitchFamily="34" charset="0"/>
              <a:cs typeface="Arial" panose="020B0604020202020204" pitchFamily="34" charset="0"/>
            </a:endParaRPr>
          </a:p>
        </p:txBody>
      </p:sp>
      <p:cxnSp>
        <p:nvCxnSpPr>
          <p:cNvPr id="5" name="Google Shape;119;g12f20562990_0_39">
            <a:extLst>
              <a:ext uri="{FF2B5EF4-FFF2-40B4-BE49-F238E27FC236}">
                <a16:creationId xmlns:a16="http://schemas.microsoft.com/office/drawing/2014/main" id="{D04EA32A-A57B-8888-4E40-B6801B315111}"/>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grpSp>
        <p:nvGrpSpPr>
          <p:cNvPr id="8" name="Google Shape;121;g12f20562990_0_39">
            <a:extLst>
              <a:ext uri="{FF2B5EF4-FFF2-40B4-BE49-F238E27FC236}">
                <a16:creationId xmlns:a16="http://schemas.microsoft.com/office/drawing/2014/main" id="{87DA1E94-519F-203C-ED48-8CED9B9E4C7C}"/>
              </a:ext>
            </a:extLst>
          </p:cNvPr>
          <p:cNvGrpSpPr/>
          <p:nvPr/>
        </p:nvGrpSpPr>
        <p:grpSpPr>
          <a:xfrm>
            <a:off x="2610855" y="6225545"/>
            <a:ext cx="6060176" cy="365125"/>
            <a:chOff x="1425588" y="6394039"/>
            <a:chExt cx="9340906" cy="363742"/>
          </a:xfrm>
        </p:grpSpPr>
        <p:sp>
          <p:nvSpPr>
            <p:cNvPr id="9" name="Google Shape;122;g12f20562990_0_39">
              <a:extLst>
                <a:ext uri="{FF2B5EF4-FFF2-40B4-BE49-F238E27FC236}">
                  <a16:creationId xmlns:a16="http://schemas.microsoft.com/office/drawing/2014/main" id="{EBF1D79B-A4BC-8214-CDE9-60EBF0D4EEC8}"/>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0" name="Google Shape;123;g12f20562990_0_39">
              <a:extLst>
                <a:ext uri="{FF2B5EF4-FFF2-40B4-BE49-F238E27FC236}">
                  <a16:creationId xmlns:a16="http://schemas.microsoft.com/office/drawing/2014/main" id="{5B8A98D0-0A28-E22D-0C83-351F895930F4}"/>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11" name="Google Shape;124;g12f20562990_0_39">
              <a:extLst>
                <a:ext uri="{FF2B5EF4-FFF2-40B4-BE49-F238E27FC236}">
                  <a16:creationId xmlns:a16="http://schemas.microsoft.com/office/drawing/2014/main" id="{00463678-C5ED-2422-6FA1-ECF38AF50636}"/>
                </a:ext>
              </a:extLst>
            </p:cNvPr>
            <p:cNvSpPr/>
            <p:nvPr/>
          </p:nvSpPr>
          <p:spPr>
            <a:xfrm>
              <a:off x="5152512" y="6398681"/>
              <a:ext cx="19833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dk1"/>
                  </a:solidFill>
                  <a:latin typeface="+mj-lt"/>
                  <a:sym typeface="Avenir"/>
                </a:rPr>
                <a:t>Literature</a:t>
              </a:r>
              <a:endParaRPr sz="1400" b="1" i="0" u="none" strike="noStrike" cap="none" dirty="0">
                <a:solidFill>
                  <a:srgbClr val="000000"/>
                </a:solidFill>
                <a:latin typeface="+mj-lt"/>
                <a:sym typeface="Arial"/>
              </a:endParaRPr>
            </a:p>
          </p:txBody>
        </p:sp>
        <p:sp>
          <p:nvSpPr>
            <p:cNvPr id="12" name="Google Shape;125;g12f20562990_0_39">
              <a:extLst>
                <a:ext uri="{FF2B5EF4-FFF2-40B4-BE49-F238E27FC236}">
                  <a16:creationId xmlns:a16="http://schemas.microsoft.com/office/drawing/2014/main" id="{74E07E30-AFBD-8DDA-D5A7-06DA794FF08F}"/>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13" name="Google Shape;126;g12f20562990_0_39">
              <a:extLst>
                <a:ext uri="{FF2B5EF4-FFF2-40B4-BE49-F238E27FC236}">
                  <a16:creationId xmlns:a16="http://schemas.microsoft.com/office/drawing/2014/main" id="{A89B065C-2030-75C3-C742-78A284D349A6}"/>
                </a:ext>
              </a:extLst>
            </p:cNvPr>
            <p:cNvSpPr/>
            <p:nvPr/>
          </p:nvSpPr>
          <p:spPr>
            <a:xfrm>
              <a:off x="8893594" y="6394039"/>
              <a:ext cx="18729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bg1"/>
                  </a:solidFill>
                  <a:latin typeface="+mj-lt"/>
                  <a:ea typeface="Avenir"/>
                  <a:cs typeface="Avenir"/>
                  <a:sym typeface="Avenir"/>
                </a:rPr>
                <a:t>Method/s</a:t>
              </a:r>
              <a:endParaRPr sz="1800" b="1" i="0" u="none" strike="noStrike" cap="none" dirty="0">
                <a:solidFill>
                  <a:schemeClr val="bg1"/>
                </a:solidFill>
                <a:latin typeface="+mj-lt"/>
                <a:ea typeface="Calibri"/>
                <a:cs typeface="Calibri"/>
                <a:sym typeface="Calibri"/>
              </a:endParaRPr>
            </a:p>
          </p:txBody>
        </p:sp>
      </p:grpSp>
      <p:sp>
        <p:nvSpPr>
          <p:cNvPr id="14" name="Google Shape;126;g12f20562990_0_39">
            <a:extLst>
              <a:ext uri="{FF2B5EF4-FFF2-40B4-BE49-F238E27FC236}">
                <a16:creationId xmlns:a16="http://schemas.microsoft.com/office/drawing/2014/main" id="{595C7149-8ABB-E322-B078-257342EF8090}"/>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15" name="Google Shape;126;g12f20562990_0_39">
            <a:extLst>
              <a:ext uri="{FF2B5EF4-FFF2-40B4-BE49-F238E27FC236}">
                <a16:creationId xmlns:a16="http://schemas.microsoft.com/office/drawing/2014/main" id="{8E6D0F8A-0C92-BE08-529A-EFA8334BE1B2}"/>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pic>
        <p:nvPicPr>
          <p:cNvPr id="17" name="Picture 16">
            <a:extLst>
              <a:ext uri="{FF2B5EF4-FFF2-40B4-BE49-F238E27FC236}">
                <a16:creationId xmlns:a16="http://schemas.microsoft.com/office/drawing/2014/main" id="{A95F2058-BCF2-6687-F6CE-3E4E6787BA16}"/>
              </a:ext>
            </a:extLst>
          </p:cNvPr>
          <p:cNvPicPr>
            <a:picLocks noChangeAspect="1"/>
          </p:cNvPicPr>
          <p:nvPr/>
        </p:nvPicPr>
        <p:blipFill>
          <a:blip r:embed="rId2"/>
          <a:stretch>
            <a:fillRect/>
          </a:stretch>
        </p:blipFill>
        <p:spPr>
          <a:xfrm>
            <a:off x="1131843" y="970700"/>
            <a:ext cx="9601804" cy="2320279"/>
          </a:xfrm>
          <a:prstGeom prst="rect">
            <a:avLst/>
          </a:prstGeom>
        </p:spPr>
      </p:pic>
      <p:sp>
        <p:nvSpPr>
          <p:cNvPr id="20" name="Rectangle 19">
            <a:extLst>
              <a:ext uri="{FF2B5EF4-FFF2-40B4-BE49-F238E27FC236}">
                <a16:creationId xmlns:a16="http://schemas.microsoft.com/office/drawing/2014/main" id="{BEC46D64-AFE1-9A8D-8D7F-E4AF0E0726E2}"/>
              </a:ext>
            </a:extLst>
          </p:cNvPr>
          <p:cNvSpPr/>
          <p:nvPr/>
        </p:nvSpPr>
        <p:spPr>
          <a:xfrm>
            <a:off x="131700" y="3550234"/>
            <a:ext cx="2728663" cy="802945"/>
          </a:xfrm>
          <a:prstGeom prst="rect">
            <a:avLst/>
          </a:prstGeom>
          <a:solidFill>
            <a:srgbClr val="003265"/>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1200" dirty="0">
                <a:solidFill>
                  <a:schemeClr val="bg1"/>
                </a:solidFill>
              </a:rPr>
              <a:t>Used LSTM </a:t>
            </a:r>
            <a:r>
              <a:rPr lang="en-AU" sz="1200" b="1" dirty="0">
                <a:solidFill>
                  <a:schemeClr val="bg1"/>
                </a:solidFill>
              </a:rPr>
              <a:t>(Long Short-Term Memory) </a:t>
            </a:r>
            <a:r>
              <a:rPr lang="en-AU" sz="1200" dirty="0">
                <a:solidFill>
                  <a:schemeClr val="bg1"/>
                </a:solidFill>
              </a:rPr>
              <a:t>model as the </a:t>
            </a:r>
            <a:r>
              <a:rPr lang="en-AU" sz="1200" b="1" dirty="0">
                <a:solidFill>
                  <a:schemeClr val="bg1"/>
                </a:solidFill>
              </a:rPr>
              <a:t>foundational model </a:t>
            </a:r>
            <a:r>
              <a:rPr lang="en-AU" sz="1200" dirty="0">
                <a:solidFill>
                  <a:schemeClr val="bg1"/>
                </a:solidFill>
              </a:rPr>
              <a:t>to establish a baseline for sentiment analysis</a:t>
            </a:r>
            <a:endParaRPr lang="en-US" sz="1200" dirty="0">
              <a:solidFill>
                <a:schemeClr val="bg1"/>
              </a:solidFill>
              <a:latin typeface="Arial"/>
              <a:cs typeface="Arial"/>
            </a:endParaRPr>
          </a:p>
        </p:txBody>
      </p:sp>
      <p:sp>
        <p:nvSpPr>
          <p:cNvPr id="21" name="Rectangle 20">
            <a:extLst>
              <a:ext uri="{FF2B5EF4-FFF2-40B4-BE49-F238E27FC236}">
                <a16:creationId xmlns:a16="http://schemas.microsoft.com/office/drawing/2014/main" id="{E66FE39A-5453-392A-6353-2FF8AB96A12A}"/>
              </a:ext>
            </a:extLst>
          </p:cNvPr>
          <p:cNvSpPr/>
          <p:nvPr/>
        </p:nvSpPr>
        <p:spPr>
          <a:xfrm>
            <a:off x="131701" y="4457978"/>
            <a:ext cx="2728663" cy="802945"/>
          </a:xfrm>
          <a:prstGeom prst="rect">
            <a:avLst/>
          </a:prstGeom>
          <a:solidFill>
            <a:srgbClr val="0032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solidFill>
                  <a:schemeClr val="bg1"/>
                </a:solidFill>
              </a:rPr>
              <a:t>Chosen due to its proven </a:t>
            </a:r>
            <a:r>
              <a:rPr lang="en-AU" sz="1200" b="1" dirty="0">
                <a:solidFill>
                  <a:schemeClr val="bg1"/>
                </a:solidFill>
              </a:rPr>
              <a:t>effectiveness in handling sequential data</a:t>
            </a:r>
            <a:r>
              <a:rPr lang="en-AU" sz="1200" dirty="0">
                <a:solidFill>
                  <a:schemeClr val="bg1"/>
                </a:solidFill>
              </a:rPr>
              <a:t>, particularly for natural language processing tasks &amp; </a:t>
            </a:r>
            <a:r>
              <a:rPr lang="en-AU" sz="1200" dirty="0" err="1">
                <a:solidFill>
                  <a:schemeClr val="bg1"/>
                </a:solidFill>
              </a:rPr>
              <a:t>bc</a:t>
            </a:r>
            <a:r>
              <a:rPr lang="en-AU" sz="1200" dirty="0">
                <a:solidFill>
                  <a:schemeClr val="bg1"/>
                </a:solidFill>
              </a:rPr>
              <a:t>. Learnt in course</a:t>
            </a:r>
            <a:endParaRPr lang="en-US" sz="1200" dirty="0">
              <a:solidFill>
                <a:schemeClr val="bg1"/>
              </a:solidFill>
              <a:latin typeface="Arial"/>
              <a:cs typeface="Arial"/>
            </a:endParaRPr>
          </a:p>
        </p:txBody>
      </p:sp>
      <p:sp>
        <p:nvSpPr>
          <p:cNvPr id="22" name="Arrow: Right 5">
            <a:extLst>
              <a:ext uri="{FF2B5EF4-FFF2-40B4-BE49-F238E27FC236}">
                <a16:creationId xmlns:a16="http://schemas.microsoft.com/office/drawing/2014/main" id="{DCC29028-096C-CF0E-F361-32FEC1990DF5}"/>
              </a:ext>
            </a:extLst>
          </p:cNvPr>
          <p:cNvSpPr/>
          <p:nvPr/>
        </p:nvSpPr>
        <p:spPr>
          <a:xfrm>
            <a:off x="3075156" y="3616246"/>
            <a:ext cx="531766" cy="1469661"/>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Rectangle 22">
            <a:extLst>
              <a:ext uri="{FF2B5EF4-FFF2-40B4-BE49-F238E27FC236}">
                <a16:creationId xmlns:a16="http://schemas.microsoft.com/office/drawing/2014/main" id="{B1DC5627-FA7D-765E-9BBF-6209E9502480}"/>
              </a:ext>
            </a:extLst>
          </p:cNvPr>
          <p:cNvSpPr/>
          <p:nvPr/>
        </p:nvSpPr>
        <p:spPr>
          <a:xfrm>
            <a:off x="3821717" y="3550235"/>
            <a:ext cx="1273680" cy="1613110"/>
          </a:xfrm>
          <a:prstGeom prst="rect">
            <a:avLst/>
          </a:prstGeom>
          <a:solidFill>
            <a:srgbClr val="0F9293"/>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solidFill>
                  <a:schemeClr val="bg1"/>
                </a:solidFill>
                <a:latin typeface="Arial"/>
                <a:cs typeface="Arial"/>
              </a:rPr>
              <a:t>Exploration</a:t>
            </a:r>
            <a:r>
              <a:rPr lang="en-US" sz="1200" dirty="0">
                <a:solidFill>
                  <a:schemeClr val="bg1"/>
                </a:solidFill>
                <a:latin typeface="Arial"/>
                <a:cs typeface="Arial"/>
              </a:rPr>
              <a:t> of various </a:t>
            </a:r>
            <a:r>
              <a:rPr lang="en-US" sz="1200" b="1" dirty="0">
                <a:solidFill>
                  <a:schemeClr val="bg1"/>
                </a:solidFill>
                <a:latin typeface="Arial"/>
                <a:cs typeface="Arial"/>
              </a:rPr>
              <a:t>Transformer-based models </a:t>
            </a:r>
            <a:r>
              <a:rPr lang="en-US" sz="1200" dirty="0">
                <a:solidFill>
                  <a:schemeClr val="bg1"/>
                </a:solidFill>
                <a:latin typeface="Arial"/>
                <a:cs typeface="Arial"/>
              </a:rPr>
              <a:t>to build upon the baseline</a:t>
            </a:r>
          </a:p>
        </p:txBody>
      </p:sp>
      <p:sp>
        <p:nvSpPr>
          <p:cNvPr id="24" name="Arrow: Right 5">
            <a:extLst>
              <a:ext uri="{FF2B5EF4-FFF2-40B4-BE49-F238E27FC236}">
                <a16:creationId xmlns:a16="http://schemas.microsoft.com/office/drawing/2014/main" id="{43BDF5BB-F1D7-84CA-33A4-9607A85955B2}"/>
              </a:ext>
            </a:extLst>
          </p:cNvPr>
          <p:cNvSpPr/>
          <p:nvPr/>
        </p:nvSpPr>
        <p:spPr>
          <a:xfrm>
            <a:off x="5162339" y="3909483"/>
            <a:ext cx="481006" cy="846448"/>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Rectangle 25">
            <a:extLst>
              <a:ext uri="{FF2B5EF4-FFF2-40B4-BE49-F238E27FC236}">
                <a16:creationId xmlns:a16="http://schemas.microsoft.com/office/drawing/2014/main" id="{66CF9FC1-B4D2-5876-91D9-7D95C672DBB8}"/>
              </a:ext>
            </a:extLst>
          </p:cNvPr>
          <p:cNvSpPr/>
          <p:nvPr/>
        </p:nvSpPr>
        <p:spPr>
          <a:xfrm>
            <a:off x="5672163" y="3550233"/>
            <a:ext cx="909749" cy="1613109"/>
          </a:xfrm>
          <a:prstGeom prst="rect">
            <a:avLst/>
          </a:prstGeom>
          <a:solidFill>
            <a:srgbClr val="66A3E0"/>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200" b="1" dirty="0">
                <a:solidFill>
                  <a:schemeClr val="bg1"/>
                </a:solidFill>
                <a:latin typeface="Arial"/>
                <a:cs typeface="Arial"/>
              </a:rPr>
              <a:t>Selection</a:t>
            </a:r>
            <a:r>
              <a:rPr lang="en-US" sz="1200" dirty="0">
                <a:solidFill>
                  <a:schemeClr val="bg1"/>
                </a:solidFill>
                <a:latin typeface="Arial"/>
                <a:cs typeface="Arial"/>
              </a:rPr>
              <a:t> of best models by metrics of {F1, Precision, Accuracy}</a:t>
            </a:r>
          </a:p>
        </p:txBody>
      </p:sp>
      <p:sp>
        <p:nvSpPr>
          <p:cNvPr id="27" name="Rectangle 26">
            <a:extLst>
              <a:ext uri="{FF2B5EF4-FFF2-40B4-BE49-F238E27FC236}">
                <a16:creationId xmlns:a16="http://schemas.microsoft.com/office/drawing/2014/main" id="{E5B55817-63C5-8526-0508-56D962484B6C}"/>
              </a:ext>
            </a:extLst>
          </p:cNvPr>
          <p:cNvSpPr/>
          <p:nvPr/>
        </p:nvSpPr>
        <p:spPr>
          <a:xfrm>
            <a:off x="9657650" y="3865246"/>
            <a:ext cx="1998267" cy="869035"/>
          </a:xfrm>
          <a:prstGeom prst="rect">
            <a:avLst/>
          </a:prstGeom>
          <a:solidFill>
            <a:srgbClr val="003265"/>
          </a:solidFill>
          <a:ln>
            <a:no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sz="1200" b="1" dirty="0">
                <a:solidFill>
                  <a:schemeClr val="bg1"/>
                </a:solidFill>
                <a:latin typeface="Arial"/>
                <a:cs typeface="Arial"/>
              </a:rPr>
              <a:t>Stacking Phase</a:t>
            </a:r>
          </a:p>
        </p:txBody>
      </p:sp>
      <p:sp>
        <p:nvSpPr>
          <p:cNvPr id="28" name="Arrow: Right 5">
            <a:extLst>
              <a:ext uri="{FF2B5EF4-FFF2-40B4-BE49-F238E27FC236}">
                <a16:creationId xmlns:a16="http://schemas.microsoft.com/office/drawing/2014/main" id="{F614CAF3-A3A5-CCB6-3248-2115DC73793B}"/>
              </a:ext>
            </a:extLst>
          </p:cNvPr>
          <p:cNvSpPr/>
          <p:nvPr/>
        </p:nvSpPr>
        <p:spPr>
          <a:xfrm>
            <a:off x="6635956" y="3953640"/>
            <a:ext cx="481006" cy="792000"/>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9" name="Rectangle 28">
            <a:extLst>
              <a:ext uri="{FF2B5EF4-FFF2-40B4-BE49-F238E27FC236}">
                <a16:creationId xmlns:a16="http://schemas.microsoft.com/office/drawing/2014/main" id="{B8C3984F-C025-B7EB-C2B1-35AC6997BC57}"/>
              </a:ext>
            </a:extLst>
          </p:cNvPr>
          <p:cNvSpPr/>
          <p:nvPr/>
        </p:nvSpPr>
        <p:spPr>
          <a:xfrm>
            <a:off x="7099728" y="3549839"/>
            <a:ext cx="1998268" cy="688302"/>
          </a:xfrm>
          <a:prstGeom prst="rect">
            <a:avLst/>
          </a:prstGeom>
          <a:solidFill>
            <a:srgbClr val="99C2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1200" b="1" dirty="0">
                <a:solidFill>
                  <a:schemeClr val="bg1"/>
                </a:solidFill>
              </a:rPr>
              <a:t>1. Random Search Tuning</a:t>
            </a:r>
            <a:endParaRPr lang="en-US" sz="1200" b="1" dirty="0">
              <a:solidFill>
                <a:schemeClr val="bg1"/>
              </a:solidFill>
              <a:latin typeface="Arial"/>
              <a:cs typeface="Arial"/>
            </a:endParaRPr>
          </a:p>
        </p:txBody>
      </p:sp>
      <p:sp>
        <p:nvSpPr>
          <p:cNvPr id="30" name="Rectangle 29">
            <a:extLst>
              <a:ext uri="{FF2B5EF4-FFF2-40B4-BE49-F238E27FC236}">
                <a16:creationId xmlns:a16="http://schemas.microsoft.com/office/drawing/2014/main" id="{AE38441F-7F3D-4896-0D87-147215BBDDBE}"/>
              </a:ext>
            </a:extLst>
          </p:cNvPr>
          <p:cNvSpPr/>
          <p:nvPr/>
        </p:nvSpPr>
        <p:spPr>
          <a:xfrm>
            <a:off x="7116962" y="4492908"/>
            <a:ext cx="1998268" cy="688302"/>
          </a:xfrm>
          <a:prstGeom prst="rect">
            <a:avLst/>
          </a:prstGeom>
          <a:solidFill>
            <a:srgbClr val="CCE0FF"/>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AU" sz="1200" b="1" dirty="0">
                <a:solidFill>
                  <a:schemeClr val="bg1"/>
                </a:solidFill>
              </a:rPr>
              <a:t>2. Optimised Search</a:t>
            </a:r>
            <a:endParaRPr lang="en-US" sz="1200" b="1" dirty="0">
              <a:solidFill>
                <a:schemeClr val="bg1"/>
              </a:solidFill>
              <a:latin typeface="Arial"/>
              <a:cs typeface="Arial"/>
            </a:endParaRPr>
          </a:p>
        </p:txBody>
      </p:sp>
      <p:sp>
        <p:nvSpPr>
          <p:cNvPr id="31" name="Arrow: Right 5">
            <a:extLst>
              <a:ext uri="{FF2B5EF4-FFF2-40B4-BE49-F238E27FC236}">
                <a16:creationId xmlns:a16="http://schemas.microsoft.com/office/drawing/2014/main" id="{87900008-BED0-1CEE-D813-1E200EBFBCF3}"/>
              </a:ext>
            </a:extLst>
          </p:cNvPr>
          <p:cNvSpPr/>
          <p:nvPr/>
        </p:nvSpPr>
        <p:spPr>
          <a:xfrm>
            <a:off x="9165540" y="4025640"/>
            <a:ext cx="481006" cy="648000"/>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3" name="TextBox 2">
            <a:extLst>
              <a:ext uri="{FF2B5EF4-FFF2-40B4-BE49-F238E27FC236}">
                <a16:creationId xmlns:a16="http://schemas.microsoft.com/office/drawing/2014/main" id="{BFD107DF-2700-7189-EB3C-B61F4117E159}"/>
              </a:ext>
            </a:extLst>
          </p:cNvPr>
          <p:cNvSpPr txBox="1">
            <a:spLocks/>
          </p:cNvSpPr>
          <p:nvPr/>
        </p:nvSpPr>
        <p:spPr>
          <a:xfrm>
            <a:off x="3075156" y="2652238"/>
            <a:ext cx="1157631" cy="768238"/>
          </a:xfrm>
          <a:prstGeom prst="rect">
            <a:avLst/>
          </a:prstGeom>
          <a:noFill/>
          <a:ln w="34925">
            <a:solidFill>
              <a:srgbClr val="FF0000"/>
            </a:solidFill>
          </a:ln>
        </p:spPr>
        <p:txBody>
          <a:bodyPr wrap="square" rtlCol="0">
            <a:noAutofit/>
          </a:bodyPr>
          <a:lstStyle/>
          <a:p>
            <a:endParaRPr lang="en-US" dirty="0"/>
          </a:p>
        </p:txBody>
      </p:sp>
    </p:spTree>
    <p:extLst>
      <p:ext uri="{BB962C8B-B14F-4D97-AF65-F5344CB8AC3E}">
        <p14:creationId xmlns:p14="http://schemas.microsoft.com/office/powerpoint/2010/main" val="1887242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7BFA86-98A6-831E-F5D9-583E068A6555}"/>
              </a:ext>
            </a:extLst>
          </p:cNvPr>
          <p:cNvPicPr>
            <a:picLocks noChangeAspect="1"/>
          </p:cNvPicPr>
          <p:nvPr/>
        </p:nvPicPr>
        <p:blipFill>
          <a:blip r:embed="rId2"/>
          <a:stretch>
            <a:fillRect/>
          </a:stretch>
        </p:blipFill>
        <p:spPr>
          <a:xfrm>
            <a:off x="5932745" y="1573256"/>
            <a:ext cx="6126948" cy="3802402"/>
          </a:xfrm>
          <a:prstGeom prst="rect">
            <a:avLst/>
          </a:prstGeom>
        </p:spPr>
      </p:pic>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normAutofit/>
          </a:bodyPr>
          <a:lstStyle/>
          <a:p>
            <a:r>
              <a:rPr lang="en-GB" dirty="0"/>
              <a:t>Results</a:t>
            </a:r>
            <a:endParaRPr lang="en-AU" dirty="0"/>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15</a:t>
            </a:fld>
            <a:endParaRPr lang="en-AU"/>
          </a:p>
        </p:txBody>
      </p:sp>
      <p:sp>
        <p:nvSpPr>
          <p:cNvPr id="6" name="TextBox 5">
            <a:extLst>
              <a:ext uri="{FF2B5EF4-FFF2-40B4-BE49-F238E27FC236}">
                <a16:creationId xmlns:a16="http://schemas.microsoft.com/office/drawing/2014/main" id="{0699F208-1CDC-6FEA-A315-8FBE78581435}"/>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Zhenhua Liu z5433153</a:t>
            </a:r>
          </a:p>
        </p:txBody>
      </p:sp>
      <p:sp>
        <p:nvSpPr>
          <p:cNvPr id="8" name="TextBox 7">
            <a:extLst>
              <a:ext uri="{FF2B5EF4-FFF2-40B4-BE49-F238E27FC236}">
                <a16:creationId xmlns:a16="http://schemas.microsoft.com/office/drawing/2014/main" id="{C67B60E4-92D2-8CF1-11E9-B36FD6184776}"/>
              </a:ext>
            </a:extLst>
          </p:cNvPr>
          <p:cNvSpPr txBox="1"/>
          <p:nvPr/>
        </p:nvSpPr>
        <p:spPr>
          <a:xfrm>
            <a:off x="6315524" y="2049429"/>
            <a:ext cx="653142" cy="2975428"/>
          </a:xfrm>
          <a:prstGeom prst="rect">
            <a:avLst/>
          </a:prstGeom>
          <a:noFill/>
          <a:ln w="34925">
            <a:solidFill>
              <a:srgbClr val="C00000"/>
            </a:solidFill>
          </a:ln>
        </p:spPr>
        <p:txBody>
          <a:bodyPr wrap="square" rtlCol="0">
            <a:spAutoFit/>
          </a:bodyPr>
          <a:lstStyle/>
          <a:p>
            <a:endParaRPr lang="en-US" dirty="0"/>
          </a:p>
        </p:txBody>
      </p:sp>
      <p:sp>
        <p:nvSpPr>
          <p:cNvPr id="12" name="TextBox 11">
            <a:extLst>
              <a:ext uri="{FF2B5EF4-FFF2-40B4-BE49-F238E27FC236}">
                <a16:creationId xmlns:a16="http://schemas.microsoft.com/office/drawing/2014/main" id="{C1753B2C-E6DB-0059-3D2C-AB52F4ABA460}"/>
              </a:ext>
            </a:extLst>
          </p:cNvPr>
          <p:cNvSpPr txBox="1">
            <a:spLocks noChangeAspect="1"/>
          </p:cNvSpPr>
          <p:nvPr/>
        </p:nvSpPr>
        <p:spPr>
          <a:xfrm>
            <a:off x="8710091" y="1769359"/>
            <a:ext cx="711219" cy="3240000"/>
          </a:xfrm>
          <a:prstGeom prst="rect">
            <a:avLst/>
          </a:prstGeom>
          <a:noFill/>
          <a:ln w="34925">
            <a:solidFill>
              <a:srgbClr val="92D050"/>
            </a:solidFill>
          </a:ln>
        </p:spPr>
        <p:txBody>
          <a:bodyPr wrap="square" rtlCol="0">
            <a:spAutoFit/>
          </a:bodyPr>
          <a:lstStyle/>
          <a:p>
            <a:endParaRPr lang="en-US" dirty="0"/>
          </a:p>
        </p:txBody>
      </p:sp>
      <p:cxnSp>
        <p:nvCxnSpPr>
          <p:cNvPr id="13" name="Google Shape;119;g12f20562990_0_39">
            <a:extLst>
              <a:ext uri="{FF2B5EF4-FFF2-40B4-BE49-F238E27FC236}">
                <a16:creationId xmlns:a16="http://schemas.microsoft.com/office/drawing/2014/main" id="{B161D2BB-7DEC-F460-D1D7-2B079DD457D6}"/>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grpSp>
        <p:nvGrpSpPr>
          <p:cNvPr id="15" name="Google Shape;121;g12f20562990_0_39">
            <a:extLst>
              <a:ext uri="{FF2B5EF4-FFF2-40B4-BE49-F238E27FC236}">
                <a16:creationId xmlns:a16="http://schemas.microsoft.com/office/drawing/2014/main" id="{6F0AB787-205C-83B6-D458-467C6FAE997B}"/>
              </a:ext>
            </a:extLst>
          </p:cNvPr>
          <p:cNvGrpSpPr/>
          <p:nvPr/>
        </p:nvGrpSpPr>
        <p:grpSpPr>
          <a:xfrm>
            <a:off x="2610855" y="6225545"/>
            <a:ext cx="6060176" cy="365125"/>
            <a:chOff x="1425588" y="6394039"/>
            <a:chExt cx="9340906" cy="363742"/>
          </a:xfrm>
        </p:grpSpPr>
        <p:sp>
          <p:nvSpPr>
            <p:cNvPr id="16" name="Google Shape;122;g12f20562990_0_39">
              <a:extLst>
                <a:ext uri="{FF2B5EF4-FFF2-40B4-BE49-F238E27FC236}">
                  <a16:creationId xmlns:a16="http://schemas.microsoft.com/office/drawing/2014/main" id="{B3E461D8-AADF-2288-5AE3-1316ECB98E09}"/>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7" name="Google Shape;123;g12f20562990_0_39">
              <a:extLst>
                <a:ext uri="{FF2B5EF4-FFF2-40B4-BE49-F238E27FC236}">
                  <a16:creationId xmlns:a16="http://schemas.microsoft.com/office/drawing/2014/main" id="{6AA0F8C7-9BE6-2EA0-D524-76D06D80AF43}"/>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18" name="Google Shape;124;g12f20562990_0_39">
              <a:extLst>
                <a:ext uri="{FF2B5EF4-FFF2-40B4-BE49-F238E27FC236}">
                  <a16:creationId xmlns:a16="http://schemas.microsoft.com/office/drawing/2014/main" id="{D4FA0C33-E614-F118-FEC5-98EE1B1EB91A}"/>
                </a:ext>
              </a:extLst>
            </p:cNvPr>
            <p:cNvSpPr/>
            <p:nvPr/>
          </p:nvSpPr>
          <p:spPr>
            <a:xfrm>
              <a:off x="5152512" y="6398681"/>
              <a:ext cx="19833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dk1"/>
                  </a:solidFill>
                  <a:latin typeface="+mj-lt"/>
                  <a:sym typeface="Avenir"/>
                </a:rPr>
                <a:t>Literature</a:t>
              </a:r>
              <a:endParaRPr sz="1400" b="1" i="0" u="none" strike="noStrike" cap="none" dirty="0">
                <a:solidFill>
                  <a:srgbClr val="000000"/>
                </a:solidFill>
                <a:latin typeface="+mj-lt"/>
                <a:sym typeface="Arial"/>
              </a:endParaRPr>
            </a:p>
          </p:txBody>
        </p:sp>
        <p:sp>
          <p:nvSpPr>
            <p:cNvPr id="19" name="Google Shape;125;g12f20562990_0_39">
              <a:extLst>
                <a:ext uri="{FF2B5EF4-FFF2-40B4-BE49-F238E27FC236}">
                  <a16:creationId xmlns:a16="http://schemas.microsoft.com/office/drawing/2014/main" id="{9F48CB7F-1EC3-F6AD-E87F-9EAB05411D36}"/>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0" name="Google Shape;126;g12f20562990_0_39">
              <a:extLst>
                <a:ext uri="{FF2B5EF4-FFF2-40B4-BE49-F238E27FC236}">
                  <a16:creationId xmlns:a16="http://schemas.microsoft.com/office/drawing/2014/main" id="{23B3E56A-8A0C-2094-8C71-E49F890A2B92}"/>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1" name="Google Shape;126;g12f20562990_0_39">
            <a:extLst>
              <a:ext uri="{FF2B5EF4-FFF2-40B4-BE49-F238E27FC236}">
                <a16:creationId xmlns:a16="http://schemas.microsoft.com/office/drawing/2014/main" id="{97A3BD63-342F-F36C-B6A3-27692E5BF9FA}"/>
              </a:ext>
            </a:extLst>
          </p:cNvPr>
          <p:cNvSpPr/>
          <p:nvPr/>
        </p:nvSpPr>
        <p:spPr>
          <a:xfrm>
            <a:off x="8565790" y="6220885"/>
            <a:ext cx="1215097" cy="360465"/>
          </a:xfrm>
          <a:prstGeom prst="chevron">
            <a:avLst>
              <a:gd name="adj" fmla="val 50000"/>
            </a:avLst>
          </a:prstGeom>
          <a:solidFill>
            <a:srgbClr val="0032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bg1"/>
                </a:solidFill>
                <a:latin typeface="+mj-lt"/>
                <a:ea typeface="Avenir"/>
                <a:cs typeface="Avenir"/>
                <a:sym typeface="Avenir"/>
              </a:rPr>
              <a:t>Results</a:t>
            </a:r>
            <a:endParaRPr sz="1800" b="1" i="0" u="none" strike="noStrike" cap="none" dirty="0">
              <a:solidFill>
                <a:schemeClr val="bg1"/>
              </a:solidFill>
              <a:latin typeface="+mj-lt"/>
              <a:ea typeface="Calibri"/>
              <a:cs typeface="Calibri"/>
              <a:sym typeface="Calibri"/>
            </a:endParaRPr>
          </a:p>
        </p:txBody>
      </p:sp>
      <p:sp>
        <p:nvSpPr>
          <p:cNvPr id="22" name="Google Shape;126;g12f20562990_0_39">
            <a:extLst>
              <a:ext uri="{FF2B5EF4-FFF2-40B4-BE49-F238E27FC236}">
                <a16:creationId xmlns:a16="http://schemas.microsoft.com/office/drawing/2014/main" id="{C0868D2E-C461-652C-6B32-96AE804B6B97}"/>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24" name="Google Shape;132;g12f20562990_0_39">
            <a:extLst>
              <a:ext uri="{FF2B5EF4-FFF2-40B4-BE49-F238E27FC236}">
                <a16:creationId xmlns:a16="http://schemas.microsoft.com/office/drawing/2014/main" id="{583554F4-12DC-E896-8C43-C4EB2F1936FC}"/>
              </a:ext>
            </a:extLst>
          </p:cNvPr>
          <p:cNvSpPr/>
          <p:nvPr/>
        </p:nvSpPr>
        <p:spPr>
          <a:xfrm>
            <a:off x="360695" y="975360"/>
            <a:ext cx="5189271"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i="0" u="none" strike="noStrike" cap="none" dirty="0">
                <a:solidFill>
                  <a:schemeClr val="bg1"/>
                </a:solidFill>
                <a:latin typeface="Arial" panose="020B0604020202020204" pitchFamily="34" charset="0"/>
                <a:ea typeface="Avenir"/>
                <a:cs typeface="Arial" panose="020B0604020202020204" pitchFamily="34" charset="0"/>
                <a:sym typeface="Avenir"/>
              </a:rPr>
              <a:t>Explainability of Performance</a:t>
            </a:r>
          </a:p>
        </p:txBody>
      </p:sp>
      <p:sp>
        <p:nvSpPr>
          <p:cNvPr id="25" name="Google Shape;132;g12f20562990_0_39">
            <a:extLst>
              <a:ext uri="{FF2B5EF4-FFF2-40B4-BE49-F238E27FC236}">
                <a16:creationId xmlns:a16="http://schemas.microsoft.com/office/drawing/2014/main" id="{66971339-0586-6783-DCE3-091D488DE5CA}"/>
              </a:ext>
            </a:extLst>
          </p:cNvPr>
          <p:cNvSpPr/>
          <p:nvPr/>
        </p:nvSpPr>
        <p:spPr>
          <a:xfrm>
            <a:off x="6096000" y="946022"/>
            <a:ext cx="5422695" cy="412133"/>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i="0" u="none" strike="noStrike" cap="none" dirty="0">
                <a:solidFill>
                  <a:schemeClr val="bg1"/>
                </a:solidFill>
                <a:latin typeface="Arial" panose="020B0604020202020204" pitchFamily="34" charset="0"/>
                <a:ea typeface="Avenir"/>
                <a:cs typeface="Arial" panose="020B0604020202020204" pitchFamily="34" charset="0"/>
                <a:sym typeface="Avenir"/>
              </a:rPr>
              <a:t>Performance Compari</a:t>
            </a:r>
            <a:r>
              <a:rPr lang="en-AU" dirty="0">
                <a:solidFill>
                  <a:schemeClr val="bg1"/>
                </a:solidFill>
                <a:latin typeface="Arial" panose="020B0604020202020204" pitchFamily="34" charset="0"/>
                <a:ea typeface="Avenir"/>
                <a:cs typeface="Arial" panose="020B0604020202020204" pitchFamily="34" charset="0"/>
                <a:sym typeface="Avenir"/>
              </a:rPr>
              <a:t>son of Models </a:t>
            </a:r>
            <a:endParaRPr lang="en-AU" i="0" u="none" strike="noStrike" cap="none" dirty="0">
              <a:solidFill>
                <a:schemeClr val="bg1"/>
              </a:solidFill>
              <a:latin typeface="Arial" panose="020B0604020202020204" pitchFamily="34" charset="0"/>
              <a:ea typeface="Avenir"/>
              <a:cs typeface="Arial" panose="020B0604020202020204" pitchFamily="34" charset="0"/>
              <a:sym typeface="Avenir"/>
            </a:endParaRPr>
          </a:p>
        </p:txBody>
      </p:sp>
      <p:graphicFrame>
        <p:nvGraphicFramePr>
          <p:cNvPr id="30" name="Table 29">
            <a:extLst>
              <a:ext uri="{FF2B5EF4-FFF2-40B4-BE49-F238E27FC236}">
                <a16:creationId xmlns:a16="http://schemas.microsoft.com/office/drawing/2014/main" id="{39ED37A6-3F44-5365-5D21-5E72F268B671}"/>
              </a:ext>
            </a:extLst>
          </p:cNvPr>
          <p:cNvGraphicFramePr>
            <a:graphicFrameLocks noGrp="1"/>
          </p:cNvGraphicFramePr>
          <p:nvPr>
            <p:extLst>
              <p:ext uri="{D42A27DB-BD31-4B8C-83A1-F6EECF244321}">
                <p14:modId xmlns:p14="http://schemas.microsoft.com/office/powerpoint/2010/main" val="1384223792"/>
              </p:ext>
            </p:extLst>
          </p:nvPr>
        </p:nvGraphicFramePr>
        <p:xfrm>
          <a:off x="390191" y="1478820"/>
          <a:ext cx="5024105" cy="4497685"/>
        </p:xfrm>
        <a:graphic>
          <a:graphicData uri="http://schemas.openxmlformats.org/drawingml/2006/table">
            <a:tbl>
              <a:tblPr/>
              <a:tblGrid>
                <a:gridCol w="912992">
                  <a:extLst>
                    <a:ext uri="{9D8B030D-6E8A-4147-A177-3AD203B41FA5}">
                      <a16:colId xmlns:a16="http://schemas.microsoft.com/office/drawing/2014/main" val="744169825"/>
                    </a:ext>
                  </a:extLst>
                </a:gridCol>
                <a:gridCol w="894326">
                  <a:extLst>
                    <a:ext uri="{9D8B030D-6E8A-4147-A177-3AD203B41FA5}">
                      <a16:colId xmlns:a16="http://schemas.microsoft.com/office/drawing/2014/main" val="1603514109"/>
                    </a:ext>
                  </a:extLst>
                </a:gridCol>
                <a:gridCol w="3216787">
                  <a:extLst>
                    <a:ext uri="{9D8B030D-6E8A-4147-A177-3AD203B41FA5}">
                      <a16:colId xmlns:a16="http://schemas.microsoft.com/office/drawing/2014/main" val="2111580860"/>
                    </a:ext>
                  </a:extLst>
                </a:gridCol>
              </a:tblGrid>
              <a:tr h="171252">
                <a:tc>
                  <a:txBody>
                    <a:bodyPr/>
                    <a:lstStyle/>
                    <a:p>
                      <a:pPr algn="l" fontAlgn="b"/>
                      <a:r>
                        <a:rPr lang="en-AU" sz="1100" b="1" i="0" u="none" strike="noStrike" dirty="0">
                          <a:solidFill>
                            <a:srgbClr val="FFFFFF"/>
                          </a:solidFill>
                          <a:effectLst/>
                          <a:latin typeface="Arial" panose="020B0604020202020204" pitchFamily="34" charset="0"/>
                          <a:cs typeface="Arial" panose="020B0604020202020204" pitchFamily="34" charset="0"/>
                        </a:rPr>
                        <a:t>Model</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fontAlgn="b"/>
                      <a:r>
                        <a:rPr lang="en-AU" sz="1100" b="1" i="0" u="none" strike="noStrike">
                          <a:solidFill>
                            <a:srgbClr val="FFFFFF"/>
                          </a:solidFill>
                          <a:effectLst/>
                          <a:latin typeface="Arial" panose="020B0604020202020204" pitchFamily="34" charset="0"/>
                          <a:cs typeface="Arial" panose="020B0604020202020204" pitchFamily="34" charset="0"/>
                        </a:rPr>
                        <a:t>Architecture</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l" fontAlgn="b"/>
                      <a:r>
                        <a:rPr lang="en-AU" sz="1100" b="1" i="0" u="none" strike="noStrike">
                          <a:solidFill>
                            <a:srgbClr val="FFFFFF"/>
                          </a:solidFill>
                          <a:effectLst/>
                          <a:latin typeface="Arial" panose="020B0604020202020204" pitchFamily="34" charset="0"/>
                          <a:cs typeface="Arial" panose="020B0604020202020204" pitchFamily="34" charset="0"/>
                        </a:rPr>
                        <a:t>Features</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146125799"/>
                  </a:ext>
                </a:extLst>
              </a:tr>
              <a:tr h="481058">
                <a:tc>
                  <a:txBody>
                    <a:bodyPr/>
                    <a:lstStyle/>
                    <a:p>
                      <a:pPr algn="l" fontAlgn="b"/>
                      <a:r>
                        <a:rPr lang="en-AU" sz="1000" b="1" i="0" u="none" strike="noStrike" dirty="0">
                          <a:solidFill>
                            <a:srgbClr val="000000"/>
                          </a:solidFill>
                          <a:effectLst/>
                          <a:latin typeface="Arial" panose="020B0604020202020204" pitchFamily="34" charset="0"/>
                          <a:cs typeface="Arial" panose="020B0604020202020204" pitchFamily="34" charset="0"/>
                        </a:rPr>
                        <a:t>LSTM</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l" fontAlgn="b"/>
                      <a:r>
                        <a:rPr lang="en-AU" sz="1000" b="0" i="0" u="none" strike="noStrike">
                          <a:solidFill>
                            <a:srgbClr val="000000"/>
                          </a:solidFill>
                          <a:effectLst/>
                          <a:latin typeface="Arial" panose="020B0604020202020204" pitchFamily="34" charset="0"/>
                          <a:cs typeface="Arial" panose="020B0604020202020204" pitchFamily="34" charset="0"/>
                        </a:rPr>
                        <a:t>Recurrent Neural Network</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tc>
                  <a:txBody>
                    <a:bodyPr/>
                    <a:lstStyle/>
                    <a:p>
                      <a:pPr algn="l" fontAlgn="b"/>
                      <a:r>
                        <a:rPr lang="en-AU" sz="900" b="0" i="0" u="none" strike="noStrike" dirty="0">
                          <a:solidFill>
                            <a:srgbClr val="000000"/>
                          </a:solidFill>
                          <a:effectLst/>
                          <a:latin typeface="Arial" panose="020B0604020202020204" pitchFamily="34" charset="0"/>
                          <a:cs typeface="Arial" panose="020B0604020202020204" pitchFamily="34" charset="0"/>
                        </a:rPr>
                        <a:t>Handles sequential data but limited in capturing complex, long-range dependencies. Struggled with long-term dependencies and nuances information. </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729242856"/>
                  </a:ext>
                </a:extLst>
              </a:tr>
              <a:tr h="581361">
                <a:tc>
                  <a:txBody>
                    <a:bodyPr/>
                    <a:lstStyle/>
                    <a:p>
                      <a:pPr algn="l" fontAlgn="b"/>
                      <a:r>
                        <a:rPr lang="en-AU" sz="1000" b="1" i="0" u="none" strike="noStrike" dirty="0">
                          <a:solidFill>
                            <a:srgbClr val="000000"/>
                          </a:solidFill>
                          <a:effectLst/>
                          <a:latin typeface="Arial" panose="020B0604020202020204" pitchFamily="34" charset="0"/>
                          <a:cs typeface="Arial" panose="020B0604020202020204" pitchFamily="34" charset="0"/>
                        </a:rPr>
                        <a:t>BERT-base-uncased</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000" b="0" i="0" u="none" strike="noStrike">
                          <a:solidFill>
                            <a:srgbClr val="000000"/>
                          </a:solidFill>
                          <a:effectLst/>
                          <a:latin typeface="Arial" panose="020B0604020202020204" pitchFamily="34" charset="0"/>
                          <a:cs typeface="Arial" panose="020B0604020202020204" pitchFamily="34" charset="0"/>
                        </a:rPr>
                        <a:t>Transformer Encoder</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900" b="0" i="0" u="none" strike="noStrike" dirty="0">
                          <a:solidFill>
                            <a:srgbClr val="000000"/>
                          </a:solidFill>
                          <a:effectLst/>
                          <a:latin typeface="Arial" panose="020B0604020202020204" pitchFamily="34" charset="0"/>
                          <a:cs typeface="Arial" panose="020B0604020202020204" pitchFamily="34" charset="0"/>
                        </a:rPr>
                        <a:t>Pre-trained model with bidirectional attention; useful for understanding context but limited in comparison to larger models. Struggled evidently, as it had fewer parameters and limited feature extraction capabilities</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51627912"/>
                  </a:ext>
                </a:extLst>
              </a:tr>
              <a:tr h="323440">
                <a:tc>
                  <a:txBody>
                    <a:bodyPr/>
                    <a:lstStyle/>
                    <a:p>
                      <a:pPr algn="l" fontAlgn="b"/>
                      <a:r>
                        <a:rPr lang="en-AU" sz="1000" b="1" i="0" u="none" strike="noStrike">
                          <a:solidFill>
                            <a:srgbClr val="000000"/>
                          </a:solidFill>
                          <a:effectLst/>
                          <a:latin typeface="Arial" panose="020B0604020202020204" pitchFamily="34" charset="0"/>
                          <a:cs typeface="Arial" panose="020B0604020202020204" pitchFamily="34" charset="0"/>
                        </a:rPr>
                        <a:t>RoBERTa-base</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000" b="0" i="0" u="none" strike="noStrike" dirty="0">
                          <a:solidFill>
                            <a:srgbClr val="000000"/>
                          </a:solidFill>
                          <a:effectLst/>
                          <a:latin typeface="Arial" panose="020B0604020202020204" pitchFamily="34" charset="0"/>
                          <a:cs typeface="Arial" panose="020B0604020202020204" pitchFamily="34" charset="0"/>
                        </a:rPr>
                        <a:t>Transformer Encoder</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900" b="0" i="0" u="none" strike="noStrike" dirty="0">
                          <a:solidFill>
                            <a:srgbClr val="000000"/>
                          </a:solidFill>
                          <a:effectLst/>
                          <a:latin typeface="Arial" panose="020B0604020202020204" pitchFamily="34" charset="0"/>
                          <a:cs typeface="Arial" panose="020B0604020202020204" pitchFamily="34" charset="0"/>
                        </a:rPr>
                        <a:t>Improved training over BERT; optimized with larger batch sizes and dynamic masking.</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8267557"/>
                  </a:ext>
                </a:extLst>
              </a:tr>
              <a:tr h="581361">
                <a:tc>
                  <a:txBody>
                    <a:bodyPr/>
                    <a:lstStyle/>
                    <a:p>
                      <a:pPr algn="l" fontAlgn="b"/>
                      <a:r>
                        <a:rPr lang="en-AU" sz="1000" b="1" i="0" u="none" strike="noStrike">
                          <a:solidFill>
                            <a:srgbClr val="000000"/>
                          </a:solidFill>
                          <a:effectLst/>
                          <a:latin typeface="Arial" panose="020B0604020202020204" pitchFamily="34" charset="0"/>
                          <a:cs typeface="Arial" panose="020B0604020202020204" pitchFamily="34" charset="0"/>
                        </a:rPr>
                        <a:t>RoBERTa-large</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000" b="0" i="0" u="none" strike="noStrike">
                          <a:solidFill>
                            <a:srgbClr val="000000"/>
                          </a:solidFill>
                          <a:effectLst/>
                          <a:latin typeface="Arial" panose="020B0604020202020204" pitchFamily="34" charset="0"/>
                          <a:cs typeface="Arial" panose="020B0604020202020204" pitchFamily="34" charset="0"/>
                        </a:rPr>
                        <a:t>Transformer Encoder</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900" b="0" i="0" u="none" strike="noStrike" dirty="0">
                          <a:solidFill>
                            <a:srgbClr val="000000"/>
                          </a:solidFill>
                          <a:effectLst/>
                          <a:latin typeface="Arial" panose="020B0604020202020204" pitchFamily="34" charset="0"/>
                          <a:cs typeface="Arial" panose="020B0604020202020204" pitchFamily="34" charset="0"/>
                        </a:rPr>
                        <a:t>Larger version of </a:t>
                      </a:r>
                      <a:r>
                        <a:rPr lang="en-AU" sz="900" b="0" i="0" u="none" strike="noStrike" dirty="0" err="1">
                          <a:solidFill>
                            <a:srgbClr val="000000"/>
                          </a:solidFill>
                          <a:effectLst/>
                          <a:latin typeface="Arial" panose="020B0604020202020204" pitchFamily="34" charset="0"/>
                          <a:cs typeface="Arial" panose="020B0604020202020204" pitchFamily="34" charset="0"/>
                        </a:rPr>
                        <a:t>RoBERTa</a:t>
                      </a:r>
                      <a:r>
                        <a:rPr lang="en-AU" sz="900" b="0" i="0" u="none" strike="noStrike" dirty="0">
                          <a:solidFill>
                            <a:srgbClr val="000000"/>
                          </a:solidFill>
                          <a:effectLst/>
                          <a:latin typeface="Arial" panose="020B0604020202020204" pitchFamily="34" charset="0"/>
                          <a:cs typeface="Arial" panose="020B0604020202020204" pitchFamily="34" charset="0"/>
                        </a:rPr>
                        <a:t>-base, he added layers and complexity allow </a:t>
                      </a:r>
                      <a:r>
                        <a:rPr lang="en-AU" sz="900" b="0" i="0" u="none" strike="noStrike" dirty="0" err="1">
                          <a:solidFill>
                            <a:srgbClr val="000000"/>
                          </a:solidFill>
                          <a:effectLst/>
                          <a:latin typeface="Arial" panose="020B0604020202020204" pitchFamily="34" charset="0"/>
                          <a:cs typeface="Arial" panose="020B0604020202020204" pitchFamily="34" charset="0"/>
                        </a:rPr>
                        <a:t>RoBERTa</a:t>
                      </a:r>
                      <a:r>
                        <a:rPr lang="en-AU" sz="900" b="0" i="0" u="none" strike="noStrike" dirty="0">
                          <a:solidFill>
                            <a:srgbClr val="000000"/>
                          </a:solidFill>
                          <a:effectLst/>
                          <a:latin typeface="Arial" panose="020B0604020202020204" pitchFamily="34" charset="0"/>
                          <a:cs typeface="Arial" panose="020B0604020202020204" pitchFamily="34" charset="0"/>
                        </a:rPr>
                        <a:t>-large to extract deeper features from the input text, giving it an edge in classification tasks where nuanced understanding is essential.</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0127253"/>
                  </a:ext>
                </a:extLst>
              </a:tr>
              <a:tr h="638676">
                <a:tc>
                  <a:txBody>
                    <a:bodyPr/>
                    <a:lstStyle/>
                    <a:p>
                      <a:pPr algn="l" fontAlgn="b"/>
                      <a:r>
                        <a:rPr lang="en-AU" sz="1000" b="1" i="0" u="none" strike="noStrike" dirty="0" err="1">
                          <a:solidFill>
                            <a:srgbClr val="000000"/>
                          </a:solidFill>
                          <a:effectLst/>
                          <a:latin typeface="Arial" panose="020B0604020202020204" pitchFamily="34" charset="0"/>
                          <a:cs typeface="Arial" panose="020B0604020202020204" pitchFamily="34" charset="0"/>
                        </a:rPr>
                        <a:t>RoBERTa</a:t>
                      </a:r>
                      <a:r>
                        <a:rPr lang="en-AU" sz="1000" b="1" i="0" u="none" strike="noStrike" dirty="0">
                          <a:solidFill>
                            <a:srgbClr val="000000"/>
                          </a:solidFill>
                          <a:effectLst/>
                          <a:latin typeface="Arial" panose="020B0604020202020204" pitchFamily="34" charset="0"/>
                          <a:cs typeface="Arial" panose="020B0604020202020204" pitchFamily="34" charset="0"/>
                        </a:rPr>
                        <a:t>-large-</a:t>
                      </a:r>
                      <a:r>
                        <a:rPr lang="en-AU" sz="1000" b="1" i="0" u="none" strike="noStrike" dirty="0" err="1">
                          <a:solidFill>
                            <a:srgbClr val="000000"/>
                          </a:solidFill>
                          <a:effectLst/>
                          <a:latin typeface="Arial" panose="020B0604020202020204" pitchFamily="34" charset="0"/>
                          <a:cs typeface="Arial" panose="020B0604020202020204" pitchFamily="34" charset="0"/>
                        </a:rPr>
                        <a:t>hyperparamTune</a:t>
                      </a:r>
                      <a:endParaRPr lang="en-AU" sz="1000" b="1" i="0" u="none" strike="noStrike" dirty="0">
                        <a:solidFill>
                          <a:srgbClr val="000000"/>
                        </a:solidFill>
                        <a:effectLst/>
                        <a:latin typeface="Arial" panose="020B0604020202020204" pitchFamily="34" charset="0"/>
                        <a:cs typeface="Arial" panose="020B0604020202020204" pitchFamily="34" charset="0"/>
                      </a:endParaRP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b"/>
                      <a:r>
                        <a:rPr lang="en-AU" sz="1000" b="0" i="0" u="none" strike="noStrike">
                          <a:solidFill>
                            <a:srgbClr val="000000"/>
                          </a:solidFill>
                          <a:effectLst/>
                          <a:latin typeface="Arial" panose="020B0604020202020204" pitchFamily="34" charset="0"/>
                          <a:cs typeface="Arial" panose="020B0604020202020204" pitchFamily="34" charset="0"/>
                        </a:rPr>
                        <a:t>Transformer Encoder</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b"/>
                      <a:r>
                        <a:rPr lang="en-AU" sz="900" b="0" i="0" u="none" strike="noStrike" dirty="0">
                          <a:solidFill>
                            <a:srgbClr val="000000"/>
                          </a:solidFill>
                          <a:effectLst/>
                          <a:latin typeface="Arial" panose="020B0604020202020204" pitchFamily="34" charset="0"/>
                          <a:cs typeface="Arial" panose="020B0604020202020204" pitchFamily="34" charset="0"/>
                        </a:rPr>
                        <a:t>Fine-tuned version of </a:t>
                      </a:r>
                      <a:r>
                        <a:rPr lang="en-AU" sz="900" b="0" i="0" u="none" strike="noStrike" dirty="0" err="1">
                          <a:solidFill>
                            <a:srgbClr val="000000"/>
                          </a:solidFill>
                          <a:effectLst/>
                          <a:latin typeface="Arial" panose="020B0604020202020204" pitchFamily="34" charset="0"/>
                          <a:cs typeface="Arial" panose="020B0604020202020204" pitchFamily="34" charset="0"/>
                        </a:rPr>
                        <a:t>RoBERTa</a:t>
                      </a:r>
                      <a:r>
                        <a:rPr lang="en-AU" sz="900" b="0" i="0" u="none" strike="noStrike" dirty="0">
                          <a:solidFill>
                            <a:srgbClr val="000000"/>
                          </a:solidFill>
                          <a:effectLst/>
                          <a:latin typeface="Arial" panose="020B0604020202020204" pitchFamily="34" charset="0"/>
                          <a:cs typeface="Arial" panose="020B0604020202020204" pitchFamily="34" charset="0"/>
                        </a:rPr>
                        <a:t>-large with optimised hyperparameters, resulting in significantly enhanced performance.</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120687296"/>
                  </a:ext>
                </a:extLst>
              </a:tr>
              <a:tr h="638676">
                <a:tc>
                  <a:txBody>
                    <a:bodyPr/>
                    <a:lstStyle/>
                    <a:p>
                      <a:pPr algn="l" fontAlgn="b"/>
                      <a:r>
                        <a:rPr lang="en-AU" sz="1000" b="1" i="0" u="none" strike="noStrike">
                          <a:solidFill>
                            <a:srgbClr val="000000"/>
                          </a:solidFill>
                          <a:effectLst/>
                          <a:latin typeface="Arial" panose="020B0604020202020204" pitchFamily="34" charset="0"/>
                          <a:cs typeface="Arial" panose="020B0604020202020204" pitchFamily="34" charset="0"/>
                        </a:rPr>
                        <a:t>DeBERTa-base</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000" b="0" i="0" u="none" strike="noStrike">
                          <a:solidFill>
                            <a:srgbClr val="000000"/>
                          </a:solidFill>
                          <a:effectLst/>
                          <a:latin typeface="Arial" panose="020B0604020202020204" pitchFamily="34" charset="0"/>
                          <a:cs typeface="Arial" panose="020B0604020202020204" pitchFamily="34" charset="0"/>
                        </a:rPr>
                        <a:t>Transformer Encoder with Disentangled Attention</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900" b="0" i="0" u="none" strike="noStrike" dirty="0">
                          <a:solidFill>
                            <a:srgbClr val="000000"/>
                          </a:solidFill>
                          <a:effectLst/>
                          <a:latin typeface="Arial" panose="020B0604020202020204" pitchFamily="34" charset="0"/>
                          <a:cs typeface="Arial" panose="020B0604020202020204" pitchFamily="34" charset="0"/>
                        </a:rPr>
                        <a:t>Enhanced handling of dependency between words; handles positional and content-based relationships separately.</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13771452"/>
                  </a:ext>
                </a:extLst>
              </a:tr>
              <a:tr h="638676">
                <a:tc>
                  <a:txBody>
                    <a:bodyPr/>
                    <a:lstStyle/>
                    <a:p>
                      <a:pPr algn="l" fontAlgn="b"/>
                      <a:r>
                        <a:rPr lang="en-AU" sz="1000" b="1" i="0" u="none" strike="noStrike" dirty="0">
                          <a:solidFill>
                            <a:srgbClr val="000000"/>
                          </a:solidFill>
                          <a:effectLst/>
                          <a:latin typeface="Arial" panose="020B0604020202020204" pitchFamily="34" charset="0"/>
                          <a:cs typeface="Arial" panose="020B0604020202020204" pitchFamily="34" charset="0"/>
                        </a:rPr>
                        <a:t>FOMC-</a:t>
                      </a:r>
                      <a:r>
                        <a:rPr lang="en-AU" sz="1000" b="1" i="0" u="none" strike="noStrike" dirty="0" err="1">
                          <a:solidFill>
                            <a:srgbClr val="000000"/>
                          </a:solidFill>
                          <a:effectLst/>
                          <a:latin typeface="Arial" panose="020B0604020202020204" pitchFamily="34" charset="0"/>
                          <a:cs typeface="Arial" panose="020B0604020202020204" pitchFamily="34" charset="0"/>
                        </a:rPr>
                        <a:t>RoBERTa</a:t>
                      </a:r>
                      <a:endParaRPr lang="en-AU" sz="1000" b="1" i="0" u="none" strike="noStrike" dirty="0">
                        <a:solidFill>
                          <a:srgbClr val="000000"/>
                        </a:solidFill>
                        <a:effectLst/>
                        <a:latin typeface="Arial" panose="020B0604020202020204" pitchFamily="34" charset="0"/>
                        <a:cs typeface="Arial" panose="020B0604020202020204" pitchFamily="34" charset="0"/>
                      </a:endParaRP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000" b="0" i="0" u="none" strike="noStrike" dirty="0">
                          <a:solidFill>
                            <a:srgbClr val="000000"/>
                          </a:solidFill>
                          <a:effectLst/>
                          <a:latin typeface="Arial" panose="020B0604020202020204" pitchFamily="34" charset="0"/>
                          <a:cs typeface="Arial" panose="020B0604020202020204" pitchFamily="34" charset="0"/>
                        </a:rPr>
                        <a:t>Transformer Encoder (Domain-Specific)</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900" b="0" i="0" u="none" strike="noStrike" dirty="0">
                          <a:solidFill>
                            <a:srgbClr val="000000"/>
                          </a:solidFill>
                          <a:effectLst/>
                          <a:latin typeface="Arial" panose="020B0604020202020204" pitchFamily="34" charset="0"/>
                          <a:cs typeface="Arial" panose="020B0604020202020204" pitchFamily="34" charset="0"/>
                        </a:rPr>
                        <a:t>Fine-tuned on FOMC-related texts, adapted for specific financial data context. Evidently had limited generalisation ability, and was likely overfit to its existing training data.</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49516093"/>
                  </a:ext>
                </a:extLst>
              </a:tr>
              <a:tr h="438071">
                <a:tc>
                  <a:txBody>
                    <a:bodyPr/>
                    <a:lstStyle/>
                    <a:p>
                      <a:pPr algn="l" fontAlgn="b"/>
                      <a:r>
                        <a:rPr lang="en-AU" sz="1000" b="1" i="0" u="none" strike="noStrike" dirty="0" err="1">
                          <a:solidFill>
                            <a:srgbClr val="000000"/>
                          </a:solidFill>
                          <a:effectLst/>
                          <a:latin typeface="Arial" panose="020B0604020202020204" pitchFamily="34" charset="0"/>
                          <a:cs typeface="Arial" panose="020B0604020202020204" pitchFamily="34" charset="0"/>
                        </a:rPr>
                        <a:t>Qwen</a:t>
                      </a:r>
                      <a:endParaRPr lang="en-AU" sz="1000" b="1" i="0" u="none" strike="noStrike" dirty="0">
                        <a:solidFill>
                          <a:srgbClr val="000000"/>
                        </a:solidFill>
                        <a:effectLst/>
                        <a:latin typeface="Arial" panose="020B0604020202020204" pitchFamily="34" charset="0"/>
                        <a:cs typeface="Arial" panose="020B0604020202020204" pitchFamily="34" charset="0"/>
                      </a:endParaRP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1000" b="0" i="0" u="none" strike="noStrike" dirty="0">
                          <a:solidFill>
                            <a:srgbClr val="000000"/>
                          </a:solidFill>
                          <a:effectLst/>
                          <a:latin typeface="Arial" panose="020B0604020202020204" pitchFamily="34" charset="0"/>
                          <a:cs typeface="Arial" panose="020B0604020202020204" pitchFamily="34" charset="0"/>
                        </a:rPr>
                        <a:t>Transformer Encoder</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AU" sz="900" b="0" i="0" u="none" strike="noStrike" dirty="0">
                          <a:solidFill>
                            <a:srgbClr val="000000"/>
                          </a:solidFill>
                          <a:effectLst/>
                          <a:latin typeface="Arial" panose="020B0604020202020204" pitchFamily="34" charset="0"/>
                          <a:cs typeface="Arial" panose="020B0604020202020204" pitchFamily="34" charset="0"/>
                        </a:rPr>
                        <a:t>Performance was limited compared to larger, optimised models due to fewer parameters and general-purpose training.</a:t>
                      </a:r>
                    </a:p>
                  </a:txBody>
                  <a:tcPr marL="8726" marR="8726" marT="872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75793471"/>
                  </a:ext>
                </a:extLst>
              </a:tr>
            </a:tbl>
          </a:graphicData>
        </a:graphic>
      </p:graphicFrame>
    </p:spTree>
    <p:extLst>
      <p:ext uri="{BB962C8B-B14F-4D97-AF65-F5344CB8AC3E}">
        <p14:creationId xmlns:p14="http://schemas.microsoft.com/office/powerpoint/2010/main" val="2262191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CA24898-0019-685B-6BD1-05B2421F726B}"/>
              </a:ext>
            </a:extLst>
          </p:cNvPr>
          <p:cNvSpPr>
            <a:spLocks noGrp="1"/>
          </p:cNvSpPr>
          <p:nvPr>
            <p:ph type="sldNum" sz="quarter" idx="12"/>
          </p:nvPr>
        </p:nvSpPr>
        <p:spPr/>
        <p:txBody>
          <a:bodyPr/>
          <a:lstStyle/>
          <a:p>
            <a:fld id="{6BAD6A8B-B5C3-4437-A9DE-A8C2149171DD}" type="slidenum">
              <a:rPr lang="en-AU" smtClean="0"/>
              <a:t>16</a:t>
            </a:fld>
            <a:endParaRPr lang="en-AU"/>
          </a:p>
        </p:txBody>
      </p:sp>
      <p:sp>
        <p:nvSpPr>
          <p:cNvPr id="7" name="Title 1">
            <a:extLst>
              <a:ext uri="{FF2B5EF4-FFF2-40B4-BE49-F238E27FC236}">
                <a16:creationId xmlns:a16="http://schemas.microsoft.com/office/drawing/2014/main" id="{074B4605-DB91-7BA1-90AB-473590E1C23E}"/>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sz="2500" dirty="0"/>
              <a:t>Results – </a:t>
            </a:r>
            <a:r>
              <a:rPr lang="en-AU" sz="2500" b="0" i="0" dirty="0">
                <a:effectLst/>
                <a:latin typeface="Arial" panose="020B0604020202020204" pitchFamily="34" charset="0"/>
              </a:rPr>
              <a:t>Local Interpretable Model-agnostic Explanations</a:t>
            </a:r>
            <a:endParaRPr lang="en-AU" sz="2500" dirty="0"/>
          </a:p>
        </p:txBody>
      </p:sp>
      <p:cxnSp>
        <p:nvCxnSpPr>
          <p:cNvPr id="9" name="Google Shape;119;g12f20562990_0_39">
            <a:extLst>
              <a:ext uri="{FF2B5EF4-FFF2-40B4-BE49-F238E27FC236}">
                <a16:creationId xmlns:a16="http://schemas.microsoft.com/office/drawing/2014/main" id="{E7801210-751C-09BB-2105-C915C701C4E3}"/>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10" name="Slide Number Placeholder 3">
            <a:extLst>
              <a:ext uri="{FF2B5EF4-FFF2-40B4-BE49-F238E27FC236}">
                <a16:creationId xmlns:a16="http://schemas.microsoft.com/office/drawing/2014/main" id="{8B4924A1-4643-34B6-18BB-8D291CFF72F0}"/>
              </a:ext>
            </a:extLst>
          </p:cNvPr>
          <p:cNvSpPr txBox="1">
            <a:spLocks/>
          </p:cNvSpPr>
          <p:nvPr/>
        </p:nvSpPr>
        <p:spPr>
          <a:xfrm>
            <a:off x="8326817"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dirty="0"/>
          </a:p>
        </p:txBody>
      </p:sp>
      <p:grpSp>
        <p:nvGrpSpPr>
          <p:cNvPr id="20" name="Google Shape;121;g12f20562990_0_39">
            <a:extLst>
              <a:ext uri="{FF2B5EF4-FFF2-40B4-BE49-F238E27FC236}">
                <a16:creationId xmlns:a16="http://schemas.microsoft.com/office/drawing/2014/main" id="{A828786E-A937-3EDA-09E0-6C297668604A}"/>
              </a:ext>
            </a:extLst>
          </p:cNvPr>
          <p:cNvGrpSpPr/>
          <p:nvPr/>
        </p:nvGrpSpPr>
        <p:grpSpPr>
          <a:xfrm>
            <a:off x="2610855" y="6225545"/>
            <a:ext cx="6060176" cy="365125"/>
            <a:chOff x="1425588" y="6394039"/>
            <a:chExt cx="9340906" cy="363742"/>
          </a:xfrm>
        </p:grpSpPr>
        <p:sp>
          <p:nvSpPr>
            <p:cNvPr id="21" name="Google Shape;122;g12f20562990_0_39">
              <a:extLst>
                <a:ext uri="{FF2B5EF4-FFF2-40B4-BE49-F238E27FC236}">
                  <a16:creationId xmlns:a16="http://schemas.microsoft.com/office/drawing/2014/main" id="{3826A168-0A71-A73A-EFC0-9D023C5BD029}"/>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22" name="Google Shape;123;g12f20562990_0_39">
              <a:extLst>
                <a:ext uri="{FF2B5EF4-FFF2-40B4-BE49-F238E27FC236}">
                  <a16:creationId xmlns:a16="http://schemas.microsoft.com/office/drawing/2014/main" id="{15EC11DC-8883-54E8-61A9-5AB8196E44A4}"/>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23" name="Google Shape;124;g12f20562990_0_39">
              <a:extLst>
                <a:ext uri="{FF2B5EF4-FFF2-40B4-BE49-F238E27FC236}">
                  <a16:creationId xmlns:a16="http://schemas.microsoft.com/office/drawing/2014/main" id="{4D73926B-6F06-ECC2-E67B-275EFAAAF02D}"/>
                </a:ext>
              </a:extLst>
            </p:cNvPr>
            <p:cNvSpPr/>
            <p:nvPr/>
          </p:nvSpPr>
          <p:spPr>
            <a:xfrm>
              <a:off x="5152512" y="6398681"/>
              <a:ext cx="19833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dk1"/>
                  </a:solidFill>
                  <a:latin typeface="+mj-lt"/>
                  <a:sym typeface="Avenir"/>
                </a:rPr>
                <a:t>Literature</a:t>
              </a:r>
              <a:endParaRPr sz="1400" b="1" i="0" u="none" strike="noStrike" cap="none" dirty="0">
                <a:solidFill>
                  <a:srgbClr val="000000"/>
                </a:solidFill>
                <a:latin typeface="+mj-lt"/>
                <a:sym typeface="Arial"/>
              </a:endParaRPr>
            </a:p>
          </p:txBody>
        </p:sp>
        <p:sp>
          <p:nvSpPr>
            <p:cNvPr id="24" name="Google Shape;125;g12f20562990_0_39">
              <a:extLst>
                <a:ext uri="{FF2B5EF4-FFF2-40B4-BE49-F238E27FC236}">
                  <a16:creationId xmlns:a16="http://schemas.microsoft.com/office/drawing/2014/main" id="{A87B2CD2-F566-F015-BEC3-32ECBDEA3FE2}"/>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5" name="Google Shape;126;g12f20562990_0_39">
              <a:extLst>
                <a:ext uri="{FF2B5EF4-FFF2-40B4-BE49-F238E27FC236}">
                  <a16:creationId xmlns:a16="http://schemas.microsoft.com/office/drawing/2014/main" id="{C3EA28B6-ACF4-BDAF-A721-AFC471C31921}"/>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6" name="Google Shape;126;g12f20562990_0_39">
            <a:extLst>
              <a:ext uri="{FF2B5EF4-FFF2-40B4-BE49-F238E27FC236}">
                <a16:creationId xmlns:a16="http://schemas.microsoft.com/office/drawing/2014/main" id="{C2ABC45C-A2FE-D1F7-E673-5D86037BA5E0}"/>
              </a:ext>
            </a:extLst>
          </p:cNvPr>
          <p:cNvSpPr/>
          <p:nvPr/>
        </p:nvSpPr>
        <p:spPr>
          <a:xfrm>
            <a:off x="8565790" y="6220885"/>
            <a:ext cx="1215097" cy="360465"/>
          </a:xfrm>
          <a:prstGeom prst="chevron">
            <a:avLst>
              <a:gd name="adj" fmla="val 50000"/>
            </a:avLst>
          </a:prstGeom>
          <a:solidFill>
            <a:srgbClr val="0032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bg1"/>
                </a:solidFill>
                <a:latin typeface="+mj-lt"/>
                <a:ea typeface="Avenir"/>
                <a:cs typeface="Avenir"/>
                <a:sym typeface="Avenir"/>
              </a:rPr>
              <a:t>Results</a:t>
            </a:r>
            <a:endParaRPr sz="1800" b="1" i="0" u="none" strike="noStrike" cap="none" dirty="0">
              <a:solidFill>
                <a:schemeClr val="bg1"/>
              </a:solidFill>
              <a:latin typeface="+mj-lt"/>
              <a:ea typeface="Calibri"/>
              <a:cs typeface="Calibri"/>
              <a:sym typeface="Calibri"/>
            </a:endParaRPr>
          </a:p>
        </p:txBody>
      </p:sp>
      <p:sp>
        <p:nvSpPr>
          <p:cNvPr id="27" name="Google Shape;126;g12f20562990_0_39">
            <a:extLst>
              <a:ext uri="{FF2B5EF4-FFF2-40B4-BE49-F238E27FC236}">
                <a16:creationId xmlns:a16="http://schemas.microsoft.com/office/drawing/2014/main" id="{115C1F93-24D7-9AFC-83CF-93C160BBF0FB}"/>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28" name="Rectangle 27">
            <a:extLst>
              <a:ext uri="{FF2B5EF4-FFF2-40B4-BE49-F238E27FC236}">
                <a16:creationId xmlns:a16="http://schemas.microsoft.com/office/drawing/2014/main" id="{72DC64CA-3845-2C08-975D-36AAFF2417ED}"/>
              </a:ext>
            </a:extLst>
          </p:cNvPr>
          <p:cNvSpPr/>
          <p:nvPr/>
        </p:nvSpPr>
        <p:spPr>
          <a:xfrm>
            <a:off x="360695" y="1047081"/>
            <a:ext cx="4158296" cy="1073231"/>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solidFill>
                  <a:schemeClr val="tx1">
                    <a:lumMod val="95000"/>
                    <a:lumOff val="5000"/>
                  </a:schemeClr>
                </a:solidFill>
              </a:rPr>
              <a:t>The fine-tuned </a:t>
            </a:r>
            <a:r>
              <a:rPr lang="en-AU" sz="1200" dirty="0" err="1">
                <a:solidFill>
                  <a:schemeClr val="tx1">
                    <a:lumMod val="95000"/>
                    <a:lumOff val="5000"/>
                  </a:schemeClr>
                </a:solidFill>
              </a:rPr>
              <a:t>RoBERTa</a:t>
            </a:r>
            <a:r>
              <a:rPr lang="en-AU" sz="1200" dirty="0">
                <a:solidFill>
                  <a:schemeClr val="tx1">
                    <a:lumMod val="95000"/>
                    <a:lumOff val="5000"/>
                  </a:schemeClr>
                </a:solidFill>
              </a:rPr>
              <a:t>-large outperforms LSTM due to its advanced contextual understanding and precision in capturing financial language nuances, highlighting key differences in prediction accuracy and interpretability</a:t>
            </a:r>
          </a:p>
        </p:txBody>
      </p:sp>
      <p:sp>
        <p:nvSpPr>
          <p:cNvPr id="29" name="Rectangle 28">
            <a:extLst>
              <a:ext uri="{FF2B5EF4-FFF2-40B4-BE49-F238E27FC236}">
                <a16:creationId xmlns:a16="http://schemas.microsoft.com/office/drawing/2014/main" id="{7A53481A-678C-012D-9B36-8DCAD70A339F}"/>
              </a:ext>
            </a:extLst>
          </p:cNvPr>
          <p:cNvSpPr/>
          <p:nvPr/>
        </p:nvSpPr>
        <p:spPr>
          <a:xfrm>
            <a:off x="1510749" y="2845027"/>
            <a:ext cx="2993865" cy="783284"/>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dirty="0" err="1">
                <a:solidFill>
                  <a:schemeClr val="tx1">
                    <a:lumMod val="95000"/>
                    <a:lumOff val="5000"/>
                  </a:schemeClr>
                </a:solidFill>
              </a:rPr>
              <a:t>RoBERTa</a:t>
            </a:r>
            <a:r>
              <a:rPr lang="en-AU" sz="800" dirty="0">
                <a:solidFill>
                  <a:schemeClr val="tx1">
                    <a:lumMod val="95000"/>
                    <a:lumOff val="5000"/>
                  </a:schemeClr>
                </a:solidFill>
              </a:rPr>
              <a:t>-large-</a:t>
            </a:r>
            <a:r>
              <a:rPr lang="en-AU" sz="800" dirty="0" err="1">
                <a:solidFill>
                  <a:schemeClr val="tx1">
                    <a:lumMod val="95000"/>
                    <a:lumOff val="5000"/>
                  </a:schemeClr>
                </a:solidFill>
              </a:rPr>
              <a:t>hyperparamTune</a:t>
            </a:r>
            <a:r>
              <a:rPr lang="en-AU" sz="800" dirty="0">
                <a:solidFill>
                  <a:schemeClr val="tx1">
                    <a:lumMod val="95000"/>
                    <a:lumOff val="5000"/>
                  </a:schemeClr>
                </a:solidFill>
              </a:rPr>
              <a:t> shows high confidence in its classification (100% neutral), whereas LSTM exhibits uncertainty by spreading probabilities across different labels (neutral, dovish, hawkish).</a:t>
            </a:r>
            <a:endParaRPr lang="en-AU" sz="8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B4E8DB55-D50B-40BF-502C-5F09BF59C2E7}"/>
              </a:ext>
            </a:extLst>
          </p:cNvPr>
          <p:cNvSpPr/>
          <p:nvPr/>
        </p:nvSpPr>
        <p:spPr>
          <a:xfrm>
            <a:off x="1497496" y="3773307"/>
            <a:ext cx="2993865" cy="783284"/>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dirty="0">
                <a:solidFill>
                  <a:schemeClr val="tx1">
                    <a:lumMod val="95000"/>
                    <a:lumOff val="5000"/>
                  </a:schemeClr>
                </a:solidFill>
              </a:rPr>
              <a:t>The LSTM model highlights overlapping keywords across multiple labels, indicating weaker feature differentiation. In contrast, </a:t>
            </a:r>
            <a:r>
              <a:rPr lang="en-AU" sz="800" dirty="0" err="1">
                <a:solidFill>
                  <a:schemeClr val="tx1">
                    <a:lumMod val="95000"/>
                    <a:lumOff val="5000"/>
                  </a:schemeClr>
                </a:solidFill>
              </a:rPr>
              <a:t>RoBERTa</a:t>
            </a:r>
            <a:r>
              <a:rPr lang="en-AU" sz="800" dirty="0">
                <a:solidFill>
                  <a:schemeClr val="tx1">
                    <a:lumMod val="95000"/>
                    <a:lumOff val="5000"/>
                  </a:schemeClr>
                </a:solidFill>
              </a:rPr>
              <a:t>-large-</a:t>
            </a:r>
            <a:r>
              <a:rPr lang="en-AU" sz="800" dirty="0" err="1">
                <a:solidFill>
                  <a:schemeClr val="tx1">
                    <a:lumMod val="95000"/>
                    <a:lumOff val="5000"/>
                  </a:schemeClr>
                </a:solidFill>
              </a:rPr>
              <a:t>hyperparamTune</a:t>
            </a:r>
            <a:r>
              <a:rPr lang="en-AU" sz="800" dirty="0">
                <a:solidFill>
                  <a:schemeClr val="tx1">
                    <a:lumMod val="95000"/>
                    <a:lumOff val="5000"/>
                  </a:schemeClr>
                </a:solidFill>
              </a:rPr>
              <a:t> highlights specific words with minimal overlap, suggesting better feature extraction and contextual understanding.</a:t>
            </a:r>
            <a:endParaRPr lang="en-AU" sz="800" b="1" dirty="0">
              <a:solidFill>
                <a:schemeClr val="tx1">
                  <a:lumMod val="95000"/>
                  <a:lumOff val="5000"/>
                </a:schemeClr>
              </a:solidFill>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28E809FF-67F0-FA4A-2710-2C5B4EC235DD}"/>
              </a:ext>
            </a:extLst>
          </p:cNvPr>
          <p:cNvSpPr/>
          <p:nvPr/>
        </p:nvSpPr>
        <p:spPr>
          <a:xfrm>
            <a:off x="1510748" y="4722207"/>
            <a:ext cx="2993866" cy="783284"/>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800" dirty="0" err="1">
                <a:solidFill>
                  <a:schemeClr val="tx1">
                    <a:lumMod val="95000"/>
                    <a:lumOff val="5000"/>
                  </a:schemeClr>
                </a:solidFill>
              </a:rPr>
              <a:t>RoBERTa</a:t>
            </a:r>
            <a:r>
              <a:rPr lang="en-AU" sz="800" dirty="0">
                <a:solidFill>
                  <a:schemeClr val="tx1">
                    <a:lumMod val="95000"/>
                    <a:lumOff val="5000"/>
                  </a:schemeClr>
                </a:solidFill>
              </a:rPr>
              <a:t>-large-</a:t>
            </a:r>
            <a:r>
              <a:rPr lang="en-AU" sz="800" dirty="0" err="1">
                <a:solidFill>
                  <a:schemeClr val="tx1">
                    <a:lumMod val="95000"/>
                    <a:lumOff val="5000"/>
                  </a:schemeClr>
                </a:solidFill>
              </a:rPr>
              <a:t>hyperparamTune</a:t>
            </a:r>
            <a:r>
              <a:rPr lang="en-AU" sz="800" dirty="0">
                <a:solidFill>
                  <a:schemeClr val="tx1">
                    <a:lumMod val="95000"/>
                    <a:lumOff val="5000"/>
                  </a:schemeClr>
                </a:solidFill>
              </a:rPr>
              <a:t> demonstrates stronger contextual understanding, leading to more decisive classifications, whereas LSTM relies more on individual word-level importance, resulting in less precise predictions</a:t>
            </a:r>
            <a:endParaRPr lang="en-AU" sz="8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41" name="Google Shape;132;g12f20562990_0_39">
            <a:extLst>
              <a:ext uri="{FF2B5EF4-FFF2-40B4-BE49-F238E27FC236}">
                <a16:creationId xmlns:a16="http://schemas.microsoft.com/office/drawing/2014/main" id="{ABD5C2FA-270D-DC1D-562B-09FC743638C0}"/>
              </a:ext>
            </a:extLst>
          </p:cNvPr>
          <p:cNvSpPr/>
          <p:nvPr/>
        </p:nvSpPr>
        <p:spPr>
          <a:xfrm>
            <a:off x="360696" y="2417663"/>
            <a:ext cx="4158296" cy="286906"/>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i="0" u="none" strike="noStrike" cap="none" dirty="0">
                <a:solidFill>
                  <a:schemeClr val="bg1"/>
                </a:solidFill>
                <a:latin typeface="Arial" panose="020B0604020202020204" pitchFamily="34" charset="0"/>
                <a:ea typeface="Avenir"/>
                <a:cs typeface="Arial" panose="020B0604020202020204" pitchFamily="34" charset="0"/>
                <a:sym typeface="Avenir"/>
              </a:rPr>
              <a:t>Explainability of Performance</a:t>
            </a:r>
          </a:p>
        </p:txBody>
      </p:sp>
      <p:sp>
        <p:nvSpPr>
          <p:cNvPr id="42" name="Rectangle 41">
            <a:extLst>
              <a:ext uri="{FF2B5EF4-FFF2-40B4-BE49-F238E27FC236}">
                <a16:creationId xmlns:a16="http://schemas.microsoft.com/office/drawing/2014/main" id="{8B1C78BF-04F6-EC04-604C-E29765031825}"/>
              </a:ext>
            </a:extLst>
          </p:cNvPr>
          <p:cNvSpPr/>
          <p:nvPr/>
        </p:nvSpPr>
        <p:spPr>
          <a:xfrm>
            <a:off x="664146" y="2957903"/>
            <a:ext cx="573012" cy="582515"/>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sp>
        <p:nvSpPr>
          <p:cNvPr id="43" name="Rectangle 42">
            <a:extLst>
              <a:ext uri="{FF2B5EF4-FFF2-40B4-BE49-F238E27FC236}">
                <a16:creationId xmlns:a16="http://schemas.microsoft.com/office/drawing/2014/main" id="{EAEF12EF-FBDB-7768-7D68-AE1D2C1338BE}"/>
              </a:ext>
            </a:extLst>
          </p:cNvPr>
          <p:cNvSpPr/>
          <p:nvPr/>
        </p:nvSpPr>
        <p:spPr>
          <a:xfrm>
            <a:off x="652463" y="3863938"/>
            <a:ext cx="573012" cy="582515"/>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sp>
        <p:nvSpPr>
          <p:cNvPr id="44" name="Rectangle 43">
            <a:extLst>
              <a:ext uri="{FF2B5EF4-FFF2-40B4-BE49-F238E27FC236}">
                <a16:creationId xmlns:a16="http://schemas.microsoft.com/office/drawing/2014/main" id="{33826B58-7463-668A-FD40-D4EFB51BB89E}"/>
              </a:ext>
            </a:extLst>
          </p:cNvPr>
          <p:cNvSpPr/>
          <p:nvPr/>
        </p:nvSpPr>
        <p:spPr>
          <a:xfrm>
            <a:off x="635371" y="4769973"/>
            <a:ext cx="573012" cy="582515"/>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pic>
        <p:nvPicPr>
          <p:cNvPr id="46" name="Picture 45">
            <a:extLst>
              <a:ext uri="{FF2B5EF4-FFF2-40B4-BE49-F238E27FC236}">
                <a16:creationId xmlns:a16="http://schemas.microsoft.com/office/drawing/2014/main" id="{6E6D1CB9-342D-897A-8A1F-2F7BDC485D3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13883" y="3012435"/>
            <a:ext cx="473538" cy="473538"/>
          </a:xfrm>
          <a:prstGeom prst="rect">
            <a:avLst/>
          </a:prstGeom>
        </p:spPr>
      </p:pic>
      <p:pic>
        <p:nvPicPr>
          <p:cNvPr id="48" name="Picture 47">
            <a:extLst>
              <a:ext uri="{FF2B5EF4-FFF2-40B4-BE49-F238E27FC236}">
                <a16:creationId xmlns:a16="http://schemas.microsoft.com/office/drawing/2014/main" id="{70BA87D9-23A5-7065-B5A2-DC944C75A7E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08654" y="4816651"/>
            <a:ext cx="467108" cy="467108"/>
          </a:xfrm>
          <a:prstGeom prst="rect">
            <a:avLst/>
          </a:prstGeom>
        </p:spPr>
      </p:pic>
      <p:pic>
        <p:nvPicPr>
          <p:cNvPr id="49" name="Picture 48">
            <a:extLst>
              <a:ext uri="{FF2B5EF4-FFF2-40B4-BE49-F238E27FC236}">
                <a16:creationId xmlns:a16="http://schemas.microsoft.com/office/drawing/2014/main" id="{5CBF841F-4173-F136-6144-24D7BC95BAF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08654" y="3918383"/>
            <a:ext cx="460629" cy="460629"/>
          </a:xfrm>
          <a:prstGeom prst="rect">
            <a:avLst/>
          </a:prstGeom>
        </p:spPr>
      </p:pic>
      <p:sp>
        <p:nvSpPr>
          <p:cNvPr id="50" name="TextBox 49">
            <a:extLst>
              <a:ext uri="{FF2B5EF4-FFF2-40B4-BE49-F238E27FC236}">
                <a16:creationId xmlns:a16="http://schemas.microsoft.com/office/drawing/2014/main" id="{D9F4AAD6-6147-A15C-EF0F-44E11E118444}"/>
              </a:ext>
            </a:extLst>
          </p:cNvPr>
          <p:cNvSpPr txBox="1"/>
          <p:nvPr/>
        </p:nvSpPr>
        <p:spPr>
          <a:xfrm>
            <a:off x="119742" y="6225545"/>
            <a:ext cx="2291371"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Nigel Li (z5320405)</a:t>
            </a:r>
          </a:p>
        </p:txBody>
      </p:sp>
      <p:sp>
        <p:nvSpPr>
          <p:cNvPr id="3" name="Content Placeholder 2">
            <a:extLst>
              <a:ext uri="{FF2B5EF4-FFF2-40B4-BE49-F238E27FC236}">
                <a16:creationId xmlns:a16="http://schemas.microsoft.com/office/drawing/2014/main" id="{2FFE6AC1-D2EC-DEC1-4FE7-5CF177F7FE61}"/>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2984769D-BEDC-C4F1-A803-2ABF03C9B68A}"/>
              </a:ext>
            </a:extLst>
          </p:cNvPr>
          <p:cNvPicPr>
            <a:picLocks noChangeAspect="1"/>
          </p:cNvPicPr>
          <p:nvPr/>
        </p:nvPicPr>
        <p:blipFill>
          <a:blip r:embed="rId6"/>
          <a:stretch>
            <a:fillRect/>
          </a:stretch>
        </p:blipFill>
        <p:spPr>
          <a:xfrm>
            <a:off x="5079640" y="1115854"/>
            <a:ext cx="6972300" cy="2133600"/>
          </a:xfrm>
          <a:prstGeom prst="rect">
            <a:avLst/>
          </a:prstGeom>
        </p:spPr>
      </p:pic>
      <p:pic>
        <p:nvPicPr>
          <p:cNvPr id="11" name="Picture 10">
            <a:extLst>
              <a:ext uri="{FF2B5EF4-FFF2-40B4-BE49-F238E27FC236}">
                <a16:creationId xmlns:a16="http://schemas.microsoft.com/office/drawing/2014/main" id="{6FA461A4-BD1E-58FE-B935-B05D13C63991}"/>
              </a:ext>
            </a:extLst>
          </p:cNvPr>
          <p:cNvPicPr>
            <a:picLocks noChangeAspect="1"/>
          </p:cNvPicPr>
          <p:nvPr/>
        </p:nvPicPr>
        <p:blipFill>
          <a:blip r:embed="rId7"/>
          <a:stretch>
            <a:fillRect/>
          </a:stretch>
        </p:blipFill>
        <p:spPr>
          <a:xfrm>
            <a:off x="4996744" y="3371891"/>
            <a:ext cx="6946900" cy="2133600"/>
          </a:xfrm>
          <a:prstGeom prst="rect">
            <a:avLst/>
          </a:prstGeom>
        </p:spPr>
      </p:pic>
    </p:spTree>
    <p:extLst>
      <p:ext uri="{BB962C8B-B14F-4D97-AF65-F5344CB8AC3E}">
        <p14:creationId xmlns:p14="http://schemas.microsoft.com/office/powerpoint/2010/main" val="1446120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07B44-5B98-C85A-367B-1AC1F73542E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6732D7A-C8DC-82D1-97C1-C36CF9BAE837}"/>
              </a:ext>
            </a:extLst>
          </p:cNvPr>
          <p:cNvSpPr>
            <a:spLocks noGrp="1"/>
          </p:cNvSpPr>
          <p:nvPr>
            <p:ph type="sldNum" sz="quarter" idx="12"/>
          </p:nvPr>
        </p:nvSpPr>
        <p:spPr/>
        <p:txBody>
          <a:bodyPr/>
          <a:lstStyle/>
          <a:p>
            <a:fld id="{6BAD6A8B-B5C3-4437-A9DE-A8C2149171DD}" type="slidenum">
              <a:rPr lang="en-AU" smtClean="0"/>
              <a:t>17</a:t>
            </a:fld>
            <a:endParaRPr lang="en-AU"/>
          </a:p>
        </p:txBody>
      </p:sp>
      <p:sp>
        <p:nvSpPr>
          <p:cNvPr id="7" name="Title 1">
            <a:extLst>
              <a:ext uri="{FF2B5EF4-FFF2-40B4-BE49-F238E27FC236}">
                <a16:creationId xmlns:a16="http://schemas.microsoft.com/office/drawing/2014/main" id="{26AB447D-6CE8-C449-CA92-BF74A532BBE4}"/>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sz="2500" dirty="0"/>
              <a:t>Results – </a:t>
            </a:r>
            <a:r>
              <a:rPr lang="en-AU" sz="2500" b="0" i="0" dirty="0">
                <a:effectLst/>
                <a:latin typeface="Arial" panose="020B0604020202020204" pitchFamily="34" charset="0"/>
              </a:rPr>
              <a:t>Stacking Result</a:t>
            </a:r>
            <a:endParaRPr lang="en-AU" sz="2500" dirty="0"/>
          </a:p>
        </p:txBody>
      </p:sp>
      <p:cxnSp>
        <p:nvCxnSpPr>
          <p:cNvPr id="9" name="Google Shape;119;g12f20562990_0_39">
            <a:extLst>
              <a:ext uri="{FF2B5EF4-FFF2-40B4-BE49-F238E27FC236}">
                <a16:creationId xmlns:a16="http://schemas.microsoft.com/office/drawing/2014/main" id="{BA602640-64E3-355B-102D-4D157A1C3FBF}"/>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10" name="Slide Number Placeholder 3">
            <a:extLst>
              <a:ext uri="{FF2B5EF4-FFF2-40B4-BE49-F238E27FC236}">
                <a16:creationId xmlns:a16="http://schemas.microsoft.com/office/drawing/2014/main" id="{E6D049D1-ABE0-0675-0AA8-25E374176598}"/>
              </a:ext>
            </a:extLst>
          </p:cNvPr>
          <p:cNvSpPr txBox="1">
            <a:spLocks/>
          </p:cNvSpPr>
          <p:nvPr/>
        </p:nvSpPr>
        <p:spPr>
          <a:xfrm>
            <a:off x="8326817"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dirty="0"/>
          </a:p>
        </p:txBody>
      </p:sp>
      <p:grpSp>
        <p:nvGrpSpPr>
          <p:cNvPr id="20" name="Google Shape;121;g12f20562990_0_39">
            <a:extLst>
              <a:ext uri="{FF2B5EF4-FFF2-40B4-BE49-F238E27FC236}">
                <a16:creationId xmlns:a16="http://schemas.microsoft.com/office/drawing/2014/main" id="{52AE58D1-6961-664D-20BF-C7E7FC2D1CE2}"/>
              </a:ext>
            </a:extLst>
          </p:cNvPr>
          <p:cNvGrpSpPr/>
          <p:nvPr/>
        </p:nvGrpSpPr>
        <p:grpSpPr>
          <a:xfrm>
            <a:off x="2610855" y="6225545"/>
            <a:ext cx="6060176" cy="365125"/>
            <a:chOff x="1425588" y="6394039"/>
            <a:chExt cx="9340906" cy="363742"/>
          </a:xfrm>
        </p:grpSpPr>
        <p:sp>
          <p:nvSpPr>
            <p:cNvPr id="21" name="Google Shape;122;g12f20562990_0_39">
              <a:extLst>
                <a:ext uri="{FF2B5EF4-FFF2-40B4-BE49-F238E27FC236}">
                  <a16:creationId xmlns:a16="http://schemas.microsoft.com/office/drawing/2014/main" id="{C982B30D-AA35-CD22-27D6-018B9B3B91BD}"/>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22" name="Google Shape;123;g12f20562990_0_39">
              <a:extLst>
                <a:ext uri="{FF2B5EF4-FFF2-40B4-BE49-F238E27FC236}">
                  <a16:creationId xmlns:a16="http://schemas.microsoft.com/office/drawing/2014/main" id="{1425BE7C-3FE9-FF90-3668-529CC579900C}"/>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23" name="Google Shape;124;g12f20562990_0_39">
              <a:extLst>
                <a:ext uri="{FF2B5EF4-FFF2-40B4-BE49-F238E27FC236}">
                  <a16:creationId xmlns:a16="http://schemas.microsoft.com/office/drawing/2014/main" id="{5BCD3957-D2A3-DF58-6E40-99381D86792A}"/>
                </a:ext>
              </a:extLst>
            </p:cNvPr>
            <p:cNvSpPr/>
            <p:nvPr/>
          </p:nvSpPr>
          <p:spPr>
            <a:xfrm>
              <a:off x="5152512" y="6398681"/>
              <a:ext cx="19833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dk1"/>
                  </a:solidFill>
                  <a:latin typeface="+mj-lt"/>
                  <a:sym typeface="Avenir"/>
                </a:rPr>
                <a:t>Literature</a:t>
              </a:r>
              <a:endParaRPr sz="1400" b="1" i="0" u="none" strike="noStrike" cap="none" dirty="0">
                <a:solidFill>
                  <a:srgbClr val="000000"/>
                </a:solidFill>
                <a:latin typeface="+mj-lt"/>
                <a:sym typeface="Arial"/>
              </a:endParaRPr>
            </a:p>
          </p:txBody>
        </p:sp>
        <p:sp>
          <p:nvSpPr>
            <p:cNvPr id="24" name="Google Shape;125;g12f20562990_0_39">
              <a:extLst>
                <a:ext uri="{FF2B5EF4-FFF2-40B4-BE49-F238E27FC236}">
                  <a16:creationId xmlns:a16="http://schemas.microsoft.com/office/drawing/2014/main" id="{10550148-3C34-414F-E333-68008DBE4673}"/>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5" name="Google Shape;126;g12f20562990_0_39">
              <a:extLst>
                <a:ext uri="{FF2B5EF4-FFF2-40B4-BE49-F238E27FC236}">
                  <a16:creationId xmlns:a16="http://schemas.microsoft.com/office/drawing/2014/main" id="{B4AB64E5-8897-0642-2F6A-6E175B913445}"/>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6" name="Google Shape;126;g12f20562990_0_39">
            <a:extLst>
              <a:ext uri="{FF2B5EF4-FFF2-40B4-BE49-F238E27FC236}">
                <a16:creationId xmlns:a16="http://schemas.microsoft.com/office/drawing/2014/main" id="{B146FF2C-4817-B3EB-A74A-06CFA4BAC9F5}"/>
              </a:ext>
            </a:extLst>
          </p:cNvPr>
          <p:cNvSpPr/>
          <p:nvPr/>
        </p:nvSpPr>
        <p:spPr>
          <a:xfrm>
            <a:off x="8565790" y="6220885"/>
            <a:ext cx="1215097" cy="360465"/>
          </a:xfrm>
          <a:prstGeom prst="chevron">
            <a:avLst>
              <a:gd name="adj" fmla="val 50000"/>
            </a:avLst>
          </a:prstGeom>
          <a:solidFill>
            <a:srgbClr val="0032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bg1"/>
                </a:solidFill>
                <a:latin typeface="+mj-lt"/>
                <a:ea typeface="Avenir"/>
                <a:cs typeface="Avenir"/>
                <a:sym typeface="Avenir"/>
              </a:rPr>
              <a:t>Results</a:t>
            </a:r>
            <a:endParaRPr sz="1800" b="1" i="0" u="none" strike="noStrike" cap="none" dirty="0">
              <a:solidFill>
                <a:schemeClr val="bg1"/>
              </a:solidFill>
              <a:latin typeface="+mj-lt"/>
              <a:ea typeface="Calibri"/>
              <a:cs typeface="Calibri"/>
              <a:sym typeface="Calibri"/>
            </a:endParaRPr>
          </a:p>
        </p:txBody>
      </p:sp>
      <p:sp>
        <p:nvSpPr>
          <p:cNvPr id="27" name="Google Shape;126;g12f20562990_0_39">
            <a:extLst>
              <a:ext uri="{FF2B5EF4-FFF2-40B4-BE49-F238E27FC236}">
                <a16:creationId xmlns:a16="http://schemas.microsoft.com/office/drawing/2014/main" id="{5DE28B11-09DB-DBF5-74F2-93E8B5CE7269}"/>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50" name="TextBox 49">
            <a:extLst>
              <a:ext uri="{FF2B5EF4-FFF2-40B4-BE49-F238E27FC236}">
                <a16:creationId xmlns:a16="http://schemas.microsoft.com/office/drawing/2014/main" id="{6BAD0F2D-CFB6-0A64-40F5-D96A02AA6AF4}"/>
              </a:ext>
            </a:extLst>
          </p:cNvPr>
          <p:cNvSpPr txBox="1"/>
          <p:nvPr/>
        </p:nvSpPr>
        <p:spPr>
          <a:xfrm>
            <a:off x="119743" y="6225545"/>
            <a:ext cx="2028055" cy="430887"/>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Tong Zhang</a:t>
            </a:r>
          </a:p>
          <a:p>
            <a:endParaRPr lang="en-US" sz="1100" dirty="0">
              <a:latin typeface="Arial" panose="020B0604020202020204" pitchFamily="34" charset="0"/>
              <a:cs typeface="Arial" panose="020B0604020202020204" pitchFamily="34" charset="0"/>
            </a:endParaRPr>
          </a:p>
        </p:txBody>
      </p:sp>
      <p:grpSp>
        <p:nvGrpSpPr>
          <p:cNvPr id="36" name="Google Shape;158;p10">
            <a:extLst>
              <a:ext uri="{FF2B5EF4-FFF2-40B4-BE49-F238E27FC236}">
                <a16:creationId xmlns:a16="http://schemas.microsoft.com/office/drawing/2014/main" id="{80B1A6A2-6119-91AC-D127-4BD608C2DB93}"/>
              </a:ext>
            </a:extLst>
          </p:cNvPr>
          <p:cNvGrpSpPr/>
          <p:nvPr/>
        </p:nvGrpSpPr>
        <p:grpSpPr>
          <a:xfrm>
            <a:off x="312073" y="1552813"/>
            <a:ext cx="4104434" cy="430254"/>
            <a:chOff x="893004" y="1485456"/>
            <a:chExt cx="4155300" cy="214553"/>
          </a:xfrm>
        </p:grpSpPr>
        <p:sp>
          <p:nvSpPr>
            <p:cNvPr id="37" name="Google Shape;159;p10">
              <a:extLst>
                <a:ext uri="{FF2B5EF4-FFF2-40B4-BE49-F238E27FC236}">
                  <a16:creationId xmlns:a16="http://schemas.microsoft.com/office/drawing/2014/main" id="{9779014D-47CB-2911-E012-D1D88A6DEA2B}"/>
                </a:ext>
              </a:extLst>
            </p:cNvPr>
            <p:cNvSpPr/>
            <p:nvPr/>
          </p:nvSpPr>
          <p:spPr>
            <a:xfrm>
              <a:off x="893004" y="1485456"/>
              <a:ext cx="4155300" cy="195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100" b="1" dirty="0">
                  <a:solidFill>
                    <a:srgbClr val="171616"/>
                  </a:solidFill>
                  <a:latin typeface="+mj-lt"/>
                  <a:sym typeface="Quattrocento Sans"/>
                </a:rPr>
                <a:t>Stacking of FOMC-</a:t>
              </a:r>
              <a:r>
                <a:rPr lang="en-AU" sz="1100" b="1" dirty="0" err="1">
                  <a:solidFill>
                    <a:srgbClr val="171616"/>
                  </a:solidFill>
                  <a:latin typeface="+mj-lt"/>
                  <a:sym typeface="Quattrocento Sans"/>
                </a:rPr>
                <a:t>ROBERTa</a:t>
              </a:r>
              <a:r>
                <a:rPr lang="en-AU" sz="1100" b="1" dirty="0">
                  <a:solidFill>
                    <a:srgbClr val="171616"/>
                  </a:solidFill>
                  <a:latin typeface="+mj-lt"/>
                  <a:sym typeface="Quattrocento Sans"/>
                </a:rPr>
                <a:t> &amp; </a:t>
              </a:r>
              <a:r>
                <a:rPr lang="en-AU" sz="1100" b="1" dirty="0" err="1">
                  <a:solidFill>
                    <a:srgbClr val="171616"/>
                  </a:solidFill>
                  <a:latin typeface="+mj-lt"/>
                  <a:sym typeface="Quattrocento Sans"/>
                </a:rPr>
                <a:t>ROBERTa</a:t>
              </a:r>
              <a:r>
                <a:rPr lang="en-AU" sz="1100" b="1" dirty="0">
                  <a:solidFill>
                    <a:srgbClr val="171616"/>
                  </a:solidFill>
                  <a:latin typeface="+mj-lt"/>
                  <a:sym typeface="Quattrocento Sans"/>
                </a:rPr>
                <a:t>-large-</a:t>
              </a:r>
              <a:r>
                <a:rPr lang="en-AU" sz="1100" b="1" dirty="0" err="1">
                  <a:solidFill>
                    <a:srgbClr val="171616"/>
                  </a:solidFill>
                  <a:latin typeface="+mj-lt"/>
                  <a:sym typeface="Quattrocento Sans"/>
                </a:rPr>
                <a:t>hyperaparamTune</a:t>
              </a:r>
              <a:endParaRPr sz="1200" b="1" dirty="0">
                <a:latin typeface="+mj-lt"/>
              </a:endParaRPr>
            </a:p>
          </p:txBody>
        </p:sp>
        <p:cxnSp>
          <p:nvCxnSpPr>
            <p:cNvPr id="38" name="Google Shape;160;p10">
              <a:extLst>
                <a:ext uri="{FF2B5EF4-FFF2-40B4-BE49-F238E27FC236}">
                  <a16:creationId xmlns:a16="http://schemas.microsoft.com/office/drawing/2014/main" id="{65B38B7F-D111-2A31-7B38-F94DE170B8C9}"/>
                </a:ext>
              </a:extLst>
            </p:cNvPr>
            <p:cNvCxnSpPr/>
            <p:nvPr/>
          </p:nvCxnSpPr>
          <p:spPr>
            <a:xfrm>
              <a:off x="893004" y="1700009"/>
              <a:ext cx="4118100" cy="0"/>
            </a:xfrm>
            <a:prstGeom prst="straightConnector1">
              <a:avLst/>
            </a:prstGeom>
            <a:noFill/>
            <a:ln w="9525" cap="flat" cmpd="sng">
              <a:solidFill>
                <a:schemeClr val="accent1"/>
              </a:solidFill>
              <a:prstDash val="solid"/>
              <a:miter lim="800000"/>
              <a:headEnd type="none" w="sm" len="sm"/>
              <a:tailEnd type="none" w="sm" len="sm"/>
            </a:ln>
          </p:spPr>
        </p:cxnSp>
      </p:grpSp>
      <p:grpSp>
        <p:nvGrpSpPr>
          <p:cNvPr id="40" name="Google Shape;158;p10">
            <a:extLst>
              <a:ext uri="{FF2B5EF4-FFF2-40B4-BE49-F238E27FC236}">
                <a16:creationId xmlns:a16="http://schemas.microsoft.com/office/drawing/2014/main" id="{1200D3E3-23D1-871C-820B-C32A72D74734}"/>
              </a:ext>
            </a:extLst>
          </p:cNvPr>
          <p:cNvGrpSpPr/>
          <p:nvPr/>
        </p:nvGrpSpPr>
        <p:grpSpPr>
          <a:xfrm>
            <a:off x="4612516" y="1552813"/>
            <a:ext cx="4363844" cy="430254"/>
            <a:chOff x="893004" y="1485456"/>
            <a:chExt cx="4155300" cy="214553"/>
          </a:xfrm>
        </p:grpSpPr>
        <p:sp>
          <p:nvSpPr>
            <p:cNvPr id="45" name="Google Shape;159;p10">
              <a:extLst>
                <a:ext uri="{FF2B5EF4-FFF2-40B4-BE49-F238E27FC236}">
                  <a16:creationId xmlns:a16="http://schemas.microsoft.com/office/drawing/2014/main" id="{51FAAF11-4BA3-D78E-7F28-A745814D301D}"/>
                </a:ext>
              </a:extLst>
            </p:cNvPr>
            <p:cNvSpPr/>
            <p:nvPr/>
          </p:nvSpPr>
          <p:spPr>
            <a:xfrm>
              <a:off x="893004" y="1485456"/>
              <a:ext cx="4155300" cy="1959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AU" sz="1100" b="1" dirty="0">
                  <a:solidFill>
                    <a:srgbClr val="171616"/>
                  </a:solidFill>
                  <a:latin typeface="+mj-lt"/>
                  <a:sym typeface="Quattrocento Sans"/>
                </a:rPr>
                <a:t>Stacking of </a:t>
              </a:r>
              <a:r>
                <a:rPr lang="en-AU" sz="1100" b="1" dirty="0" err="1">
                  <a:solidFill>
                    <a:srgbClr val="171616"/>
                  </a:solidFill>
                  <a:latin typeface="+mj-lt"/>
                  <a:sym typeface="Quattrocento Sans"/>
                </a:rPr>
                <a:t>ROBERTa</a:t>
              </a:r>
              <a:r>
                <a:rPr lang="en-AU" sz="1100" b="1" dirty="0">
                  <a:solidFill>
                    <a:srgbClr val="171616"/>
                  </a:solidFill>
                  <a:latin typeface="+mj-lt"/>
                  <a:sym typeface="Quattrocento Sans"/>
                </a:rPr>
                <a:t>-large-</a:t>
              </a:r>
              <a:r>
                <a:rPr lang="en-AU" sz="1100" b="1" dirty="0" err="1">
                  <a:solidFill>
                    <a:srgbClr val="171616"/>
                  </a:solidFill>
                  <a:latin typeface="+mj-lt"/>
                  <a:sym typeface="Quattrocento Sans"/>
                </a:rPr>
                <a:t>hyperparamTune</a:t>
              </a:r>
              <a:r>
                <a:rPr lang="en-AU" sz="1100" b="1" dirty="0">
                  <a:solidFill>
                    <a:srgbClr val="171616"/>
                  </a:solidFill>
                  <a:latin typeface="+mj-lt"/>
                  <a:sym typeface="Quattrocento Sans"/>
                </a:rPr>
                <a:t> &amp; </a:t>
              </a:r>
              <a:r>
                <a:rPr lang="en-AU" sz="1100" b="1" dirty="0" err="1">
                  <a:solidFill>
                    <a:srgbClr val="171616"/>
                  </a:solidFill>
                  <a:latin typeface="+mj-lt"/>
                  <a:sym typeface="Quattrocento Sans"/>
                </a:rPr>
                <a:t>DeBERTa</a:t>
              </a:r>
              <a:endParaRPr sz="1200" dirty="0">
                <a:latin typeface="+mj-lt"/>
              </a:endParaRPr>
            </a:p>
          </p:txBody>
        </p:sp>
        <p:cxnSp>
          <p:nvCxnSpPr>
            <p:cNvPr id="47" name="Google Shape;160;p10">
              <a:extLst>
                <a:ext uri="{FF2B5EF4-FFF2-40B4-BE49-F238E27FC236}">
                  <a16:creationId xmlns:a16="http://schemas.microsoft.com/office/drawing/2014/main" id="{2B7B60AA-7D44-26C4-97F1-C2B8BADABDFA}"/>
                </a:ext>
              </a:extLst>
            </p:cNvPr>
            <p:cNvCxnSpPr/>
            <p:nvPr/>
          </p:nvCxnSpPr>
          <p:spPr>
            <a:xfrm>
              <a:off x="893004" y="1700009"/>
              <a:ext cx="4118100" cy="0"/>
            </a:xfrm>
            <a:prstGeom prst="straightConnector1">
              <a:avLst/>
            </a:prstGeom>
            <a:noFill/>
            <a:ln w="9525" cap="flat" cmpd="sng">
              <a:solidFill>
                <a:schemeClr val="accent1"/>
              </a:solidFill>
              <a:prstDash val="solid"/>
              <a:miter lim="800000"/>
              <a:headEnd type="none" w="sm" len="sm"/>
              <a:tailEnd type="none" w="sm" len="sm"/>
            </a:ln>
          </p:spPr>
        </p:cxnSp>
      </p:grpSp>
      <p:cxnSp>
        <p:nvCxnSpPr>
          <p:cNvPr id="51" name="Straight Arrow Connector 50">
            <a:extLst>
              <a:ext uri="{FF2B5EF4-FFF2-40B4-BE49-F238E27FC236}">
                <a16:creationId xmlns:a16="http://schemas.microsoft.com/office/drawing/2014/main" id="{E446D16C-0636-3FDA-ED6D-5D09F7676E00}"/>
              </a:ext>
            </a:extLst>
          </p:cNvPr>
          <p:cNvCxnSpPr>
            <a:cxnSpLocks/>
          </p:cNvCxnSpPr>
          <p:nvPr/>
        </p:nvCxnSpPr>
        <p:spPr>
          <a:xfrm flipV="1">
            <a:off x="9127629" y="1572035"/>
            <a:ext cx="0" cy="3605930"/>
          </a:xfrm>
          <a:prstGeom prst="straightConnector1">
            <a:avLst/>
          </a:prstGeom>
          <a:ln w="635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pic>
        <p:nvPicPr>
          <p:cNvPr id="54" name="Picture 53">
            <a:extLst>
              <a:ext uri="{FF2B5EF4-FFF2-40B4-BE49-F238E27FC236}">
                <a16:creationId xmlns:a16="http://schemas.microsoft.com/office/drawing/2014/main" id="{6027C88D-637C-278F-C7A8-7BC44625B224}"/>
              </a:ext>
            </a:extLst>
          </p:cNvPr>
          <p:cNvPicPr>
            <a:picLocks noChangeAspect="1"/>
          </p:cNvPicPr>
          <p:nvPr/>
        </p:nvPicPr>
        <p:blipFill>
          <a:blip r:embed="rId2"/>
          <a:stretch>
            <a:fillRect/>
          </a:stretch>
        </p:blipFill>
        <p:spPr>
          <a:xfrm>
            <a:off x="265563" y="2439022"/>
            <a:ext cx="4114199" cy="2311788"/>
          </a:xfrm>
          <a:prstGeom prst="rect">
            <a:avLst/>
          </a:prstGeom>
        </p:spPr>
      </p:pic>
      <p:sp>
        <p:nvSpPr>
          <p:cNvPr id="55" name="Rectangle 54">
            <a:extLst>
              <a:ext uri="{FF2B5EF4-FFF2-40B4-BE49-F238E27FC236}">
                <a16:creationId xmlns:a16="http://schemas.microsoft.com/office/drawing/2014/main" id="{5B1BB1EF-C9E5-1D3A-62D5-5BCF68137F3D}"/>
              </a:ext>
            </a:extLst>
          </p:cNvPr>
          <p:cNvSpPr/>
          <p:nvPr/>
        </p:nvSpPr>
        <p:spPr>
          <a:xfrm>
            <a:off x="9228702" y="2081683"/>
            <a:ext cx="2535666" cy="3113206"/>
          </a:xfrm>
          <a:prstGeom prst="rect">
            <a:avLst/>
          </a:prstGeom>
          <a:noFill/>
          <a:ln w="9525">
            <a:solidFill>
              <a:schemeClr val="tx1">
                <a:lumMod val="50000"/>
                <a:lumOff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AU" sz="1200" dirty="0">
              <a:solidFill>
                <a:schemeClr val="tx1"/>
              </a:solidFill>
            </a:endParaRPr>
          </a:p>
          <a:p>
            <a:pPr marL="285750" indent="-285750">
              <a:buFont typeface="Arial" panose="020B0604020202020204" pitchFamily="34" charset="0"/>
              <a:buChar char="―"/>
            </a:pPr>
            <a:r>
              <a:rPr lang="en-AU" sz="1200" dirty="0">
                <a:solidFill>
                  <a:schemeClr val="tx1"/>
                </a:solidFill>
              </a:rPr>
              <a:t>Advanced transformer techniques with a general large model, combined with disentangled attention &amp; field expertise</a:t>
            </a:r>
          </a:p>
          <a:p>
            <a:pPr marL="285750" indent="-285750">
              <a:buFont typeface="Arial" panose="020B0604020202020204" pitchFamily="34" charset="0"/>
              <a:buChar char="―"/>
            </a:pPr>
            <a:endParaRPr lang="en-AU" sz="1200" dirty="0">
              <a:solidFill>
                <a:schemeClr val="tx1"/>
              </a:solidFill>
            </a:endParaRPr>
          </a:p>
          <a:p>
            <a:pPr marL="285750" indent="-285750">
              <a:buFont typeface="Arial" panose="020B0604020202020204" pitchFamily="34" charset="0"/>
              <a:buChar char="―"/>
            </a:pPr>
            <a:r>
              <a:rPr lang="en-AU" sz="1200" dirty="0">
                <a:solidFill>
                  <a:schemeClr val="tx1"/>
                </a:solidFill>
              </a:rPr>
              <a:t>Potentially Complementary</a:t>
            </a:r>
          </a:p>
          <a:p>
            <a:pPr marL="285750" indent="-285750">
              <a:buFont typeface="Arial" panose="020B0604020202020204" pitchFamily="34" charset="0"/>
              <a:buChar char="―"/>
            </a:pPr>
            <a:endParaRPr lang="en-AU" sz="1200" dirty="0">
              <a:solidFill>
                <a:schemeClr val="tx1"/>
              </a:solidFill>
            </a:endParaRPr>
          </a:p>
          <a:p>
            <a:pPr marL="285750" indent="-285750">
              <a:buFont typeface="Arial" panose="020B0604020202020204" pitchFamily="34" charset="0"/>
              <a:buChar char="―"/>
            </a:pPr>
            <a:r>
              <a:rPr lang="en-AU" sz="1200" dirty="0">
                <a:solidFill>
                  <a:schemeClr val="tx1"/>
                </a:solidFill>
              </a:rPr>
              <a:t>Strong individual performance, with </a:t>
            </a:r>
            <a:r>
              <a:rPr lang="en-AU" sz="1200" dirty="0" err="1">
                <a:solidFill>
                  <a:schemeClr val="tx1"/>
                </a:solidFill>
              </a:rPr>
              <a:t>DeBERTa</a:t>
            </a:r>
            <a:r>
              <a:rPr lang="en-AU" sz="1200" dirty="0">
                <a:solidFill>
                  <a:schemeClr val="tx1"/>
                </a:solidFill>
              </a:rPr>
              <a:t> with the ability to generalise, while </a:t>
            </a:r>
            <a:r>
              <a:rPr lang="en-AU" sz="1200" dirty="0" err="1">
                <a:solidFill>
                  <a:schemeClr val="tx1"/>
                </a:solidFill>
              </a:rPr>
              <a:t>RoBERTa’s</a:t>
            </a:r>
            <a:r>
              <a:rPr lang="en-AU" sz="1200" dirty="0">
                <a:solidFill>
                  <a:schemeClr val="tx1"/>
                </a:solidFill>
              </a:rPr>
              <a:t> larger pre-training give it the ability to understand large constructs. Likewise, with FOMC-</a:t>
            </a:r>
            <a:r>
              <a:rPr lang="en-AU" sz="1200" dirty="0" err="1">
                <a:solidFill>
                  <a:schemeClr val="tx1"/>
                </a:solidFill>
              </a:rPr>
              <a:t>RoBERTa</a:t>
            </a:r>
            <a:endParaRPr lang="en-AU" sz="1200" dirty="0">
              <a:solidFill>
                <a:schemeClr val="tx1"/>
              </a:solidFill>
            </a:endParaRPr>
          </a:p>
          <a:p>
            <a:pPr marL="285750" indent="-285750">
              <a:buFont typeface="Arial" panose="020B0604020202020204" pitchFamily="34" charset="0"/>
              <a:buChar char="―"/>
            </a:pPr>
            <a:endParaRPr lang="en-AU" sz="1200" dirty="0">
              <a:solidFill>
                <a:schemeClr val="tx1"/>
              </a:solidFill>
            </a:endParaRPr>
          </a:p>
        </p:txBody>
      </p:sp>
      <p:sp>
        <p:nvSpPr>
          <p:cNvPr id="56" name="Text Placeholder 2">
            <a:extLst>
              <a:ext uri="{FF2B5EF4-FFF2-40B4-BE49-F238E27FC236}">
                <a16:creationId xmlns:a16="http://schemas.microsoft.com/office/drawing/2014/main" id="{659F4261-BC4E-57A2-B3EF-8BA5C0CF83ED}"/>
              </a:ext>
            </a:extLst>
          </p:cNvPr>
          <p:cNvSpPr txBox="1">
            <a:spLocks/>
          </p:cNvSpPr>
          <p:nvPr/>
        </p:nvSpPr>
        <p:spPr>
          <a:xfrm>
            <a:off x="9210687" y="1589578"/>
            <a:ext cx="2551851" cy="373006"/>
          </a:xfrm>
          <a:prstGeom prst="rect">
            <a:avLst/>
          </a:prstGeom>
          <a:solidFill>
            <a:srgbClr val="252849"/>
          </a:solidFill>
          <a:ln>
            <a:noFill/>
            <a:prstDash val="dash"/>
          </a:ln>
        </p:spPr>
        <p:txBody>
          <a:bodyPr anchor="ctr" anchorCtr="0"/>
          <a:lstStyle>
            <a:lvl1pPr marL="0" indent="0" algn="l" defTabSz="914400" rtl="0" eaLnBrk="1" latinLnBrk="0" hangingPunct="1">
              <a:lnSpc>
                <a:spcPct val="90000"/>
              </a:lnSpc>
              <a:spcBef>
                <a:spcPts val="1000"/>
              </a:spcBef>
              <a:buFont typeface="Wingdings" panose="05000000000000000000" pitchFamily="2" charset="2"/>
              <a:buNone/>
              <a:defRPr sz="1600" b="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v"/>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Ø"/>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ü"/>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q"/>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dirty="0">
                <a:solidFill>
                  <a:schemeClr val="bg1"/>
                </a:solidFill>
                <a:latin typeface="Arial" panose="020B0604020202020204" pitchFamily="34" charset="0"/>
                <a:cs typeface="Arial" panose="020B0604020202020204" pitchFamily="34" charset="0"/>
              </a:rPr>
              <a:t>Why?</a:t>
            </a:r>
            <a:endParaRPr lang="en-AU" sz="1400" dirty="0">
              <a:solidFill>
                <a:schemeClr val="bg1"/>
              </a:solidFill>
              <a:latin typeface="Arial" panose="020B0604020202020204" pitchFamily="34" charset="0"/>
              <a:cs typeface="Arial" panose="020B0604020202020204" pitchFamily="34" charset="0"/>
            </a:endParaRPr>
          </a:p>
        </p:txBody>
      </p:sp>
      <p:cxnSp>
        <p:nvCxnSpPr>
          <p:cNvPr id="57" name="Google Shape;177;p6">
            <a:extLst>
              <a:ext uri="{FF2B5EF4-FFF2-40B4-BE49-F238E27FC236}">
                <a16:creationId xmlns:a16="http://schemas.microsoft.com/office/drawing/2014/main" id="{96FC79E2-4979-9D88-8C47-1E06EB9FBE3A}"/>
              </a:ext>
            </a:extLst>
          </p:cNvPr>
          <p:cNvCxnSpPr/>
          <p:nvPr/>
        </p:nvCxnSpPr>
        <p:spPr>
          <a:xfrm>
            <a:off x="373256" y="1473677"/>
            <a:ext cx="11144036" cy="0"/>
          </a:xfrm>
          <a:prstGeom prst="straightConnector1">
            <a:avLst/>
          </a:prstGeom>
          <a:noFill/>
          <a:ln w="9525" cap="flat" cmpd="sng">
            <a:solidFill>
              <a:srgbClr val="7F7F7F"/>
            </a:solidFill>
            <a:prstDash val="solid"/>
            <a:miter lim="800000"/>
            <a:headEnd type="none" w="sm" len="sm"/>
            <a:tailEnd type="none" w="sm" len="sm"/>
          </a:ln>
        </p:spPr>
      </p:cxnSp>
      <p:sp>
        <p:nvSpPr>
          <p:cNvPr id="59" name="TextBox 58">
            <a:extLst>
              <a:ext uri="{FF2B5EF4-FFF2-40B4-BE49-F238E27FC236}">
                <a16:creationId xmlns:a16="http://schemas.microsoft.com/office/drawing/2014/main" id="{BE872F70-3553-D008-EB30-722BFF6DDAE9}"/>
              </a:ext>
            </a:extLst>
          </p:cNvPr>
          <p:cNvSpPr txBox="1"/>
          <p:nvPr/>
        </p:nvSpPr>
        <p:spPr>
          <a:xfrm>
            <a:off x="295564" y="867532"/>
            <a:ext cx="11304779" cy="523220"/>
          </a:xfrm>
          <a:prstGeom prst="rect">
            <a:avLst/>
          </a:prstGeom>
          <a:noFill/>
        </p:spPr>
        <p:txBody>
          <a:bodyPr wrap="square">
            <a:spAutoFit/>
          </a:bodyPr>
          <a:lstStyle/>
          <a:p>
            <a:pPr>
              <a:buSzPts val="2800"/>
            </a:pPr>
            <a:r>
              <a:rPr lang="en-AU" sz="1400" i="1" dirty="0" err="1">
                <a:solidFill>
                  <a:schemeClr val="accent3">
                    <a:lumMod val="60000"/>
                    <a:lumOff val="40000"/>
                  </a:schemeClr>
                </a:solidFill>
                <a:latin typeface="Arial" panose="020B0604020202020204" pitchFamily="34" charset="0"/>
                <a:cs typeface="Arial" panose="020B0604020202020204" pitchFamily="34" charset="0"/>
              </a:rPr>
              <a:t>Etelis</a:t>
            </a:r>
            <a:r>
              <a:rPr lang="en-AU" sz="1400" i="1" dirty="0">
                <a:solidFill>
                  <a:schemeClr val="accent3">
                    <a:lumMod val="60000"/>
                    <a:lumOff val="40000"/>
                  </a:schemeClr>
                </a:solidFill>
                <a:latin typeface="Arial" panose="020B0604020202020204" pitchFamily="34" charset="0"/>
                <a:cs typeface="Arial" panose="020B0604020202020204" pitchFamily="34" charset="0"/>
              </a:rPr>
              <a:t> et al. (2023) demonstrated that ensemble stacking, incorporating diverse NLP model types, improves sentiment analysis performance beyond individual transformer models. Results did not appear to promising...</a:t>
            </a:r>
            <a:endParaRPr lang="en-US" sz="1400" b="1" i="1" u="none" strike="noStrike" cap="none" dirty="0">
              <a:solidFill>
                <a:schemeClr val="accent3">
                  <a:lumMod val="60000"/>
                  <a:lumOff val="40000"/>
                </a:schemeClr>
              </a:solidFill>
              <a:latin typeface="Arial" panose="020B0604020202020204" pitchFamily="34" charset="0"/>
              <a:ea typeface="Avenir"/>
              <a:cs typeface="Arial" panose="020B0604020202020204" pitchFamily="34" charset="0"/>
            </a:endParaRPr>
          </a:p>
        </p:txBody>
      </p:sp>
      <p:sp>
        <p:nvSpPr>
          <p:cNvPr id="63" name="TextBox 62">
            <a:extLst>
              <a:ext uri="{FF2B5EF4-FFF2-40B4-BE49-F238E27FC236}">
                <a16:creationId xmlns:a16="http://schemas.microsoft.com/office/drawing/2014/main" id="{8FFB81DE-CEC3-7CE6-37AB-6DD60AE8487B}"/>
              </a:ext>
            </a:extLst>
          </p:cNvPr>
          <p:cNvSpPr txBox="1"/>
          <p:nvPr/>
        </p:nvSpPr>
        <p:spPr>
          <a:xfrm>
            <a:off x="312073" y="5238464"/>
            <a:ext cx="11567251" cy="646331"/>
          </a:xfrm>
          <a:prstGeom prst="rect">
            <a:avLst/>
          </a:prstGeom>
          <a:noFill/>
        </p:spPr>
        <p:txBody>
          <a:bodyPr wrap="square">
            <a:spAutoFit/>
          </a:bodyPr>
          <a:lstStyle/>
          <a:p>
            <a:pPr algn="ctr"/>
            <a:r>
              <a:rPr lang="en-AU" sz="1200" dirty="0">
                <a:solidFill>
                  <a:schemeClr val="bg2">
                    <a:lumMod val="25000"/>
                  </a:schemeClr>
                </a:solidFill>
                <a:latin typeface="Arial" panose="020B0604020202020204" pitchFamily="34" charset="0"/>
                <a:cs typeface="Arial" panose="020B0604020202020204" pitchFamily="34" charset="0"/>
              </a:rPr>
              <a:t>The stacking of FOMC-</a:t>
            </a:r>
            <a:r>
              <a:rPr lang="en-AU" sz="1200" dirty="0" err="1">
                <a:solidFill>
                  <a:schemeClr val="bg2">
                    <a:lumMod val="25000"/>
                  </a:schemeClr>
                </a:solidFill>
                <a:latin typeface="Arial" panose="020B0604020202020204" pitchFamily="34" charset="0"/>
                <a:cs typeface="Arial" panose="020B0604020202020204" pitchFamily="34" charset="0"/>
              </a:rPr>
              <a:t>RoBERTa</a:t>
            </a:r>
            <a:r>
              <a:rPr lang="en-AU" sz="1200" dirty="0">
                <a:solidFill>
                  <a:schemeClr val="bg2">
                    <a:lumMod val="25000"/>
                  </a:schemeClr>
                </a:solidFill>
                <a:latin typeface="Arial" panose="020B0604020202020204" pitchFamily="34" charset="0"/>
                <a:cs typeface="Arial" panose="020B0604020202020204" pitchFamily="34" charset="0"/>
              </a:rPr>
              <a:t> with </a:t>
            </a:r>
            <a:r>
              <a:rPr lang="en-AU" sz="1200" dirty="0" err="1">
                <a:solidFill>
                  <a:schemeClr val="bg2">
                    <a:lumMod val="25000"/>
                  </a:schemeClr>
                </a:solidFill>
                <a:latin typeface="Arial" panose="020B0604020202020204" pitchFamily="34" charset="0"/>
                <a:cs typeface="Arial" panose="020B0604020202020204" pitchFamily="34" charset="0"/>
              </a:rPr>
              <a:t>RoBERTa</a:t>
            </a:r>
            <a:r>
              <a:rPr lang="en-AU" sz="1200" dirty="0">
                <a:solidFill>
                  <a:schemeClr val="bg2">
                    <a:lumMod val="25000"/>
                  </a:schemeClr>
                </a:solidFill>
                <a:latin typeface="Arial" panose="020B0604020202020204" pitchFamily="34" charset="0"/>
                <a:cs typeface="Arial" panose="020B0604020202020204" pitchFamily="34" charset="0"/>
              </a:rPr>
              <a:t>-large, as well as </a:t>
            </a:r>
            <a:r>
              <a:rPr lang="en-AU" sz="1200" dirty="0" err="1">
                <a:solidFill>
                  <a:schemeClr val="bg2">
                    <a:lumMod val="25000"/>
                  </a:schemeClr>
                </a:solidFill>
                <a:latin typeface="Arial" panose="020B0604020202020204" pitchFamily="34" charset="0"/>
                <a:cs typeface="Arial" panose="020B0604020202020204" pitchFamily="34" charset="0"/>
              </a:rPr>
              <a:t>DeBERTa</a:t>
            </a:r>
            <a:r>
              <a:rPr lang="en-AU" sz="1200" dirty="0">
                <a:solidFill>
                  <a:schemeClr val="bg2">
                    <a:lumMod val="25000"/>
                  </a:schemeClr>
                </a:solidFill>
                <a:latin typeface="Arial" panose="020B0604020202020204" pitchFamily="34" charset="0"/>
                <a:cs typeface="Arial" panose="020B0604020202020204" pitchFamily="34" charset="0"/>
              </a:rPr>
              <a:t> with </a:t>
            </a:r>
            <a:r>
              <a:rPr lang="en-AU" sz="1200" dirty="0" err="1">
                <a:solidFill>
                  <a:schemeClr val="bg2">
                    <a:lumMod val="25000"/>
                  </a:schemeClr>
                </a:solidFill>
                <a:latin typeface="Arial" panose="020B0604020202020204" pitchFamily="34" charset="0"/>
                <a:cs typeface="Arial" panose="020B0604020202020204" pitchFamily="34" charset="0"/>
              </a:rPr>
              <a:t>RoBERTa</a:t>
            </a:r>
            <a:r>
              <a:rPr lang="en-AU" sz="1200" dirty="0">
                <a:solidFill>
                  <a:schemeClr val="bg2">
                    <a:lumMod val="25000"/>
                  </a:schemeClr>
                </a:solidFill>
                <a:latin typeface="Arial" panose="020B0604020202020204" pitchFamily="34" charset="0"/>
                <a:cs typeface="Arial" panose="020B0604020202020204" pitchFamily="34" charset="0"/>
              </a:rPr>
              <a:t>-large, has not yielded strong results primarily due to </a:t>
            </a:r>
            <a:r>
              <a:rPr lang="en-AU" sz="1200" b="1" dirty="0">
                <a:solidFill>
                  <a:schemeClr val="bg2">
                    <a:lumMod val="25000"/>
                  </a:schemeClr>
                </a:solidFill>
                <a:latin typeface="Arial" panose="020B0604020202020204" pitchFamily="34" charset="0"/>
                <a:cs typeface="Arial" panose="020B0604020202020204" pitchFamily="34" charset="0"/>
              </a:rPr>
              <a:t>limited complementary strengths between the models</a:t>
            </a:r>
            <a:r>
              <a:rPr lang="en-AU" sz="1200" dirty="0">
                <a:solidFill>
                  <a:schemeClr val="bg2">
                    <a:lumMod val="25000"/>
                  </a:schemeClr>
                </a:solidFill>
                <a:latin typeface="Arial" panose="020B0604020202020204" pitchFamily="34" charset="0"/>
                <a:cs typeface="Arial" panose="020B0604020202020204" pitchFamily="34" charset="0"/>
              </a:rPr>
              <a:t>, where overfitting in domain-specific fine-tuned models (like FOMC-</a:t>
            </a:r>
            <a:r>
              <a:rPr lang="en-AU" sz="1200" dirty="0" err="1">
                <a:solidFill>
                  <a:schemeClr val="bg2">
                    <a:lumMod val="25000"/>
                  </a:schemeClr>
                </a:solidFill>
                <a:latin typeface="Arial" panose="020B0604020202020204" pitchFamily="34" charset="0"/>
                <a:cs typeface="Arial" panose="020B0604020202020204" pitchFamily="34" charset="0"/>
              </a:rPr>
              <a:t>RoBERTa</a:t>
            </a:r>
            <a:r>
              <a:rPr lang="en-AU" sz="1200" dirty="0">
                <a:solidFill>
                  <a:schemeClr val="bg2">
                    <a:lumMod val="25000"/>
                  </a:schemeClr>
                </a:solidFill>
                <a:latin typeface="Arial" panose="020B0604020202020204" pitchFamily="34" charset="0"/>
                <a:cs typeface="Arial" panose="020B0604020202020204" pitchFamily="34" charset="0"/>
              </a:rPr>
              <a:t>) and insufficient differentiation in feature extraction from similar Transformer structures reduce the diversity and generalisation advantages typically sought in stacked models.</a:t>
            </a:r>
          </a:p>
        </p:txBody>
      </p:sp>
      <p:pic>
        <p:nvPicPr>
          <p:cNvPr id="67" name="Picture 66">
            <a:extLst>
              <a:ext uri="{FF2B5EF4-FFF2-40B4-BE49-F238E27FC236}">
                <a16:creationId xmlns:a16="http://schemas.microsoft.com/office/drawing/2014/main" id="{23B5B21E-9A7F-7DEF-7E9A-40C8C886F5A2}"/>
              </a:ext>
            </a:extLst>
          </p:cNvPr>
          <p:cNvPicPr>
            <a:picLocks noChangeAspect="1"/>
          </p:cNvPicPr>
          <p:nvPr/>
        </p:nvPicPr>
        <p:blipFill>
          <a:blip r:embed="rId3"/>
          <a:stretch>
            <a:fillRect/>
          </a:stretch>
        </p:blipFill>
        <p:spPr>
          <a:xfrm>
            <a:off x="4438798" y="2425346"/>
            <a:ext cx="4660987" cy="2314800"/>
          </a:xfrm>
          <a:prstGeom prst="rect">
            <a:avLst/>
          </a:prstGeom>
        </p:spPr>
      </p:pic>
    </p:spTree>
    <p:extLst>
      <p:ext uri="{BB962C8B-B14F-4D97-AF65-F5344CB8AC3E}">
        <p14:creationId xmlns:p14="http://schemas.microsoft.com/office/powerpoint/2010/main" val="2506389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normAutofit/>
          </a:bodyPr>
          <a:lstStyle/>
          <a:p>
            <a:r>
              <a:rPr lang="en-GB" dirty="0"/>
              <a:t>Discussion</a:t>
            </a:r>
            <a:endParaRPr lang="en-AU" dirty="0"/>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18</a:t>
            </a:fld>
            <a:endParaRPr lang="en-AU"/>
          </a:p>
        </p:txBody>
      </p:sp>
      <p:sp>
        <p:nvSpPr>
          <p:cNvPr id="6" name="TextBox 5">
            <a:extLst>
              <a:ext uri="{FF2B5EF4-FFF2-40B4-BE49-F238E27FC236}">
                <a16:creationId xmlns:a16="http://schemas.microsoft.com/office/drawing/2014/main" id="{0699F208-1CDC-6FEA-A315-8FBE78581435}"/>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Nigel Li (z5320405)</a:t>
            </a:r>
          </a:p>
        </p:txBody>
      </p:sp>
      <p:cxnSp>
        <p:nvCxnSpPr>
          <p:cNvPr id="5" name="Google Shape;119;g12f20562990_0_39">
            <a:extLst>
              <a:ext uri="{FF2B5EF4-FFF2-40B4-BE49-F238E27FC236}">
                <a16:creationId xmlns:a16="http://schemas.microsoft.com/office/drawing/2014/main" id="{D890C135-BBF7-7CCA-5F5D-69FE69D17A62}"/>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7" name="Slide Number Placeholder 3">
            <a:extLst>
              <a:ext uri="{FF2B5EF4-FFF2-40B4-BE49-F238E27FC236}">
                <a16:creationId xmlns:a16="http://schemas.microsoft.com/office/drawing/2014/main" id="{03FBC622-5652-101C-7CE6-ABC30AD4F463}"/>
              </a:ext>
            </a:extLst>
          </p:cNvPr>
          <p:cNvSpPr txBox="1">
            <a:spLocks/>
          </p:cNvSpPr>
          <p:nvPr/>
        </p:nvSpPr>
        <p:spPr>
          <a:xfrm>
            <a:off x="8326817"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dirty="0"/>
          </a:p>
        </p:txBody>
      </p:sp>
      <p:grpSp>
        <p:nvGrpSpPr>
          <p:cNvPr id="16" name="Google Shape;121;g12f20562990_0_39">
            <a:extLst>
              <a:ext uri="{FF2B5EF4-FFF2-40B4-BE49-F238E27FC236}">
                <a16:creationId xmlns:a16="http://schemas.microsoft.com/office/drawing/2014/main" id="{597D0661-ACB2-C50C-A623-8A37A1123111}"/>
              </a:ext>
            </a:extLst>
          </p:cNvPr>
          <p:cNvGrpSpPr/>
          <p:nvPr/>
        </p:nvGrpSpPr>
        <p:grpSpPr>
          <a:xfrm>
            <a:off x="2610855" y="6225545"/>
            <a:ext cx="6060176" cy="365125"/>
            <a:chOff x="1425588" y="6394039"/>
            <a:chExt cx="9340906" cy="363742"/>
          </a:xfrm>
        </p:grpSpPr>
        <p:sp>
          <p:nvSpPr>
            <p:cNvPr id="17" name="Google Shape;122;g12f20562990_0_39">
              <a:extLst>
                <a:ext uri="{FF2B5EF4-FFF2-40B4-BE49-F238E27FC236}">
                  <a16:creationId xmlns:a16="http://schemas.microsoft.com/office/drawing/2014/main" id="{D7255A56-D093-035A-BC64-0A45C68DC572}"/>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8" name="Google Shape;123;g12f20562990_0_39">
              <a:extLst>
                <a:ext uri="{FF2B5EF4-FFF2-40B4-BE49-F238E27FC236}">
                  <a16:creationId xmlns:a16="http://schemas.microsoft.com/office/drawing/2014/main" id="{9AA99752-1D39-D10A-AB57-F5835BAF2E60}"/>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19" name="Google Shape;124;g12f20562990_0_39">
              <a:extLst>
                <a:ext uri="{FF2B5EF4-FFF2-40B4-BE49-F238E27FC236}">
                  <a16:creationId xmlns:a16="http://schemas.microsoft.com/office/drawing/2014/main" id="{7F87BBC4-48AE-9B9A-D631-DFEC1859E7CC}"/>
                </a:ext>
              </a:extLst>
            </p:cNvPr>
            <p:cNvSpPr/>
            <p:nvPr/>
          </p:nvSpPr>
          <p:spPr>
            <a:xfrm>
              <a:off x="5152512" y="6398681"/>
              <a:ext cx="19833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dk1"/>
                  </a:solidFill>
                  <a:latin typeface="+mj-lt"/>
                  <a:sym typeface="Avenir"/>
                </a:rPr>
                <a:t>Literature</a:t>
              </a:r>
              <a:endParaRPr sz="1400" b="1" i="0" u="none" strike="noStrike" cap="none" dirty="0">
                <a:solidFill>
                  <a:srgbClr val="000000"/>
                </a:solidFill>
                <a:latin typeface="+mj-lt"/>
                <a:sym typeface="Arial"/>
              </a:endParaRPr>
            </a:p>
          </p:txBody>
        </p:sp>
        <p:sp>
          <p:nvSpPr>
            <p:cNvPr id="20" name="Google Shape;125;g12f20562990_0_39">
              <a:extLst>
                <a:ext uri="{FF2B5EF4-FFF2-40B4-BE49-F238E27FC236}">
                  <a16:creationId xmlns:a16="http://schemas.microsoft.com/office/drawing/2014/main" id="{36D029E3-C4E9-4132-0E59-FCB875E168D5}"/>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1" name="Google Shape;126;g12f20562990_0_39">
              <a:extLst>
                <a:ext uri="{FF2B5EF4-FFF2-40B4-BE49-F238E27FC236}">
                  <a16:creationId xmlns:a16="http://schemas.microsoft.com/office/drawing/2014/main" id="{C3A475C5-E531-357B-28EA-F0C2BB176BEB}"/>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2" name="Google Shape;126;g12f20562990_0_39">
            <a:extLst>
              <a:ext uri="{FF2B5EF4-FFF2-40B4-BE49-F238E27FC236}">
                <a16:creationId xmlns:a16="http://schemas.microsoft.com/office/drawing/2014/main" id="{81E6DA70-1E7C-F942-CACD-FE3C1B0C0BF7}"/>
              </a:ext>
            </a:extLst>
          </p:cNvPr>
          <p:cNvSpPr/>
          <p:nvPr/>
        </p:nvSpPr>
        <p:spPr>
          <a:xfrm>
            <a:off x="8565790" y="6220885"/>
            <a:ext cx="1215097" cy="360465"/>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tx1">
                    <a:lumMod val="95000"/>
                    <a:lumOff val="5000"/>
                  </a:schemeClr>
                </a:solidFill>
                <a:latin typeface="+mj-lt"/>
                <a:ea typeface="Avenir"/>
                <a:cs typeface="Avenir"/>
                <a:sym typeface="Avenir"/>
              </a:rPr>
              <a:t>Results</a:t>
            </a:r>
            <a:endParaRPr sz="1800" b="1" i="0" u="none" strike="noStrike" cap="none" dirty="0">
              <a:solidFill>
                <a:schemeClr val="tx1">
                  <a:lumMod val="95000"/>
                  <a:lumOff val="5000"/>
                </a:schemeClr>
              </a:solidFill>
              <a:latin typeface="+mj-lt"/>
              <a:ea typeface="Calibri"/>
              <a:cs typeface="Calibri"/>
              <a:sym typeface="Calibri"/>
            </a:endParaRPr>
          </a:p>
        </p:txBody>
      </p:sp>
      <p:sp>
        <p:nvSpPr>
          <p:cNvPr id="23" name="Google Shape;126;g12f20562990_0_39">
            <a:extLst>
              <a:ext uri="{FF2B5EF4-FFF2-40B4-BE49-F238E27FC236}">
                <a16:creationId xmlns:a16="http://schemas.microsoft.com/office/drawing/2014/main" id="{1EA80B0E-E846-EA0B-53A7-2CC0AF45B977}"/>
              </a:ext>
            </a:extLst>
          </p:cNvPr>
          <p:cNvSpPr/>
          <p:nvPr/>
        </p:nvSpPr>
        <p:spPr>
          <a:xfrm>
            <a:off x="9675646" y="6220884"/>
            <a:ext cx="1215097" cy="360465"/>
          </a:xfrm>
          <a:prstGeom prst="chevron">
            <a:avLst>
              <a:gd name="adj" fmla="val 50000"/>
            </a:avLst>
          </a:prstGeom>
          <a:solidFill>
            <a:srgbClr val="0032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bg1"/>
                </a:solidFill>
                <a:latin typeface="+mj-lt"/>
                <a:ea typeface="Avenir"/>
                <a:cs typeface="Avenir"/>
                <a:sym typeface="Avenir"/>
              </a:rPr>
              <a:t>Conclusion</a:t>
            </a:r>
            <a:endParaRPr sz="1100" b="1" i="0" u="none" strike="noStrike" cap="none" dirty="0">
              <a:solidFill>
                <a:schemeClr val="bg1"/>
              </a:solidFill>
              <a:latin typeface="+mj-lt"/>
              <a:ea typeface="Calibri"/>
              <a:cs typeface="Calibri"/>
              <a:sym typeface="Calibri"/>
            </a:endParaRPr>
          </a:p>
        </p:txBody>
      </p:sp>
      <p:sp>
        <p:nvSpPr>
          <p:cNvPr id="8" name="Rectangle 7">
            <a:extLst>
              <a:ext uri="{FF2B5EF4-FFF2-40B4-BE49-F238E27FC236}">
                <a16:creationId xmlns:a16="http://schemas.microsoft.com/office/drawing/2014/main" id="{9405B8A9-70A7-7E74-0DF3-2126A497A2F1}"/>
              </a:ext>
            </a:extLst>
          </p:cNvPr>
          <p:cNvSpPr/>
          <p:nvPr/>
        </p:nvSpPr>
        <p:spPr>
          <a:xfrm>
            <a:off x="360694" y="1047081"/>
            <a:ext cx="4892900" cy="1073231"/>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1200" dirty="0">
                <a:solidFill>
                  <a:schemeClr val="tx1"/>
                </a:solidFill>
                <a:latin typeface="Arial" panose="020B0604020202020204" pitchFamily="34" charset="0"/>
                <a:cs typeface="Arial" panose="020B0604020202020204" pitchFamily="34" charset="0"/>
              </a:rPr>
              <a:t>A wide range of transformer-based models were evaluated with LSTM as the base model, including BERT, </a:t>
            </a:r>
            <a:r>
              <a:rPr lang="en-AU" sz="1200" dirty="0" err="1">
                <a:solidFill>
                  <a:schemeClr val="tx1"/>
                </a:solidFill>
                <a:latin typeface="Arial" panose="020B0604020202020204" pitchFamily="34" charset="0"/>
                <a:cs typeface="Arial" panose="020B0604020202020204" pitchFamily="34" charset="0"/>
              </a:rPr>
              <a:t>RoBERTa</a:t>
            </a:r>
            <a:r>
              <a:rPr lang="en-AU" sz="1200" dirty="0">
                <a:solidFill>
                  <a:schemeClr val="tx1"/>
                </a:solidFill>
                <a:latin typeface="Arial" panose="020B0604020202020204" pitchFamily="34" charset="0"/>
                <a:cs typeface="Arial" panose="020B0604020202020204" pitchFamily="34" charset="0"/>
              </a:rPr>
              <a:t>, </a:t>
            </a:r>
            <a:r>
              <a:rPr lang="en-AU" sz="1200" dirty="0" err="1">
                <a:solidFill>
                  <a:schemeClr val="tx1"/>
                </a:solidFill>
                <a:latin typeface="Arial" panose="020B0604020202020204" pitchFamily="34" charset="0"/>
                <a:cs typeface="Arial" panose="020B0604020202020204" pitchFamily="34" charset="0"/>
              </a:rPr>
              <a:t>DeBERTa</a:t>
            </a:r>
            <a:r>
              <a:rPr lang="en-AU" sz="1200" dirty="0">
                <a:solidFill>
                  <a:schemeClr val="tx1"/>
                </a:solidFill>
                <a:latin typeface="Arial" panose="020B0604020202020204" pitchFamily="34" charset="0"/>
                <a:cs typeface="Arial" panose="020B0604020202020204" pitchFamily="34" charset="0"/>
              </a:rPr>
              <a:t> and others, to assess their ability to classify sentiment in FOMC texts. A gradual iterative process did lead us to eventually reach almost-industry levels of accuracy….</a:t>
            </a:r>
          </a:p>
        </p:txBody>
      </p:sp>
      <p:pic>
        <p:nvPicPr>
          <p:cNvPr id="9" name="Picture 8">
            <a:extLst>
              <a:ext uri="{FF2B5EF4-FFF2-40B4-BE49-F238E27FC236}">
                <a16:creationId xmlns:a16="http://schemas.microsoft.com/office/drawing/2014/main" id="{DA7DFF67-A51B-FBB0-6FD1-044B2571F355}"/>
              </a:ext>
            </a:extLst>
          </p:cNvPr>
          <p:cNvPicPr>
            <a:picLocks noChangeAspect="1"/>
          </p:cNvPicPr>
          <p:nvPr/>
        </p:nvPicPr>
        <p:blipFill>
          <a:blip r:embed="rId2"/>
          <a:stretch>
            <a:fillRect/>
          </a:stretch>
        </p:blipFill>
        <p:spPr>
          <a:xfrm>
            <a:off x="474083" y="2729311"/>
            <a:ext cx="4779511" cy="2991928"/>
          </a:xfrm>
          <a:prstGeom prst="rect">
            <a:avLst/>
          </a:prstGeom>
        </p:spPr>
      </p:pic>
      <p:sp>
        <p:nvSpPr>
          <p:cNvPr id="10" name="TextBox 9">
            <a:extLst>
              <a:ext uri="{FF2B5EF4-FFF2-40B4-BE49-F238E27FC236}">
                <a16:creationId xmlns:a16="http://schemas.microsoft.com/office/drawing/2014/main" id="{AE814041-5FBE-B53A-95A2-5FB01135B3FF}"/>
              </a:ext>
            </a:extLst>
          </p:cNvPr>
          <p:cNvSpPr txBox="1"/>
          <p:nvPr/>
        </p:nvSpPr>
        <p:spPr>
          <a:xfrm>
            <a:off x="4293502" y="3649349"/>
            <a:ext cx="1261714" cy="830997"/>
          </a:xfrm>
          <a:prstGeom prst="rect">
            <a:avLst/>
          </a:prstGeom>
          <a:noFill/>
        </p:spPr>
        <p:txBody>
          <a:bodyPr wrap="square" rtlCol="0">
            <a:spAutoFit/>
          </a:bodyPr>
          <a:lstStyle/>
          <a:p>
            <a:r>
              <a:rPr lang="en-US" sz="1200" i="1" dirty="0">
                <a:latin typeface="Arial" panose="020B0604020202020204" pitchFamily="34" charset="0"/>
                <a:cs typeface="Arial" panose="020B0604020202020204" pitchFamily="34" charset="0"/>
              </a:rPr>
              <a:t>So is gradually reaching industry standards</a:t>
            </a:r>
          </a:p>
        </p:txBody>
      </p:sp>
      <p:sp>
        <p:nvSpPr>
          <p:cNvPr id="11" name="TextBox 10">
            <a:extLst>
              <a:ext uri="{FF2B5EF4-FFF2-40B4-BE49-F238E27FC236}">
                <a16:creationId xmlns:a16="http://schemas.microsoft.com/office/drawing/2014/main" id="{6A86834B-4638-A5E1-9803-83E212CCC148}"/>
              </a:ext>
            </a:extLst>
          </p:cNvPr>
          <p:cNvSpPr txBox="1"/>
          <p:nvPr/>
        </p:nvSpPr>
        <p:spPr>
          <a:xfrm>
            <a:off x="316409" y="5696935"/>
            <a:ext cx="5735866" cy="246221"/>
          </a:xfrm>
          <a:prstGeom prst="rect">
            <a:avLst/>
          </a:prstGeom>
          <a:noFill/>
        </p:spPr>
        <p:txBody>
          <a:bodyPr wrap="none" rtlCol="0">
            <a:spAutoFit/>
          </a:bodyPr>
          <a:lstStyle/>
          <a:p>
            <a:r>
              <a:rPr lang="en-US" sz="1000" i="1" dirty="0">
                <a:solidFill>
                  <a:schemeClr val="bg1">
                    <a:lumMod val="75000"/>
                  </a:schemeClr>
                </a:solidFill>
                <a:latin typeface="Arial" panose="020B0604020202020204" pitchFamily="34" charset="0"/>
                <a:cs typeface="Arial" panose="020B0604020202020204" pitchFamily="34" charset="0"/>
              </a:rPr>
              <a:t>Source: Wellington Management Quantitative Investment Group (Julia </a:t>
            </a:r>
            <a:r>
              <a:rPr lang="en-US" sz="1000" i="1" dirty="0" err="1">
                <a:solidFill>
                  <a:schemeClr val="bg1">
                    <a:lumMod val="75000"/>
                  </a:schemeClr>
                </a:solidFill>
                <a:latin typeface="Arial" panose="020B0604020202020204" pitchFamily="34" charset="0"/>
                <a:cs typeface="Arial" panose="020B0604020202020204" pitchFamily="34" charset="0"/>
              </a:rPr>
              <a:t>Klevak</a:t>
            </a:r>
            <a:r>
              <a:rPr lang="en-US" sz="1000" i="1" dirty="0">
                <a:solidFill>
                  <a:schemeClr val="bg1">
                    <a:lumMod val="75000"/>
                  </a:schemeClr>
                </a:solidFill>
                <a:latin typeface="Arial" panose="020B0604020202020204" pitchFamily="34" charset="0"/>
                <a:cs typeface="Arial" panose="020B0604020202020204" pitchFamily="34" charset="0"/>
              </a:rPr>
              <a:t>, Research Scientist)</a:t>
            </a:r>
          </a:p>
        </p:txBody>
      </p:sp>
      <p:sp>
        <p:nvSpPr>
          <p:cNvPr id="12" name="Rectangle 11">
            <a:extLst>
              <a:ext uri="{FF2B5EF4-FFF2-40B4-BE49-F238E27FC236}">
                <a16:creationId xmlns:a16="http://schemas.microsoft.com/office/drawing/2014/main" id="{EE3380B2-9C3E-3EE5-B010-AE41CAF071B0}"/>
              </a:ext>
            </a:extLst>
          </p:cNvPr>
          <p:cNvSpPr/>
          <p:nvPr/>
        </p:nvSpPr>
        <p:spPr>
          <a:xfrm>
            <a:off x="10494603" y="2852195"/>
            <a:ext cx="1020816" cy="1163757"/>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sp>
        <p:nvSpPr>
          <p:cNvPr id="13" name="Google Shape;132;g12f20562990_0_39">
            <a:extLst>
              <a:ext uri="{FF2B5EF4-FFF2-40B4-BE49-F238E27FC236}">
                <a16:creationId xmlns:a16="http://schemas.microsoft.com/office/drawing/2014/main" id="{5D88F90E-0579-D5C4-8BA7-97A7F5680327}"/>
              </a:ext>
            </a:extLst>
          </p:cNvPr>
          <p:cNvSpPr/>
          <p:nvPr/>
        </p:nvSpPr>
        <p:spPr>
          <a:xfrm>
            <a:off x="6515309" y="967386"/>
            <a:ext cx="4937373"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dirty="0">
                <a:solidFill>
                  <a:schemeClr val="bg1"/>
                </a:solidFill>
                <a:latin typeface="Arial" panose="020B0604020202020204" pitchFamily="34" charset="0"/>
                <a:cs typeface="Arial" panose="020B0604020202020204" pitchFamily="34" charset="0"/>
              </a:rPr>
              <a:t>Key Challenges</a:t>
            </a:r>
            <a:endParaRPr lang="en-AU" i="0" u="none" strike="noStrike" cap="none" dirty="0">
              <a:solidFill>
                <a:schemeClr val="bg1"/>
              </a:solidFill>
              <a:latin typeface="Arial" panose="020B0604020202020204" pitchFamily="34" charset="0"/>
              <a:ea typeface="Avenir"/>
              <a:cs typeface="Arial" panose="020B0604020202020204" pitchFamily="34" charset="0"/>
              <a:sym typeface="Avenir"/>
            </a:endParaRPr>
          </a:p>
        </p:txBody>
      </p:sp>
      <p:sp>
        <p:nvSpPr>
          <p:cNvPr id="14" name="Rectangle 13">
            <a:extLst>
              <a:ext uri="{FF2B5EF4-FFF2-40B4-BE49-F238E27FC236}">
                <a16:creationId xmlns:a16="http://schemas.microsoft.com/office/drawing/2014/main" id="{DD048525-7E1B-AFE0-A387-AC5F34257BA3}"/>
              </a:ext>
            </a:extLst>
          </p:cNvPr>
          <p:cNvSpPr/>
          <p:nvPr/>
        </p:nvSpPr>
        <p:spPr>
          <a:xfrm>
            <a:off x="6515309" y="2875274"/>
            <a:ext cx="3677672" cy="1209958"/>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000" b="1">
                <a:solidFill>
                  <a:schemeClr val="tx1"/>
                </a:solidFill>
              </a:rPr>
              <a:t>Computational Expensiveness</a:t>
            </a:r>
          </a:p>
          <a:p>
            <a:endParaRPr lang="en-AU" sz="1000" b="1">
              <a:solidFill>
                <a:schemeClr val="tx1"/>
              </a:solidFill>
            </a:endParaRPr>
          </a:p>
          <a:p>
            <a:pPr marL="171450" indent="-171450">
              <a:buFont typeface="Arial" panose="020B0604020202020204" pitchFamily="34" charset="0"/>
              <a:buChar char="•"/>
            </a:pPr>
            <a:r>
              <a:rPr lang="en-AU" sz="1000">
                <a:solidFill>
                  <a:schemeClr val="tx1"/>
                </a:solidFill>
              </a:rPr>
              <a:t>Training RoBERTa-large (25 hours on 3070 RTX GPU for hyperparam tuning of 10 combinations).</a:t>
            </a:r>
          </a:p>
          <a:p>
            <a:pPr marL="171450" indent="-171450">
              <a:buFont typeface="Arial" panose="020B0604020202020204" pitchFamily="34" charset="0"/>
              <a:buChar char="•"/>
            </a:pPr>
            <a:r>
              <a:rPr lang="en-AU" sz="1000">
                <a:solidFill>
                  <a:schemeClr val="tx1"/>
                </a:solidFill>
              </a:rPr>
              <a:t>High resource demand limits scalability.</a:t>
            </a:r>
            <a:endParaRPr lang="en-AU" sz="1000" dirty="0">
              <a:solidFill>
                <a:schemeClr val="tx1"/>
              </a:solidFill>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80D686F-C64D-7F3F-2F40-1FD65EE8765F}"/>
              </a:ext>
            </a:extLst>
          </p:cNvPr>
          <p:cNvSpPr/>
          <p:nvPr/>
        </p:nvSpPr>
        <p:spPr>
          <a:xfrm>
            <a:off x="10431866" y="1456330"/>
            <a:ext cx="1020816" cy="1163757"/>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pic>
        <p:nvPicPr>
          <p:cNvPr id="24" name="Picture 23">
            <a:extLst>
              <a:ext uri="{FF2B5EF4-FFF2-40B4-BE49-F238E27FC236}">
                <a16:creationId xmlns:a16="http://schemas.microsoft.com/office/drawing/2014/main" id="{B73446A6-2C2E-D832-C071-4D85AD95877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0631472" y="1682943"/>
            <a:ext cx="696663" cy="696663"/>
          </a:xfrm>
          <a:prstGeom prst="rect">
            <a:avLst/>
          </a:prstGeom>
        </p:spPr>
      </p:pic>
      <p:pic>
        <p:nvPicPr>
          <p:cNvPr id="25" name="Picture 24">
            <a:extLst>
              <a:ext uri="{FF2B5EF4-FFF2-40B4-BE49-F238E27FC236}">
                <a16:creationId xmlns:a16="http://schemas.microsoft.com/office/drawing/2014/main" id="{591D1283-69EC-9BFC-6ED3-6B31CDDC337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631472" y="3034419"/>
            <a:ext cx="783044" cy="783044"/>
          </a:xfrm>
          <a:prstGeom prst="rect">
            <a:avLst/>
          </a:prstGeom>
        </p:spPr>
      </p:pic>
      <p:sp>
        <p:nvSpPr>
          <p:cNvPr id="26" name="Rectangle 25">
            <a:extLst>
              <a:ext uri="{FF2B5EF4-FFF2-40B4-BE49-F238E27FC236}">
                <a16:creationId xmlns:a16="http://schemas.microsoft.com/office/drawing/2014/main" id="{89CC2955-0199-DEE6-C6F1-792452056A93}"/>
              </a:ext>
            </a:extLst>
          </p:cNvPr>
          <p:cNvSpPr/>
          <p:nvPr/>
        </p:nvSpPr>
        <p:spPr>
          <a:xfrm>
            <a:off x="6539951" y="1444906"/>
            <a:ext cx="3677672" cy="1209958"/>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000" b="1" dirty="0">
                <a:solidFill>
                  <a:schemeClr val="tx1"/>
                </a:solidFill>
              </a:rPr>
              <a:t>Fine Tuning Difficulties </a:t>
            </a:r>
          </a:p>
          <a:p>
            <a:endParaRPr lang="en-AU" sz="1000" b="1" dirty="0">
              <a:solidFill>
                <a:schemeClr val="tx1"/>
              </a:solidFill>
            </a:endParaRPr>
          </a:p>
          <a:p>
            <a:pPr marL="171450" indent="-171450">
              <a:buFont typeface="Arial" panose="020B0604020202020204" pitchFamily="34" charset="0"/>
              <a:buChar char="•"/>
            </a:pPr>
            <a:r>
              <a:rPr lang="en-AU" sz="1000" dirty="0">
                <a:solidFill>
                  <a:schemeClr val="tx1"/>
                </a:solidFill>
              </a:rPr>
              <a:t>Varied effectiveness for domain-specific texts (e.g., FOMC).</a:t>
            </a:r>
          </a:p>
          <a:p>
            <a:pPr marL="171450" indent="-171450">
              <a:buFont typeface="Arial" panose="020B0604020202020204" pitchFamily="34" charset="0"/>
              <a:buChar char="•"/>
            </a:pPr>
            <a:r>
              <a:rPr lang="en-AU" sz="1000" dirty="0">
                <a:solidFill>
                  <a:schemeClr val="tx1"/>
                </a:solidFill>
              </a:rPr>
              <a:t>Hyperparameter selection was challenging; risk of overfitting (e.g., FOMC-</a:t>
            </a:r>
            <a:r>
              <a:rPr lang="en-AU" sz="1000" dirty="0" err="1">
                <a:solidFill>
                  <a:schemeClr val="tx1"/>
                </a:solidFill>
              </a:rPr>
              <a:t>RoBERTa</a:t>
            </a:r>
            <a:r>
              <a:rPr lang="en-AU" sz="1000" dirty="0">
                <a:solidFill>
                  <a:schemeClr val="tx1"/>
                </a:solidFill>
              </a:rPr>
              <a:t>).</a:t>
            </a:r>
            <a:endParaRPr lang="en-AU" sz="1000" dirty="0">
              <a:solidFill>
                <a:schemeClr val="tx1"/>
              </a:solidFill>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1DEB60C9-5DD2-4E89-6526-57BF6F546E14}"/>
              </a:ext>
            </a:extLst>
          </p:cNvPr>
          <p:cNvSpPr txBox="1">
            <a:spLocks noChangeAspect="1"/>
          </p:cNvSpPr>
          <p:nvPr/>
        </p:nvSpPr>
        <p:spPr>
          <a:xfrm>
            <a:off x="2521072" y="2918578"/>
            <a:ext cx="1261714" cy="2354002"/>
          </a:xfrm>
          <a:prstGeom prst="rect">
            <a:avLst/>
          </a:prstGeom>
          <a:noFill/>
          <a:ln w="34925">
            <a:solidFill>
              <a:srgbClr val="92D050"/>
            </a:solidFill>
          </a:ln>
        </p:spPr>
        <p:txBody>
          <a:bodyPr wrap="square" rtlCol="0">
            <a:spAutoFit/>
          </a:bodyPr>
          <a:lstStyle/>
          <a:p>
            <a:endParaRPr lang="en-US" dirty="0"/>
          </a:p>
        </p:txBody>
      </p:sp>
      <p:sp>
        <p:nvSpPr>
          <p:cNvPr id="32" name="Rectangle 31">
            <a:extLst>
              <a:ext uri="{FF2B5EF4-FFF2-40B4-BE49-F238E27FC236}">
                <a16:creationId xmlns:a16="http://schemas.microsoft.com/office/drawing/2014/main" id="{A8EEECFF-8644-6B31-6033-2CC01442D446}"/>
              </a:ext>
            </a:extLst>
          </p:cNvPr>
          <p:cNvSpPr/>
          <p:nvPr/>
        </p:nvSpPr>
        <p:spPr>
          <a:xfrm>
            <a:off x="10494603" y="4301010"/>
            <a:ext cx="1020816" cy="1163757"/>
          </a:xfrm>
          <a:prstGeom prst="rect">
            <a:avLst/>
          </a:prstGeom>
          <a:solidFill>
            <a:srgbClr val="FAFAFA"/>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100" b="1">
              <a:solidFill>
                <a:schemeClr val="tx1"/>
              </a:solidFill>
              <a:latin typeface="+mj-lt"/>
              <a:cs typeface="Arial" panose="020B0604020202020204" pitchFamily="34" charset="0"/>
            </a:endParaRPr>
          </a:p>
        </p:txBody>
      </p:sp>
      <p:sp>
        <p:nvSpPr>
          <p:cNvPr id="33" name="Rectangle 32">
            <a:extLst>
              <a:ext uri="{FF2B5EF4-FFF2-40B4-BE49-F238E27FC236}">
                <a16:creationId xmlns:a16="http://schemas.microsoft.com/office/drawing/2014/main" id="{D1983E92-A663-BD35-5BE9-D9023070E405}"/>
              </a:ext>
            </a:extLst>
          </p:cNvPr>
          <p:cNvSpPr/>
          <p:nvPr/>
        </p:nvSpPr>
        <p:spPr>
          <a:xfrm>
            <a:off x="6515309" y="4324089"/>
            <a:ext cx="3677672" cy="1209958"/>
          </a:xfrm>
          <a:prstGeom prst="rect">
            <a:avLst/>
          </a:prstGeom>
          <a:solidFill>
            <a:schemeClr val="bg1">
              <a:lumMod val="95000"/>
            </a:schemeClr>
          </a:solidFill>
          <a:ln>
            <a:solidFill>
              <a:srgbClr val="8FAADC"/>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AU" sz="1000" b="1" dirty="0">
                <a:solidFill>
                  <a:schemeClr val="tx1"/>
                </a:solidFill>
              </a:rPr>
              <a:t>Performance Trade-offs with Stacking Models</a:t>
            </a:r>
          </a:p>
          <a:p>
            <a:endParaRPr lang="en-AU" sz="1000" b="1" dirty="0">
              <a:solidFill>
                <a:schemeClr val="tx1"/>
              </a:solidFill>
            </a:endParaRPr>
          </a:p>
          <a:p>
            <a:pPr marL="171450" indent="-171450">
              <a:buFont typeface="Arial" panose="020B0604020202020204" pitchFamily="34" charset="0"/>
              <a:buChar char="•"/>
            </a:pPr>
            <a:r>
              <a:rPr lang="en-AU" sz="1000" dirty="0">
                <a:solidFill>
                  <a:schemeClr val="tx1"/>
                </a:solidFill>
              </a:rPr>
              <a:t>Limited gains from stacking (</a:t>
            </a:r>
            <a:r>
              <a:rPr lang="en-AU" sz="1000" dirty="0" err="1">
                <a:solidFill>
                  <a:schemeClr val="tx1"/>
                </a:solidFill>
              </a:rPr>
              <a:t>RoBERTa</a:t>
            </a:r>
            <a:r>
              <a:rPr lang="en-AU" sz="1000" dirty="0">
                <a:solidFill>
                  <a:schemeClr val="tx1"/>
                </a:solidFill>
              </a:rPr>
              <a:t>-large + FOMC-</a:t>
            </a:r>
            <a:r>
              <a:rPr lang="en-AU" sz="1000" dirty="0" err="1">
                <a:solidFill>
                  <a:schemeClr val="tx1"/>
                </a:solidFill>
              </a:rPr>
              <a:t>RoBERTa</a:t>
            </a:r>
            <a:r>
              <a:rPr lang="en-AU" sz="1000" dirty="0">
                <a:solidFill>
                  <a:schemeClr val="tx1"/>
                </a:solidFill>
              </a:rPr>
              <a:t>).</a:t>
            </a:r>
          </a:p>
          <a:p>
            <a:pPr marL="171450" indent="-171450">
              <a:buFont typeface="Arial" panose="020B0604020202020204" pitchFamily="34" charset="0"/>
              <a:buChar char="•"/>
            </a:pPr>
            <a:r>
              <a:rPr lang="en-AU" sz="1000" dirty="0">
                <a:solidFill>
                  <a:schemeClr val="tx1"/>
                </a:solidFill>
              </a:rPr>
              <a:t>Increased model variance; high sensitivity to training data.</a:t>
            </a:r>
          </a:p>
          <a:p>
            <a:pPr marL="171450" indent="-171450">
              <a:buFont typeface="Arial" panose="020B0604020202020204" pitchFamily="34" charset="0"/>
              <a:buChar char="•"/>
            </a:pPr>
            <a:r>
              <a:rPr lang="en-AU" sz="1000" dirty="0">
                <a:solidFill>
                  <a:schemeClr val="tx1"/>
                </a:solidFill>
              </a:rPr>
              <a:t>Computationally intensive without consistent performance benefits.</a:t>
            </a:r>
            <a:endParaRPr lang="en-AU" sz="1000" dirty="0">
              <a:solidFill>
                <a:schemeClr val="tx1"/>
              </a:solidFill>
              <a:latin typeface="Arial" panose="020B0604020202020204" pitchFamily="34" charset="0"/>
              <a:cs typeface="Arial" panose="020B0604020202020204" pitchFamily="34" charset="0"/>
            </a:endParaRPr>
          </a:p>
        </p:txBody>
      </p:sp>
      <p:pic>
        <p:nvPicPr>
          <p:cNvPr id="34" name="Picture 33">
            <a:extLst>
              <a:ext uri="{FF2B5EF4-FFF2-40B4-BE49-F238E27FC236}">
                <a16:creationId xmlns:a16="http://schemas.microsoft.com/office/drawing/2014/main" id="{BEAC1D08-6FAB-28EC-FEF4-3BAEE4ABE997}"/>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0631472" y="4483234"/>
            <a:ext cx="783044" cy="783044"/>
          </a:xfrm>
          <a:prstGeom prst="rect">
            <a:avLst/>
          </a:prstGeom>
        </p:spPr>
      </p:pic>
      <p:sp>
        <p:nvSpPr>
          <p:cNvPr id="35" name="Google Shape;132;g12f20562990_0_39">
            <a:extLst>
              <a:ext uri="{FF2B5EF4-FFF2-40B4-BE49-F238E27FC236}">
                <a16:creationId xmlns:a16="http://schemas.microsoft.com/office/drawing/2014/main" id="{F5FB97E1-CE93-7901-E220-0B27B88514D7}"/>
              </a:ext>
            </a:extLst>
          </p:cNvPr>
          <p:cNvSpPr/>
          <p:nvPr/>
        </p:nvSpPr>
        <p:spPr>
          <a:xfrm>
            <a:off x="360694" y="2236780"/>
            <a:ext cx="4937373" cy="382800"/>
          </a:xfrm>
          <a:prstGeom prst="rect">
            <a:avLst/>
          </a:prstGeom>
          <a:solidFill>
            <a:srgbClr val="25284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AU" dirty="0">
                <a:solidFill>
                  <a:schemeClr val="bg1"/>
                </a:solidFill>
                <a:latin typeface="Arial" panose="020B0604020202020204" pitchFamily="34" charset="0"/>
                <a:cs typeface="Arial" panose="020B0604020202020204" pitchFamily="34" charset="0"/>
              </a:rPr>
              <a:t>Comparison with Industry</a:t>
            </a:r>
            <a:endParaRPr lang="en-AU" i="0" u="none" strike="noStrike" cap="none" dirty="0">
              <a:solidFill>
                <a:schemeClr val="bg1"/>
              </a:solidFill>
              <a:latin typeface="Arial" panose="020B0604020202020204" pitchFamily="34" charset="0"/>
              <a:ea typeface="Avenir"/>
              <a:cs typeface="Arial" panose="020B0604020202020204" pitchFamily="34" charset="0"/>
              <a:sym typeface="Avenir"/>
            </a:endParaRPr>
          </a:p>
        </p:txBody>
      </p:sp>
    </p:spTree>
    <p:extLst>
      <p:ext uri="{BB962C8B-B14F-4D97-AF65-F5344CB8AC3E}">
        <p14:creationId xmlns:p14="http://schemas.microsoft.com/office/powerpoint/2010/main" val="1607081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BE7D9-9E99-C860-707E-450211BC7582}"/>
              </a:ext>
            </a:extLst>
          </p:cNvPr>
          <p:cNvSpPr>
            <a:spLocks noGrp="1"/>
          </p:cNvSpPr>
          <p:nvPr>
            <p:ph type="title"/>
          </p:nvPr>
        </p:nvSpPr>
        <p:spPr>
          <a:xfrm>
            <a:off x="231648" y="136525"/>
            <a:ext cx="11631168" cy="838835"/>
          </a:xfrm>
        </p:spPr>
        <p:txBody>
          <a:bodyPr>
            <a:normAutofit/>
          </a:bodyPr>
          <a:lstStyle/>
          <a:p>
            <a:r>
              <a:rPr lang="en-GB" dirty="0"/>
              <a:t>Conclusion</a:t>
            </a:r>
            <a:endParaRPr lang="en-AU" dirty="0"/>
          </a:p>
        </p:txBody>
      </p:sp>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19</a:t>
            </a:fld>
            <a:endParaRPr lang="en-AU"/>
          </a:p>
        </p:txBody>
      </p:sp>
      <p:sp>
        <p:nvSpPr>
          <p:cNvPr id="6" name="TextBox 5">
            <a:extLst>
              <a:ext uri="{FF2B5EF4-FFF2-40B4-BE49-F238E27FC236}">
                <a16:creationId xmlns:a16="http://schemas.microsoft.com/office/drawing/2014/main" id="{0699F208-1CDC-6FEA-A315-8FBE78581435}"/>
              </a:ext>
            </a:extLst>
          </p:cNvPr>
          <p:cNvSpPr txBox="1"/>
          <p:nvPr/>
        </p:nvSpPr>
        <p:spPr>
          <a:xfrm>
            <a:off x="119743" y="6225545"/>
            <a:ext cx="7326086" cy="261610"/>
          </a:xfrm>
          <a:prstGeom prst="rect">
            <a:avLst/>
          </a:prstGeom>
          <a:noFill/>
        </p:spPr>
        <p:txBody>
          <a:bodyPr wrap="square" rtlCol="0">
            <a:spAutoFit/>
          </a:bodyPr>
          <a:lstStyle/>
          <a:p>
            <a:r>
              <a:rPr lang="en-US" sz="1100" b="1" dirty="0">
                <a:latin typeface="Arial" panose="020B0604020202020204" pitchFamily="34" charset="0"/>
                <a:cs typeface="Arial" panose="020B0604020202020204" pitchFamily="34" charset="0"/>
              </a:rPr>
              <a:t>Presenter: Nigel Li (z5320405)</a:t>
            </a:r>
          </a:p>
        </p:txBody>
      </p:sp>
      <p:cxnSp>
        <p:nvCxnSpPr>
          <p:cNvPr id="5" name="Google Shape;119;g12f20562990_0_39">
            <a:extLst>
              <a:ext uri="{FF2B5EF4-FFF2-40B4-BE49-F238E27FC236}">
                <a16:creationId xmlns:a16="http://schemas.microsoft.com/office/drawing/2014/main" id="{E072ED82-9315-E92C-2DE6-D7DCE1254993}"/>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7" name="Slide Number Placeholder 3">
            <a:extLst>
              <a:ext uri="{FF2B5EF4-FFF2-40B4-BE49-F238E27FC236}">
                <a16:creationId xmlns:a16="http://schemas.microsoft.com/office/drawing/2014/main" id="{37C8E216-079F-8BF0-4B68-BFF1F113B764}"/>
              </a:ext>
            </a:extLst>
          </p:cNvPr>
          <p:cNvSpPr txBox="1">
            <a:spLocks/>
          </p:cNvSpPr>
          <p:nvPr/>
        </p:nvSpPr>
        <p:spPr>
          <a:xfrm>
            <a:off x="8326817"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AU" dirty="0"/>
          </a:p>
        </p:txBody>
      </p:sp>
      <p:grpSp>
        <p:nvGrpSpPr>
          <p:cNvPr id="16" name="Google Shape;121;g12f20562990_0_39">
            <a:extLst>
              <a:ext uri="{FF2B5EF4-FFF2-40B4-BE49-F238E27FC236}">
                <a16:creationId xmlns:a16="http://schemas.microsoft.com/office/drawing/2014/main" id="{17509660-AAF1-152D-06B4-D8187F55E6FE}"/>
              </a:ext>
            </a:extLst>
          </p:cNvPr>
          <p:cNvGrpSpPr/>
          <p:nvPr/>
        </p:nvGrpSpPr>
        <p:grpSpPr>
          <a:xfrm>
            <a:off x="2610855" y="6225545"/>
            <a:ext cx="6060176" cy="365125"/>
            <a:chOff x="1425588" y="6394039"/>
            <a:chExt cx="9340906" cy="363742"/>
          </a:xfrm>
        </p:grpSpPr>
        <p:sp>
          <p:nvSpPr>
            <p:cNvPr id="17" name="Google Shape;122;g12f20562990_0_39">
              <a:extLst>
                <a:ext uri="{FF2B5EF4-FFF2-40B4-BE49-F238E27FC236}">
                  <a16:creationId xmlns:a16="http://schemas.microsoft.com/office/drawing/2014/main" id="{6E5741E5-C467-775D-4547-780058E01B4F}"/>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8" name="Google Shape;123;g12f20562990_0_39">
              <a:extLst>
                <a:ext uri="{FF2B5EF4-FFF2-40B4-BE49-F238E27FC236}">
                  <a16:creationId xmlns:a16="http://schemas.microsoft.com/office/drawing/2014/main" id="{2441CBCE-714A-E1C0-22CD-83B720A2F646}"/>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19" name="Google Shape;124;g12f20562990_0_39">
              <a:extLst>
                <a:ext uri="{FF2B5EF4-FFF2-40B4-BE49-F238E27FC236}">
                  <a16:creationId xmlns:a16="http://schemas.microsoft.com/office/drawing/2014/main" id="{C44906DF-1C04-BB2B-7FFC-FE9B14331030}"/>
                </a:ext>
              </a:extLst>
            </p:cNvPr>
            <p:cNvSpPr/>
            <p:nvPr/>
          </p:nvSpPr>
          <p:spPr>
            <a:xfrm>
              <a:off x="5152512" y="6398681"/>
              <a:ext cx="19833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dk1"/>
                  </a:solidFill>
                  <a:latin typeface="+mj-lt"/>
                  <a:sym typeface="Avenir"/>
                </a:rPr>
                <a:t>Literature</a:t>
              </a:r>
              <a:endParaRPr sz="1400" b="1" i="0" u="none" strike="noStrike" cap="none" dirty="0">
                <a:solidFill>
                  <a:srgbClr val="000000"/>
                </a:solidFill>
                <a:latin typeface="+mj-lt"/>
                <a:sym typeface="Arial"/>
              </a:endParaRPr>
            </a:p>
          </p:txBody>
        </p:sp>
        <p:sp>
          <p:nvSpPr>
            <p:cNvPr id="20" name="Google Shape;125;g12f20562990_0_39">
              <a:extLst>
                <a:ext uri="{FF2B5EF4-FFF2-40B4-BE49-F238E27FC236}">
                  <a16:creationId xmlns:a16="http://schemas.microsoft.com/office/drawing/2014/main" id="{DF561643-9016-4A23-DB69-3152AC6920B2}"/>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1" name="Google Shape;126;g12f20562990_0_39">
              <a:extLst>
                <a:ext uri="{FF2B5EF4-FFF2-40B4-BE49-F238E27FC236}">
                  <a16:creationId xmlns:a16="http://schemas.microsoft.com/office/drawing/2014/main" id="{32093C54-9BFD-F1B5-2FFD-BEFB4BF853B1}"/>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2" name="Google Shape;126;g12f20562990_0_39">
            <a:extLst>
              <a:ext uri="{FF2B5EF4-FFF2-40B4-BE49-F238E27FC236}">
                <a16:creationId xmlns:a16="http://schemas.microsoft.com/office/drawing/2014/main" id="{FFECB82E-FE41-4E06-ACA7-BA422138ACB3}"/>
              </a:ext>
            </a:extLst>
          </p:cNvPr>
          <p:cNvSpPr/>
          <p:nvPr/>
        </p:nvSpPr>
        <p:spPr>
          <a:xfrm>
            <a:off x="8565790" y="6220885"/>
            <a:ext cx="1215097" cy="360465"/>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tx1">
                    <a:lumMod val="95000"/>
                    <a:lumOff val="5000"/>
                  </a:schemeClr>
                </a:solidFill>
                <a:latin typeface="+mj-lt"/>
                <a:ea typeface="Avenir"/>
                <a:cs typeface="Avenir"/>
                <a:sym typeface="Avenir"/>
              </a:rPr>
              <a:t>Results</a:t>
            </a:r>
            <a:endParaRPr sz="1800" b="1" i="0" u="none" strike="noStrike" cap="none" dirty="0">
              <a:solidFill>
                <a:schemeClr val="tx1">
                  <a:lumMod val="95000"/>
                  <a:lumOff val="5000"/>
                </a:schemeClr>
              </a:solidFill>
              <a:latin typeface="+mj-lt"/>
              <a:ea typeface="Calibri"/>
              <a:cs typeface="Calibri"/>
              <a:sym typeface="Calibri"/>
            </a:endParaRPr>
          </a:p>
        </p:txBody>
      </p:sp>
      <p:sp>
        <p:nvSpPr>
          <p:cNvPr id="23" name="Google Shape;126;g12f20562990_0_39">
            <a:extLst>
              <a:ext uri="{FF2B5EF4-FFF2-40B4-BE49-F238E27FC236}">
                <a16:creationId xmlns:a16="http://schemas.microsoft.com/office/drawing/2014/main" id="{727279F5-E154-44D2-A794-6F0B9FB719F8}"/>
              </a:ext>
            </a:extLst>
          </p:cNvPr>
          <p:cNvSpPr/>
          <p:nvPr/>
        </p:nvSpPr>
        <p:spPr>
          <a:xfrm>
            <a:off x="9675646" y="6220884"/>
            <a:ext cx="1215097" cy="360465"/>
          </a:xfrm>
          <a:prstGeom prst="chevron">
            <a:avLst>
              <a:gd name="adj" fmla="val 50000"/>
            </a:avLst>
          </a:prstGeom>
          <a:solidFill>
            <a:srgbClr val="0032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bg1"/>
                </a:solidFill>
                <a:latin typeface="+mj-lt"/>
                <a:ea typeface="Avenir"/>
                <a:cs typeface="Avenir"/>
                <a:sym typeface="Avenir"/>
              </a:rPr>
              <a:t>Conclusion</a:t>
            </a:r>
            <a:endParaRPr sz="1100" b="1" i="0" u="none" strike="noStrike" cap="none" dirty="0">
              <a:solidFill>
                <a:schemeClr val="bg1"/>
              </a:solidFill>
              <a:latin typeface="+mj-lt"/>
              <a:ea typeface="Calibri"/>
              <a:cs typeface="Calibri"/>
              <a:sym typeface="Calibri"/>
            </a:endParaRPr>
          </a:p>
        </p:txBody>
      </p:sp>
      <p:cxnSp>
        <p:nvCxnSpPr>
          <p:cNvPr id="8" name="Google Shape;177;p6">
            <a:extLst>
              <a:ext uri="{FF2B5EF4-FFF2-40B4-BE49-F238E27FC236}">
                <a16:creationId xmlns:a16="http://schemas.microsoft.com/office/drawing/2014/main" id="{A98633A3-856E-5251-50F7-B143381E6B41}"/>
              </a:ext>
            </a:extLst>
          </p:cNvPr>
          <p:cNvCxnSpPr/>
          <p:nvPr/>
        </p:nvCxnSpPr>
        <p:spPr>
          <a:xfrm>
            <a:off x="338242" y="1193430"/>
            <a:ext cx="11144036" cy="0"/>
          </a:xfrm>
          <a:prstGeom prst="straightConnector1">
            <a:avLst/>
          </a:prstGeom>
          <a:noFill/>
          <a:ln w="9525" cap="flat" cmpd="sng">
            <a:solidFill>
              <a:srgbClr val="7F7F7F"/>
            </a:solidFill>
            <a:prstDash val="solid"/>
            <a:miter lim="800000"/>
            <a:headEnd type="none" w="sm" len="sm"/>
            <a:tailEnd type="none" w="sm" len="sm"/>
          </a:ln>
        </p:spPr>
      </p:cxnSp>
      <p:sp>
        <p:nvSpPr>
          <p:cNvPr id="9" name="Text Placeholder 2">
            <a:extLst>
              <a:ext uri="{FF2B5EF4-FFF2-40B4-BE49-F238E27FC236}">
                <a16:creationId xmlns:a16="http://schemas.microsoft.com/office/drawing/2014/main" id="{BC8B9307-4307-618D-02BC-7D3CABFC7C46}"/>
              </a:ext>
            </a:extLst>
          </p:cNvPr>
          <p:cNvSpPr txBox="1">
            <a:spLocks/>
          </p:cNvSpPr>
          <p:nvPr/>
        </p:nvSpPr>
        <p:spPr>
          <a:xfrm>
            <a:off x="338242" y="2101965"/>
            <a:ext cx="3600977" cy="396642"/>
          </a:xfrm>
          <a:prstGeom prst="rect">
            <a:avLst/>
          </a:prstGeom>
          <a:solidFill>
            <a:srgbClr val="252849"/>
          </a:solidFill>
          <a:ln>
            <a:noFill/>
            <a:prstDash val="dash"/>
          </a:ln>
        </p:spPr>
        <p:txBody>
          <a:bodyPr anchor="ctr" anchorCtr="0"/>
          <a:lstStyle>
            <a:lvl1pPr marL="0" indent="0" algn="l" defTabSz="914400" rtl="0" eaLnBrk="1" latinLnBrk="0" hangingPunct="1">
              <a:lnSpc>
                <a:spcPct val="90000"/>
              </a:lnSpc>
              <a:spcBef>
                <a:spcPts val="1000"/>
              </a:spcBef>
              <a:buFont typeface="Wingdings" panose="05000000000000000000" pitchFamily="2" charset="2"/>
              <a:buNone/>
              <a:defRPr sz="1600" b="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v"/>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Ø"/>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ü"/>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q"/>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dirty="0">
                <a:solidFill>
                  <a:schemeClr val="bg1"/>
                </a:solidFill>
                <a:latin typeface="Arial" panose="020B0604020202020204" pitchFamily="34" charset="0"/>
                <a:cs typeface="Arial" panose="020B0604020202020204" pitchFamily="34" charset="0"/>
              </a:rPr>
              <a:t>Stacking Performance</a:t>
            </a:r>
            <a:endParaRPr lang="en-AU" sz="1400" dirty="0">
              <a:solidFill>
                <a:schemeClr val="bg1"/>
              </a:solidFill>
              <a:latin typeface="Arial" panose="020B0604020202020204" pitchFamily="34" charset="0"/>
              <a:cs typeface="Arial" panose="020B0604020202020204" pitchFamily="34" charset="0"/>
            </a:endParaRPr>
          </a:p>
        </p:txBody>
      </p:sp>
      <p:sp>
        <p:nvSpPr>
          <p:cNvPr id="10" name="Text Placeholder 2">
            <a:extLst>
              <a:ext uri="{FF2B5EF4-FFF2-40B4-BE49-F238E27FC236}">
                <a16:creationId xmlns:a16="http://schemas.microsoft.com/office/drawing/2014/main" id="{D832F6DF-CCFD-42CA-017D-36424C8BEC05}"/>
              </a:ext>
            </a:extLst>
          </p:cNvPr>
          <p:cNvSpPr txBox="1">
            <a:spLocks/>
          </p:cNvSpPr>
          <p:nvPr/>
        </p:nvSpPr>
        <p:spPr>
          <a:xfrm>
            <a:off x="4087871" y="2101965"/>
            <a:ext cx="3600977" cy="396642"/>
          </a:xfrm>
          <a:prstGeom prst="rect">
            <a:avLst/>
          </a:prstGeom>
          <a:solidFill>
            <a:srgbClr val="252849"/>
          </a:solidFill>
          <a:ln>
            <a:noFill/>
            <a:prstDash val="dash"/>
          </a:ln>
        </p:spPr>
        <p:txBody>
          <a:bodyPr anchor="ctr" anchorCtr="0"/>
          <a:lstStyle>
            <a:lvl1pPr marL="0" indent="0" algn="l" defTabSz="914400" rtl="0" eaLnBrk="1" latinLnBrk="0" hangingPunct="1">
              <a:lnSpc>
                <a:spcPct val="90000"/>
              </a:lnSpc>
              <a:spcBef>
                <a:spcPts val="1000"/>
              </a:spcBef>
              <a:buFont typeface="Wingdings" panose="05000000000000000000" pitchFamily="2" charset="2"/>
              <a:buNone/>
              <a:defRPr sz="1600" b="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v"/>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Ø"/>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ü"/>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q"/>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dirty="0">
                <a:solidFill>
                  <a:schemeClr val="bg1"/>
                </a:solidFill>
                <a:latin typeface="Arial" panose="020B0604020202020204" pitchFamily="34" charset="0"/>
                <a:cs typeface="Arial" panose="020B0604020202020204" pitchFamily="34" charset="0"/>
              </a:rPr>
              <a:t>Best Practice Identified</a:t>
            </a:r>
            <a:endParaRPr lang="en-AU" sz="1400" dirty="0">
              <a:solidFill>
                <a:schemeClr val="bg1"/>
              </a:solidFill>
              <a:latin typeface="Arial" panose="020B0604020202020204" pitchFamily="34" charset="0"/>
              <a:cs typeface="Arial" panose="020B0604020202020204" pitchFamily="34" charset="0"/>
            </a:endParaRPr>
          </a:p>
        </p:txBody>
      </p:sp>
      <p:sp>
        <p:nvSpPr>
          <p:cNvPr id="11" name="Text Placeholder 2">
            <a:extLst>
              <a:ext uri="{FF2B5EF4-FFF2-40B4-BE49-F238E27FC236}">
                <a16:creationId xmlns:a16="http://schemas.microsoft.com/office/drawing/2014/main" id="{D057C4B6-3BFD-2807-2B75-320B1091CE0B}"/>
              </a:ext>
            </a:extLst>
          </p:cNvPr>
          <p:cNvSpPr txBox="1">
            <a:spLocks/>
          </p:cNvSpPr>
          <p:nvPr/>
        </p:nvSpPr>
        <p:spPr>
          <a:xfrm>
            <a:off x="7881303" y="2101965"/>
            <a:ext cx="3600977" cy="396642"/>
          </a:xfrm>
          <a:prstGeom prst="rect">
            <a:avLst/>
          </a:prstGeom>
          <a:solidFill>
            <a:srgbClr val="252849"/>
          </a:solidFill>
          <a:ln>
            <a:noFill/>
            <a:prstDash val="dash"/>
          </a:ln>
        </p:spPr>
        <p:txBody>
          <a:bodyPr anchor="ctr" anchorCtr="0"/>
          <a:lstStyle>
            <a:lvl1pPr marL="0" indent="0" algn="l" defTabSz="914400" rtl="0" eaLnBrk="1" latinLnBrk="0" hangingPunct="1">
              <a:lnSpc>
                <a:spcPct val="90000"/>
              </a:lnSpc>
              <a:spcBef>
                <a:spcPts val="1000"/>
              </a:spcBef>
              <a:buFont typeface="Wingdings" panose="05000000000000000000" pitchFamily="2" charset="2"/>
              <a:buNone/>
              <a:defRPr sz="1600" b="0" kern="1200">
                <a:solidFill>
                  <a:schemeClr val="tx1"/>
                </a:solidFill>
                <a:latin typeface="Lato" panose="020F0502020204030203" pitchFamily="34" charset="0"/>
                <a:ea typeface="Lato" panose="020F0502020204030203" pitchFamily="34" charset="0"/>
                <a:cs typeface="Lato" panose="020F0502020204030203"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v"/>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2pPr>
            <a:lvl3pPr marL="1143000" indent="-228600" algn="l" defTabSz="914400" rtl="0" eaLnBrk="1" latinLnBrk="0" hangingPunct="1">
              <a:lnSpc>
                <a:spcPct val="90000"/>
              </a:lnSpc>
              <a:spcBef>
                <a:spcPts val="500"/>
              </a:spcBef>
              <a:buFont typeface="Wingdings" panose="05000000000000000000" pitchFamily="2" charset="2"/>
              <a:buChar char="Ø"/>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600200" indent="-228600" algn="l" defTabSz="914400" rtl="0" eaLnBrk="1" latinLnBrk="0" hangingPunct="1">
              <a:lnSpc>
                <a:spcPct val="90000"/>
              </a:lnSpc>
              <a:spcBef>
                <a:spcPts val="500"/>
              </a:spcBef>
              <a:buFont typeface="Wingdings" panose="05000000000000000000" pitchFamily="2" charset="2"/>
              <a:buChar char="ü"/>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2057400" indent="-228600" algn="l" defTabSz="914400" rtl="0" eaLnBrk="1" latinLnBrk="0" hangingPunct="1">
              <a:lnSpc>
                <a:spcPct val="90000"/>
              </a:lnSpc>
              <a:spcBef>
                <a:spcPts val="500"/>
              </a:spcBef>
              <a:buFont typeface="Wingdings" panose="05000000000000000000" pitchFamily="2" charset="2"/>
              <a:buChar char="q"/>
              <a:defRPr sz="120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dirty="0">
                <a:solidFill>
                  <a:schemeClr val="bg1"/>
                </a:solidFill>
                <a:latin typeface="Arial" panose="020B0604020202020204" pitchFamily="34" charset="0"/>
                <a:cs typeface="Arial" panose="020B0604020202020204" pitchFamily="34" charset="0"/>
              </a:rPr>
              <a:t>Future Applications</a:t>
            </a:r>
            <a:endParaRPr lang="en-AU" sz="1400" dirty="0">
              <a:solidFill>
                <a:schemeClr val="bg1"/>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9174673E-729C-D05A-B827-579D1098D204}"/>
              </a:ext>
            </a:extLst>
          </p:cNvPr>
          <p:cNvSpPr/>
          <p:nvPr/>
        </p:nvSpPr>
        <p:spPr>
          <a:xfrm>
            <a:off x="338242" y="2760459"/>
            <a:ext cx="3600977" cy="2349063"/>
          </a:xfrm>
          <a:prstGeom prst="rect">
            <a:avLst/>
          </a:prstGeom>
          <a:noFill/>
          <a:ln w="9525">
            <a:solidFill>
              <a:schemeClr val="tx1">
                <a:lumMod val="50000"/>
                <a:lumOff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AU" sz="1200" dirty="0">
                <a:solidFill>
                  <a:schemeClr val="tx1"/>
                </a:solidFill>
              </a:rPr>
              <a:t>Stacking transformer models did not outperform individual fine-tuned models.</a:t>
            </a:r>
          </a:p>
          <a:p>
            <a:endParaRPr lang="en-AU" sz="1200" dirty="0">
              <a:solidFill>
                <a:schemeClr val="tx1"/>
              </a:solidFill>
            </a:endParaRPr>
          </a:p>
          <a:p>
            <a:pPr marL="285750" indent="-285750">
              <a:buFont typeface="Arial" panose="020B0604020202020204" pitchFamily="34" charset="0"/>
              <a:buChar char="―"/>
            </a:pPr>
            <a:r>
              <a:rPr lang="en-AU" sz="1200" dirty="0">
                <a:solidFill>
                  <a:schemeClr val="tx1"/>
                </a:solidFill>
              </a:rPr>
              <a:t>Individual model (</a:t>
            </a:r>
            <a:r>
              <a:rPr lang="en-AU" sz="1200" dirty="0" err="1">
                <a:solidFill>
                  <a:schemeClr val="tx1"/>
                </a:solidFill>
              </a:rPr>
              <a:t>RoBERTa</a:t>
            </a:r>
            <a:r>
              <a:rPr lang="en-AU" sz="1200" dirty="0">
                <a:solidFill>
                  <a:schemeClr val="tx1"/>
                </a:solidFill>
              </a:rPr>
              <a:t>-large-</a:t>
            </a:r>
            <a:r>
              <a:rPr lang="en-AU" sz="1200" dirty="0" err="1">
                <a:solidFill>
                  <a:schemeClr val="tx1"/>
                </a:solidFill>
              </a:rPr>
              <a:t>hyperparamTune</a:t>
            </a:r>
            <a:r>
              <a:rPr lang="en-AU" sz="1200" dirty="0">
                <a:solidFill>
                  <a:schemeClr val="tx1"/>
                </a:solidFill>
              </a:rPr>
              <a:t>) showed better consistency.</a:t>
            </a:r>
          </a:p>
          <a:p>
            <a:pPr marL="285750" indent="-285750">
              <a:buFont typeface="Arial" panose="020B0604020202020204" pitchFamily="34" charset="0"/>
              <a:buChar char="―"/>
            </a:pPr>
            <a:endParaRPr lang="en-AU" sz="1200" dirty="0">
              <a:solidFill>
                <a:schemeClr val="tx1"/>
              </a:solidFill>
            </a:endParaRPr>
          </a:p>
          <a:p>
            <a:endParaRPr lang="en-AU" dirty="0">
              <a:solidFill>
                <a:schemeClr val="tx1"/>
              </a:solidFill>
            </a:endParaRPr>
          </a:p>
        </p:txBody>
      </p:sp>
      <p:sp>
        <p:nvSpPr>
          <p:cNvPr id="13" name="Rectangle 12">
            <a:extLst>
              <a:ext uri="{FF2B5EF4-FFF2-40B4-BE49-F238E27FC236}">
                <a16:creationId xmlns:a16="http://schemas.microsoft.com/office/drawing/2014/main" id="{F99B5E6E-C701-4ACC-3DBE-43AB54DA2BF4}"/>
              </a:ext>
            </a:extLst>
          </p:cNvPr>
          <p:cNvSpPr/>
          <p:nvPr/>
        </p:nvSpPr>
        <p:spPr>
          <a:xfrm>
            <a:off x="4087872" y="2757533"/>
            <a:ext cx="3600976" cy="2349064"/>
          </a:xfrm>
          <a:prstGeom prst="rect">
            <a:avLst/>
          </a:prstGeom>
          <a:noFill/>
          <a:ln w="9525">
            <a:solidFill>
              <a:schemeClr val="tx1">
                <a:lumMod val="50000"/>
                <a:lumOff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AU" sz="1200" dirty="0">
                <a:solidFill>
                  <a:schemeClr val="tx1"/>
                </a:solidFill>
              </a:rPr>
              <a:t>Single, well-tuned model (</a:t>
            </a:r>
            <a:r>
              <a:rPr lang="en-AU" sz="1200" dirty="0" err="1">
                <a:solidFill>
                  <a:schemeClr val="tx1"/>
                </a:solidFill>
              </a:rPr>
              <a:t>RoBERTa</a:t>
            </a:r>
            <a:r>
              <a:rPr lang="en-AU" sz="1200" dirty="0">
                <a:solidFill>
                  <a:schemeClr val="tx1"/>
                </a:solidFill>
              </a:rPr>
              <a:t>-large-</a:t>
            </a:r>
            <a:r>
              <a:rPr lang="en-AU" sz="1200" dirty="0" err="1">
                <a:solidFill>
                  <a:schemeClr val="tx1"/>
                </a:solidFill>
              </a:rPr>
              <a:t>hyperparamTune</a:t>
            </a:r>
            <a:r>
              <a:rPr lang="en-AU" sz="1200" dirty="0">
                <a:solidFill>
                  <a:schemeClr val="tx1"/>
                </a:solidFill>
              </a:rPr>
              <a:t>) proved optimal for this certain case. Although industry trends does appear to currently utilise GPT-4o, which is another transformer architecture</a:t>
            </a:r>
          </a:p>
          <a:p>
            <a:endParaRPr lang="en-AU" sz="1200" dirty="0">
              <a:solidFill>
                <a:schemeClr val="tx1"/>
              </a:solidFill>
            </a:endParaRPr>
          </a:p>
          <a:p>
            <a:pPr marL="285750" indent="-285750">
              <a:buFont typeface="Arial" panose="020B0604020202020204" pitchFamily="34" charset="0"/>
              <a:buChar char="―"/>
            </a:pPr>
            <a:r>
              <a:rPr lang="en-AU" sz="1200" dirty="0">
                <a:solidFill>
                  <a:schemeClr val="tx1"/>
                </a:solidFill>
              </a:rPr>
              <a:t>Ensemble techniques added complexity without consistent gains.</a:t>
            </a:r>
            <a:endParaRPr lang="en-AU" dirty="0">
              <a:solidFill>
                <a:schemeClr val="tx1"/>
              </a:solidFill>
            </a:endParaRPr>
          </a:p>
        </p:txBody>
      </p:sp>
      <p:sp>
        <p:nvSpPr>
          <p:cNvPr id="14" name="Rectangle 13">
            <a:extLst>
              <a:ext uri="{FF2B5EF4-FFF2-40B4-BE49-F238E27FC236}">
                <a16:creationId xmlns:a16="http://schemas.microsoft.com/office/drawing/2014/main" id="{3BCF1261-231F-AA4E-A107-2047109F1A8A}"/>
              </a:ext>
            </a:extLst>
          </p:cNvPr>
          <p:cNvSpPr/>
          <p:nvPr/>
        </p:nvSpPr>
        <p:spPr>
          <a:xfrm>
            <a:off x="7881303" y="2765246"/>
            <a:ext cx="3600974" cy="2349064"/>
          </a:xfrm>
          <a:prstGeom prst="rect">
            <a:avLst/>
          </a:prstGeom>
          <a:noFill/>
          <a:ln w="9525">
            <a:solidFill>
              <a:schemeClr val="tx1">
                <a:lumMod val="50000"/>
                <a:lumOff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buFont typeface="Arial" panose="020B0604020202020204" pitchFamily="34" charset="0"/>
              <a:buChar char="―"/>
            </a:pPr>
            <a:r>
              <a:rPr lang="en-AU" sz="1200" b="1" dirty="0">
                <a:solidFill>
                  <a:schemeClr val="tx1"/>
                </a:solidFill>
              </a:rPr>
              <a:t>Exploring larger and more sophisticated models like GPT-4-tuned versions</a:t>
            </a:r>
            <a:r>
              <a:rPr lang="en-AU" sz="1200" dirty="0">
                <a:solidFill>
                  <a:schemeClr val="tx1"/>
                </a:solidFill>
              </a:rPr>
              <a:t> or experimenting with transformer models that have demonstrated high success rates across other domains could help surpass the current 93% accuracy threshold</a:t>
            </a:r>
          </a:p>
          <a:p>
            <a:pPr marL="285750" indent="-285750">
              <a:buFont typeface="Arial" panose="020B0604020202020204" pitchFamily="34" charset="0"/>
              <a:buChar char="―"/>
            </a:pPr>
            <a:endParaRPr lang="en-AU" sz="1200" dirty="0">
              <a:solidFill>
                <a:schemeClr val="tx1"/>
              </a:solidFill>
            </a:endParaRPr>
          </a:p>
          <a:p>
            <a:pPr marL="285750" indent="-285750">
              <a:buFont typeface="Arial" panose="020B0604020202020204" pitchFamily="34" charset="0"/>
              <a:buChar char="―"/>
            </a:pPr>
            <a:r>
              <a:rPr lang="en-AU" sz="1200" b="1" dirty="0">
                <a:solidFill>
                  <a:schemeClr val="tx1"/>
                </a:solidFill>
              </a:rPr>
              <a:t>Incorporating additional financial and economic datasets</a:t>
            </a:r>
            <a:r>
              <a:rPr lang="en-AU" sz="1200" dirty="0">
                <a:solidFill>
                  <a:schemeClr val="tx1"/>
                </a:solidFill>
              </a:rPr>
              <a:t>, including sentiment data, textual context, and structured numerical information, might enhance model precision beyond current limitations</a:t>
            </a:r>
          </a:p>
          <a:p>
            <a:pPr marL="285750" indent="-285750">
              <a:buFont typeface="Arial" panose="020B0604020202020204" pitchFamily="34" charset="0"/>
              <a:buChar char="―"/>
            </a:pPr>
            <a:endParaRPr lang="en-AU" dirty="0">
              <a:solidFill>
                <a:schemeClr val="tx1"/>
              </a:solidFill>
            </a:endParaRPr>
          </a:p>
        </p:txBody>
      </p:sp>
      <p:pic>
        <p:nvPicPr>
          <p:cNvPr id="15" name="Graphic 14" descr="Bar graph with downward trend with solid fill">
            <a:extLst>
              <a:ext uri="{FF2B5EF4-FFF2-40B4-BE49-F238E27FC236}">
                <a16:creationId xmlns:a16="http://schemas.microsoft.com/office/drawing/2014/main" id="{E432A8F1-B588-5FB2-38F1-49CB8ECD0FC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18690" y="1414684"/>
            <a:ext cx="640080" cy="640080"/>
          </a:xfrm>
          <a:prstGeom prst="rect">
            <a:avLst/>
          </a:prstGeom>
        </p:spPr>
      </p:pic>
      <p:pic>
        <p:nvPicPr>
          <p:cNvPr id="24" name="Graphic 23" descr="Compass with solid fill">
            <a:extLst>
              <a:ext uri="{FF2B5EF4-FFF2-40B4-BE49-F238E27FC236}">
                <a16:creationId xmlns:a16="http://schemas.microsoft.com/office/drawing/2014/main" id="{2176C826-D2A1-D0B3-3893-B42CC4E5009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38370" y="1414684"/>
            <a:ext cx="640081" cy="640081"/>
          </a:xfrm>
          <a:prstGeom prst="rect">
            <a:avLst/>
          </a:prstGeom>
        </p:spPr>
      </p:pic>
      <p:pic>
        <p:nvPicPr>
          <p:cNvPr id="25" name="Graphic 24" descr="Sprouting Seed with solid fill">
            <a:extLst>
              <a:ext uri="{FF2B5EF4-FFF2-40B4-BE49-F238E27FC236}">
                <a16:creationId xmlns:a16="http://schemas.microsoft.com/office/drawing/2014/main" id="{55297255-5212-07CE-A9D2-5B13AB0789B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316912" y="1387053"/>
            <a:ext cx="654702" cy="654702"/>
          </a:xfrm>
          <a:prstGeom prst="rect">
            <a:avLst/>
          </a:prstGeom>
        </p:spPr>
      </p:pic>
      <p:sp>
        <p:nvSpPr>
          <p:cNvPr id="28" name="TextBox 27">
            <a:extLst>
              <a:ext uri="{FF2B5EF4-FFF2-40B4-BE49-F238E27FC236}">
                <a16:creationId xmlns:a16="http://schemas.microsoft.com/office/drawing/2014/main" id="{06EDA067-CB5A-8CF4-9C56-335ED41CE703}"/>
              </a:ext>
            </a:extLst>
          </p:cNvPr>
          <p:cNvSpPr txBox="1"/>
          <p:nvPr/>
        </p:nvSpPr>
        <p:spPr>
          <a:xfrm>
            <a:off x="306020" y="852651"/>
            <a:ext cx="11304779" cy="261610"/>
          </a:xfrm>
          <a:prstGeom prst="rect">
            <a:avLst/>
          </a:prstGeom>
          <a:noFill/>
        </p:spPr>
        <p:txBody>
          <a:bodyPr wrap="square">
            <a:spAutoFit/>
          </a:bodyPr>
          <a:lstStyle/>
          <a:p>
            <a:pPr>
              <a:buSzPts val="2800"/>
            </a:pPr>
            <a:r>
              <a:rPr lang="en-AU" sz="1100" i="1" dirty="0">
                <a:solidFill>
                  <a:schemeClr val="accent3">
                    <a:lumMod val="60000"/>
                    <a:lumOff val="40000"/>
                  </a:schemeClr>
                </a:solidFill>
                <a:latin typeface="Arial" panose="020B0604020202020204" pitchFamily="34" charset="0"/>
                <a:cs typeface="Arial" panose="020B0604020202020204" pitchFamily="34" charset="0"/>
              </a:rPr>
              <a:t>Consolidation of Insights: Evaluating Model Efficiency, Optimal Approaches, and Future-Ready Solutions for Sentiment Analysis…</a:t>
            </a:r>
            <a:endParaRPr lang="en-US" sz="1100" b="1" i="1" u="none" strike="noStrike" cap="none" dirty="0">
              <a:solidFill>
                <a:schemeClr val="accent3">
                  <a:lumMod val="60000"/>
                  <a:lumOff val="40000"/>
                </a:schemeClr>
              </a:solidFill>
              <a:latin typeface="Arial" panose="020B0604020202020204" pitchFamily="34" charset="0"/>
              <a:ea typeface="Avenir"/>
              <a:cs typeface="Arial" panose="020B0604020202020204" pitchFamily="34" charset="0"/>
            </a:endParaRPr>
          </a:p>
        </p:txBody>
      </p:sp>
    </p:spTree>
    <p:extLst>
      <p:ext uri="{BB962C8B-B14F-4D97-AF65-F5344CB8AC3E}">
        <p14:creationId xmlns:p14="http://schemas.microsoft.com/office/powerpoint/2010/main" val="40329157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BB37785-741C-C54C-619E-D85891973CD5}"/>
              </a:ext>
            </a:extLst>
          </p:cNvPr>
          <p:cNvSpPr txBox="1"/>
          <p:nvPr/>
        </p:nvSpPr>
        <p:spPr>
          <a:xfrm>
            <a:off x="8747760" y="106680"/>
            <a:ext cx="4739640" cy="1935480"/>
          </a:xfrm>
          <a:prstGeom prst="rect">
            <a:avLst/>
          </a:prstGeom>
          <a:solidFill>
            <a:schemeClr val="bg1"/>
          </a:solidFill>
        </p:spPr>
        <p:txBody>
          <a:bodyPr wrap="square" rtlCol="0">
            <a:spAutoFit/>
          </a:bodyPr>
          <a:lstStyle/>
          <a:p>
            <a:endParaRPr lang="en-US" dirty="0"/>
          </a:p>
        </p:txBody>
      </p:sp>
      <p:pic>
        <p:nvPicPr>
          <p:cNvPr id="5" name="Google Shape;342;p25">
            <a:extLst>
              <a:ext uri="{FF2B5EF4-FFF2-40B4-BE49-F238E27FC236}">
                <a16:creationId xmlns:a16="http://schemas.microsoft.com/office/drawing/2014/main" id="{EEB72D4A-BF13-E0FA-2AB7-79FB37FA3614}"/>
              </a:ext>
            </a:extLst>
          </p:cNvPr>
          <p:cNvPicPr preferRelativeResize="0"/>
          <p:nvPr/>
        </p:nvPicPr>
        <p:blipFill rotWithShape="1">
          <a:blip r:embed="rId3"/>
          <a:srcRect/>
          <a:stretch/>
        </p:blipFill>
        <p:spPr>
          <a:xfrm>
            <a:off x="471768" y="285750"/>
            <a:ext cx="11299264" cy="6146800"/>
          </a:xfrm>
          <a:prstGeom prst="rect">
            <a:avLst/>
          </a:prstGeom>
          <a:noFill/>
          <a:ln w="69850">
            <a:solidFill>
              <a:srgbClr val="003469"/>
            </a:solidFill>
          </a:ln>
        </p:spPr>
      </p:pic>
      <p:sp>
        <p:nvSpPr>
          <p:cNvPr id="6" name="Google Shape;343;p25">
            <a:extLst>
              <a:ext uri="{FF2B5EF4-FFF2-40B4-BE49-F238E27FC236}">
                <a16:creationId xmlns:a16="http://schemas.microsoft.com/office/drawing/2014/main" id="{C21E9ED1-6B99-48BE-471A-44B3972AEF5A}"/>
              </a:ext>
            </a:extLst>
          </p:cNvPr>
          <p:cNvSpPr/>
          <p:nvPr/>
        </p:nvSpPr>
        <p:spPr>
          <a:xfrm>
            <a:off x="292100" y="3747848"/>
            <a:ext cx="11809200" cy="1837693"/>
          </a:xfrm>
          <a:prstGeom prst="rect">
            <a:avLst/>
          </a:prstGeom>
          <a:solidFill>
            <a:srgbClr val="FFFFFF">
              <a:alpha val="7294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 name="Google Shape;344;p25">
            <a:extLst>
              <a:ext uri="{FF2B5EF4-FFF2-40B4-BE49-F238E27FC236}">
                <a16:creationId xmlns:a16="http://schemas.microsoft.com/office/drawing/2014/main" id="{3600C53C-2CE8-CEFB-562F-ED42340BF056}"/>
              </a:ext>
            </a:extLst>
          </p:cNvPr>
          <p:cNvSpPr/>
          <p:nvPr/>
        </p:nvSpPr>
        <p:spPr>
          <a:xfrm>
            <a:off x="1676933" y="4194050"/>
            <a:ext cx="9010117"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400"/>
              <a:buFont typeface="Arial"/>
              <a:buNone/>
            </a:pPr>
            <a:r>
              <a:rPr lang="en-US" sz="4400" b="1" i="0" u="none" strike="noStrike" cap="none">
                <a:solidFill>
                  <a:schemeClr val="dk1"/>
                </a:solidFill>
                <a:latin typeface="Avenir"/>
                <a:ea typeface="Avenir"/>
                <a:cs typeface="Avenir"/>
                <a:sym typeface="Avenir"/>
              </a:rPr>
              <a:t>Appendices</a:t>
            </a:r>
            <a:endParaRPr sz="3600" b="1" i="0" u="none" strike="noStrike" cap="none">
              <a:solidFill>
                <a:srgbClr val="000000"/>
              </a:solidFill>
              <a:latin typeface="Avenir"/>
              <a:ea typeface="Avenir"/>
              <a:cs typeface="Avenir"/>
              <a:sym typeface="Avenir"/>
            </a:endParaRPr>
          </a:p>
        </p:txBody>
      </p:sp>
    </p:spTree>
    <p:extLst>
      <p:ext uri="{BB962C8B-B14F-4D97-AF65-F5344CB8AC3E}">
        <p14:creationId xmlns:p14="http://schemas.microsoft.com/office/powerpoint/2010/main" val="20186555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AD12B5-C5CB-BD43-2384-11071952DAE9}"/>
              </a:ext>
            </a:extLst>
          </p:cNvPr>
          <p:cNvSpPr>
            <a:spLocks noGrp="1"/>
          </p:cNvSpPr>
          <p:nvPr>
            <p:ph type="sldNum" sz="quarter" idx="12"/>
          </p:nvPr>
        </p:nvSpPr>
        <p:spPr/>
        <p:txBody>
          <a:bodyPr/>
          <a:lstStyle/>
          <a:p>
            <a:fld id="{6BAD6A8B-B5C3-4437-A9DE-A8C2149171DD}" type="slidenum">
              <a:rPr lang="en-AU" smtClean="0"/>
              <a:t>21</a:t>
            </a:fld>
            <a:endParaRPr lang="en-AU" dirty="0"/>
          </a:p>
        </p:txBody>
      </p:sp>
      <p:graphicFrame>
        <p:nvGraphicFramePr>
          <p:cNvPr id="32" name="Table 4">
            <a:extLst>
              <a:ext uri="{FF2B5EF4-FFF2-40B4-BE49-F238E27FC236}">
                <a16:creationId xmlns:a16="http://schemas.microsoft.com/office/drawing/2014/main" id="{55CF9FCA-117E-0941-6371-914134470BA6}"/>
              </a:ext>
            </a:extLst>
          </p:cNvPr>
          <p:cNvGraphicFramePr>
            <a:graphicFrameLocks noGrp="1"/>
          </p:cNvGraphicFramePr>
          <p:nvPr>
            <p:extLst>
              <p:ext uri="{D42A27DB-BD31-4B8C-83A1-F6EECF244321}">
                <p14:modId xmlns:p14="http://schemas.microsoft.com/office/powerpoint/2010/main" val="3923492855"/>
              </p:ext>
            </p:extLst>
          </p:nvPr>
        </p:nvGraphicFramePr>
        <p:xfrm>
          <a:off x="529379" y="1097616"/>
          <a:ext cx="2244622" cy="4900584"/>
        </p:xfrm>
        <a:graphic>
          <a:graphicData uri="http://schemas.openxmlformats.org/drawingml/2006/table">
            <a:tbl>
              <a:tblPr>
                <a:tableStyleId>{5C22544A-7EE6-4342-B048-85BDC9FD1C3A}</a:tableStyleId>
              </a:tblPr>
              <a:tblGrid>
                <a:gridCol w="1890395">
                  <a:extLst>
                    <a:ext uri="{9D8B030D-6E8A-4147-A177-3AD203B41FA5}">
                      <a16:colId xmlns:a16="http://schemas.microsoft.com/office/drawing/2014/main" val="16870547"/>
                    </a:ext>
                  </a:extLst>
                </a:gridCol>
                <a:gridCol w="354227">
                  <a:extLst>
                    <a:ext uri="{9D8B030D-6E8A-4147-A177-3AD203B41FA5}">
                      <a16:colId xmlns:a16="http://schemas.microsoft.com/office/drawing/2014/main" val="1546273424"/>
                    </a:ext>
                  </a:extLst>
                </a:gridCol>
              </a:tblGrid>
              <a:tr h="307417">
                <a:tc>
                  <a:txBody>
                    <a:bodyPr/>
                    <a:lstStyle/>
                    <a:p>
                      <a:r>
                        <a:rPr lang="en-US" sz="1000" b="0" u="none" kern="1200" dirty="0">
                          <a:solidFill>
                            <a:schemeClr val="dk1"/>
                          </a:solidFill>
                          <a:latin typeface="+mn-lt"/>
                          <a:ea typeface="+mn-ea"/>
                          <a:cs typeface="+mn-cs"/>
                          <a:hlinkClick r:id="" action="ppaction://hlinkshowjump?jump=firstslide"/>
                        </a:rPr>
                        <a:t>Introduction</a:t>
                      </a:r>
                      <a:endParaRPr lang="en-US" sz="1000" b="0" u="none" kern="1200" dirty="0">
                        <a:solidFill>
                          <a:schemeClr val="dk1"/>
                        </a:solidFill>
                        <a:latin typeface="+mn-lt"/>
                        <a:ea typeface="+mn-ea"/>
                        <a:cs typeface="+mn-cs"/>
                      </a:endParaRPr>
                    </a:p>
                  </a:txBody>
                  <a:tcPr marL="99060" marR="99060" marT="49530" marB="49530">
                    <a:noFill/>
                  </a:tcPr>
                </a:tc>
                <a:tc>
                  <a:txBody>
                    <a:bodyPr/>
                    <a:lstStyle/>
                    <a:p>
                      <a:r>
                        <a:rPr lang="en-US" sz="1000" b="1" i="0" u="none" dirty="0">
                          <a:solidFill>
                            <a:schemeClr val="accent1"/>
                          </a:solidFill>
                          <a:latin typeface="+mj-lt"/>
                        </a:rPr>
                        <a:t>1</a:t>
                      </a:r>
                    </a:p>
                  </a:txBody>
                  <a:tcPr marL="99060" marR="99060" marT="49530" marB="49530">
                    <a:noFill/>
                  </a:tcPr>
                </a:tc>
                <a:extLst>
                  <a:ext uri="{0D108BD9-81ED-4DB2-BD59-A6C34878D82A}">
                    <a16:rowId xmlns:a16="http://schemas.microsoft.com/office/drawing/2014/main" val="1498175662"/>
                  </a:ext>
                </a:extLst>
              </a:tr>
              <a:tr h="307417">
                <a:tc>
                  <a:txBody>
                    <a:bodyPr/>
                    <a:lstStyle/>
                    <a:p>
                      <a:r>
                        <a:rPr lang="en-US" sz="1000" b="1" i="0" u="none" baseline="0" dirty="0">
                          <a:solidFill>
                            <a:schemeClr val="accent1"/>
                          </a:solidFill>
                          <a:uFill>
                            <a:solidFill>
                              <a:schemeClr val="bg1"/>
                            </a:solidFill>
                          </a:uFill>
                          <a:latin typeface="+mn-lt"/>
                        </a:rPr>
                        <a:t>Set-up</a:t>
                      </a:r>
                    </a:p>
                  </a:txBody>
                  <a:tcPr marL="99060" marR="99060" marT="49530" marB="49530">
                    <a:noFill/>
                  </a:tcPr>
                </a:tc>
                <a:tc>
                  <a:txBody>
                    <a:bodyPr/>
                    <a:lstStyle/>
                    <a:p>
                      <a:endParaRPr lang="en-US" sz="1000" b="1" i="0" u="none" dirty="0">
                        <a:solidFill>
                          <a:schemeClr val="accent1"/>
                        </a:solidFill>
                        <a:latin typeface="+mj-lt"/>
                      </a:endParaRPr>
                    </a:p>
                  </a:txBody>
                  <a:tcPr marL="99060" marR="99060" marT="49530" marB="49530">
                    <a:noFill/>
                  </a:tcPr>
                </a:tc>
                <a:extLst>
                  <a:ext uri="{0D108BD9-81ED-4DB2-BD59-A6C34878D82A}">
                    <a16:rowId xmlns:a16="http://schemas.microsoft.com/office/drawing/2014/main" val="2753035429"/>
                  </a:ext>
                </a:extLst>
              </a:tr>
              <a:tr h="307417">
                <a:tc>
                  <a:txBody>
                    <a:bodyPr/>
                    <a:lstStyle/>
                    <a:p>
                      <a:pPr marL="0" algn="l" defTabSz="514350" rtl="0" eaLnBrk="1" latinLnBrk="0" hangingPunct="1"/>
                      <a:r>
                        <a:rPr lang="en-US" sz="1000" b="0" u="none" kern="1200" dirty="0">
                          <a:solidFill>
                            <a:schemeClr val="tx1"/>
                          </a:solidFill>
                          <a:latin typeface="+mn-lt"/>
                          <a:ea typeface="+mn-ea"/>
                          <a:cs typeface="+mn-cs"/>
                          <a:hlinkClick r:id="rId2" action="ppaction://hlinksldjump">
                            <a:extLst>
                              <a:ext uri="{A12FA001-AC4F-418D-AE19-62706E023703}">
                                <ahyp:hlinkClr xmlns:ahyp="http://schemas.microsoft.com/office/drawing/2018/hyperlinkcolor" val="tx"/>
                              </a:ext>
                            </a:extLst>
                          </a:hlinkClick>
                        </a:rPr>
                        <a:t>Motivation</a:t>
                      </a:r>
                      <a:endParaRPr lang="en-US" sz="1000" b="0" u="none" kern="1200" dirty="0">
                        <a:solidFill>
                          <a:schemeClr val="tx1"/>
                        </a:solidFill>
                        <a:latin typeface="+mn-lt"/>
                        <a:ea typeface="+mn-ea"/>
                        <a:cs typeface="+mn-cs"/>
                      </a:endParaRPr>
                    </a:p>
                  </a:txBody>
                  <a:tcPr marL="99060" marR="99060" marT="49530" marB="49530">
                    <a:noFill/>
                  </a:tcPr>
                </a:tc>
                <a:tc>
                  <a:txBody>
                    <a:bodyPr/>
                    <a:lstStyle/>
                    <a:p>
                      <a:r>
                        <a:rPr lang="en-US" sz="1000" b="1" i="0" u="none" dirty="0">
                          <a:solidFill>
                            <a:schemeClr val="tx1"/>
                          </a:solidFill>
                          <a:latin typeface="+mj-lt"/>
                        </a:rPr>
                        <a:t>2</a:t>
                      </a:r>
                    </a:p>
                  </a:txBody>
                  <a:tcPr marL="99060" marR="99060" marT="49530" marB="49530">
                    <a:noFill/>
                  </a:tcPr>
                </a:tc>
                <a:extLst>
                  <a:ext uri="{0D108BD9-81ED-4DB2-BD59-A6C34878D82A}">
                    <a16:rowId xmlns:a16="http://schemas.microsoft.com/office/drawing/2014/main" val="3535294828"/>
                  </a:ext>
                </a:extLst>
              </a:tr>
              <a:tr h="307417">
                <a:tc>
                  <a:txBody>
                    <a:bodyPr/>
                    <a:lstStyle/>
                    <a:p>
                      <a:pPr marL="0" algn="l" defTabSz="514350" rtl="0" eaLnBrk="1" latinLnBrk="0" hangingPunct="1"/>
                      <a:r>
                        <a:rPr lang="en-US" sz="1000" b="0" u="none" kern="1200" dirty="0">
                          <a:solidFill>
                            <a:schemeClr val="tx1"/>
                          </a:solidFill>
                          <a:latin typeface="+mn-lt"/>
                          <a:ea typeface="+mn-ea"/>
                          <a:cs typeface="+mn-cs"/>
                          <a:hlinkClick r:id="rId3" action="ppaction://hlinksldjump">
                            <a:extLst>
                              <a:ext uri="{A12FA001-AC4F-418D-AE19-62706E023703}">
                                <ahyp:hlinkClr xmlns:ahyp="http://schemas.microsoft.com/office/drawing/2018/hyperlinkcolor" val="tx"/>
                              </a:ext>
                            </a:extLst>
                          </a:hlinkClick>
                        </a:rPr>
                        <a:t>Problem Statement</a:t>
                      </a:r>
                      <a:endParaRPr lang="en-US" sz="1000" b="0" u="none" kern="1200" dirty="0">
                        <a:solidFill>
                          <a:schemeClr val="tx1"/>
                        </a:solidFill>
                        <a:latin typeface="+mn-lt"/>
                        <a:ea typeface="+mn-ea"/>
                        <a:cs typeface="+mn-cs"/>
                      </a:endParaRPr>
                    </a:p>
                  </a:txBody>
                  <a:tcPr marL="99060" marR="99060" marT="49530" marB="49530">
                    <a:noFill/>
                  </a:tcPr>
                </a:tc>
                <a:tc>
                  <a:txBody>
                    <a:bodyPr/>
                    <a:lstStyle/>
                    <a:p>
                      <a:r>
                        <a:rPr lang="en-US" sz="1000" b="1" i="0" u="none" dirty="0">
                          <a:solidFill>
                            <a:schemeClr val="tx1"/>
                          </a:solidFill>
                          <a:latin typeface="+mj-lt"/>
                        </a:rPr>
                        <a:t>3</a:t>
                      </a:r>
                    </a:p>
                  </a:txBody>
                  <a:tcPr marL="99060" marR="99060" marT="49530" marB="49530">
                    <a:noFill/>
                  </a:tcPr>
                </a:tc>
                <a:extLst>
                  <a:ext uri="{0D108BD9-81ED-4DB2-BD59-A6C34878D82A}">
                    <a16:rowId xmlns:a16="http://schemas.microsoft.com/office/drawing/2014/main" val="3027444665"/>
                  </a:ext>
                </a:extLst>
              </a:tr>
              <a:tr h="307417">
                <a:tc>
                  <a:txBody>
                    <a:bodyPr/>
                    <a:lstStyle/>
                    <a:p>
                      <a:endParaRPr lang="en-US" sz="1000" b="0" i="0" u="none" baseline="0">
                        <a:solidFill>
                          <a:schemeClr val="tx1"/>
                        </a:solidFill>
                        <a:uFill>
                          <a:solidFill>
                            <a:schemeClr val="bg1"/>
                          </a:solidFill>
                        </a:uFill>
                        <a:latin typeface="+mn-lt"/>
                      </a:endParaRPr>
                    </a:p>
                  </a:txBody>
                  <a:tcPr marL="99060" marR="99060" marT="49530" marB="49530">
                    <a:noFill/>
                  </a:tcPr>
                </a:tc>
                <a:tc>
                  <a:txBody>
                    <a:bodyPr/>
                    <a:lstStyle/>
                    <a:p>
                      <a:endParaRPr lang="en-US" sz="1000" b="1" i="0" u="none" dirty="0">
                        <a:solidFill>
                          <a:schemeClr val="accent1"/>
                        </a:solidFill>
                        <a:latin typeface="+mj-lt"/>
                      </a:endParaRPr>
                    </a:p>
                  </a:txBody>
                  <a:tcPr marL="99060" marR="99060" marT="49530" marB="49530">
                    <a:noFill/>
                  </a:tcPr>
                </a:tc>
                <a:extLst>
                  <a:ext uri="{0D108BD9-81ED-4DB2-BD59-A6C34878D82A}">
                    <a16:rowId xmlns:a16="http://schemas.microsoft.com/office/drawing/2014/main" val="2814892063"/>
                  </a:ext>
                </a:extLst>
              </a:tr>
              <a:tr h="307417">
                <a:tc>
                  <a:txBody>
                    <a:bodyPr/>
                    <a:lstStyle/>
                    <a:p>
                      <a:r>
                        <a:rPr lang="en-US" sz="1000" b="1" i="0" u="none" baseline="0" dirty="0">
                          <a:solidFill>
                            <a:schemeClr val="accent1"/>
                          </a:solidFill>
                          <a:uFill>
                            <a:solidFill>
                              <a:schemeClr val="bg1"/>
                            </a:solidFill>
                          </a:uFill>
                          <a:latin typeface="+mn-lt"/>
                        </a:rPr>
                        <a:t>Literature Review</a:t>
                      </a:r>
                    </a:p>
                  </a:txBody>
                  <a:tcPr marL="99060" marR="99060" marT="49530" marB="49530">
                    <a:noFill/>
                  </a:tcPr>
                </a:tc>
                <a:tc>
                  <a:txBody>
                    <a:bodyPr/>
                    <a:lstStyle/>
                    <a:p>
                      <a:endParaRPr lang="en-US" sz="1000" b="1" i="0" u="none">
                        <a:solidFill>
                          <a:schemeClr val="accent1"/>
                        </a:solidFill>
                        <a:latin typeface="+mj-lt"/>
                      </a:endParaRPr>
                    </a:p>
                  </a:txBody>
                  <a:tcPr marL="99060" marR="99060" marT="49530" marB="49530">
                    <a:noFill/>
                  </a:tcPr>
                </a:tc>
                <a:extLst>
                  <a:ext uri="{0D108BD9-81ED-4DB2-BD59-A6C34878D82A}">
                    <a16:rowId xmlns:a16="http://schemas.microsoft.com/office/drawing/2014/main" val="2909383209"/>
                  </a:ext>
                </a:extLst>
              </a:tr>
              <a:tr h="307417">
                <a:tc>
                  <a:txBody>
                    <a:bodyPr/>
                    <a:lstStyle/>
                    <a:p>
                      <a:pPr marL="0" algn="l" defTabSz="514350" rtl="0" eaLnBrk="1" latinLnBrk="0" hangingPunct="1"/>
                      <a:r>
                        <a:rPr lang="en-US" sz="1000" b="0" u="none" kern="1200" dirty="0">
                          <a:solidFill>
                            <a:schemeClr val="tx1"/>
                          </a:solidFill>
                          <a:latin typeface="+mn-lt"/>
                          <a:ea typeface="+mn-ea"/>
                          <a:cs typeface="+mn-cs"/>
                          <a:hlinkClick r:id="rId4" action="ppaction://hlinksldjump">
                            <a:extLst>
                              <a:ext uri="{A12FA001-AC4F-418D-AE19-62706E023703}">
                                <ahyp:hlinkClr xmlns:ahyp="http://schemas.microsoft.com/office/drawing/2018/hyperlinkcolor" val="tx"/>
                              </a:ext>
                            </a:extLst>
                          </a:hlinkClick>
                        </a:rPr>
                        <a:t>Overall</a:t>
                      </a:r>
                      <a:endParaRPr lang="en-US" sz="1000" b="0" u="none" kern="1200" dirty="0">
                        <a:solidFill>
                          <a:schemeClr val="tx1"/>
                        </a:solidFill>
                        <a:latin typeface="+mn-lt"/>
                        <a:ea typeface="+mn-ea"/>
                        <a:cs typeface="+mn-cs"/>
                      </a:endParaRPr>
                    </a:p>
                  </a:txBody>
                  <a:tcPr marL="99060" marR="99060" marT="49530" marB="49530">
                    <a:noFill/>
                  </a:tcPr>
                </a:tc>
                <a:tc>
                  <a:txBody>
                    <a:bodyPr/>
                    <a:lstStyle/>
                    <a:p>
                      <a:r>
                        <a:rPr lang="en-US" sz="1000" b="1" i="0" u="none" dirty="0">
                          <a:solidFill>
                            <a:schemeClr val="tx1"/>
                          </a:solidFill>
                          <a:latin typeface="+mj-lt"/>
                        </a:rPr>
                        <a:t>4</a:t>
                      </a:r>
                    </a:p>
                  </a:txBody>
                  <a:tcPr marL="99060" marR="99060" marT="49530" marB="49530">
                    <a:noFill/>
                  </a:tcPr>
                </a:tc>
                <a:extLst>
                  <a:ext uri="{0D108BD9-81ED-4DB2-BD59-A6C34878D82A}">
                    <a16:rowId xmlns:a16="http://schemas.microsoft.com/office/drawing/2014/main" val="1318244723"/>
                  </a:ext>
                </a:extLst>
              </a:tr>
              <a:tr h="307417">
                <a:tc>
                  <a:txBody>
                    <a:bodyPr/>
                    <a:lstStyle/>
                    <a:p>
                      <a:r>
                        <a:rPr lang="en-US" sz="1000" b="0" i="0" u="none" baseline="0" dirty="0">
                          <a:solidFill>
                            <a:schemeClr val="tx1"/>
                          </a:solidFill>
                          <a:uFill>
                            <a:solidFill>
                              <a:schemeClr val="bg1"/>
                            </a:solidFill>
                          </a:uFill>
                          <a:latin typeface="+mn-lt"/>
                          <a:hlinkClick r:id="rId5" action="ppaction://hlinksldjump">
                            <a:extLst>
                              <a:ext uri="{A12FA001-AC4F-418D-AE19-62706E023703}">
                                <ahyp:hlinkClr xmlns:ahyp="http://schemas.microsoft.com/office/drawing/2018/hyperlinkcolor" val="tx"/>
                              </a:ext>
                            </a:extLst>
                          </a:hlinkClick>
                        </a:rPr>
                        <a:t>Literature Review: Dictionaries</a:t>
                      </a:r>
                      <a:endParaRPr lang="en-US" sz="1000" b="0" i="0" u="none" baseline="0" dirty="0">
                        <a:solidFill>
                          <a:schemeClr val="tx1"/>
                        </a:solidFill>
                        <a:uFill>
                          <a:solidFill>
                            <a:schemeClr val="bg1"/>
                          </a:solidFill>
                        </a:uFill>
                        <a:latin typeface="+mn-lt"/>
                      </a:endParaRPr>
                    </a:p>
                  </a:txBody>
                  <a:tcPr marL="99060" marR="99060" marT="49530" marB="49530">
                    <a:noFill/>
                  </a:tcPr>
                </a:tc>
                <a:tc>
                  <a:txBody>
                    <a:bodyPr/>
                    <a:lstStyle/>
                    <a:p>
                      <a:r>
                        <a:rPr lang="en-US" sz="1000" b="1" i="0" u="none" dirty="0">
                          <a:solidFill>
                            <a:schemeClr val="tx1"/>
                          </a:solidFill>
                          <a:latin typeface="+mj-lt"/>
                        </a:rPr>
                        <a:t>5</a:t>
                      </a:r>
                    </a:p>
                  </a:txBody>
                  <a:tcPr marL="99060" marR="99060" marT="49530" marB="49530">
                    <a:noFill/>
                  </a:tcPr>
                </a:tc>
                <a:extLst>
                  <a:ext uri="{0D108BD9-81ED-4DB2-BD59-A6C34878D82A}">
                    <a16:rowId xmlns:a16="http://schemas.microsoft.com/office/drawing/2014/main" val="2507323302"/>
                  </a:ext>
                </a:extLst>
              </a:tr>
              <a:tr h="307417">
                <a:tc>
                  <a:txBody>
                    <a:bodyPr/>
                    <a:lstStyle/>
                    <a:p>
                      <a:r>
                        <a:rPr lang="en-US" sz="1000" b="0" i="0" u="none" baseline="0" dirty="0">
                          <a:solidFill>
                            <a:schemeClr val="tx1"/>
                          </a:solidFill>
                          <a:uFill>
                            <a:solidFill>
                              <a:schemeClr val="bg1"/>
                            </a:solidFill>
                          </a:uFill>
                          <a:latin typeface="+mn-lt"/>
                          <a:hlinkClick r:id="rId6" action="ppaction://hlinksldjump">
                            <a:extLst>
                              <a:ext uri="{A12FA001-AC4F-418D-AE19-62706E023703}">
                                <ahyp:hlinkClr xmlns:ahyp="http://schemas.microsoft.com/office/drawing/2018/hyperlinkcolor" val="tx"/>
                              </a:ext>
                            </a:extLst>
                          </a:hlinkClick>
                        </a:rPr>
                        <a:t>Literature Review: LSTM</a:t>
                      </a:r>
                      <a:endParaRPr lang="en-US" sz="1000" b="0" i="0" u="none" baseline="0" dirty="0">
                        <a:solidFill>
                          <a:schemeClr val="tx1"/>
                        </a:solidFill>
                        <a:uFill>
                          <a:solidFill>
                            <a:schemeClr val="bg1"/>
                          </a:solidFill>
                        </a:uFill>
                        <a:latin typeface="+mn-lt"/>
                      </a:endParaRPr>
                    </a:p>
                  </a:txBody>
                  <a:tcPr marL="99060" marR="99060" marT="49530" marB="49530">
                    <a:noFill/>
                  </a:tcPr>
                </a:tc>
                <a:tc>
                  <a:txBody>
                    <a:bodyPr/>
                    <a:lstStyle/>
                    <a:p>
                      <a:r>
                        <a:rPr lang="en-US" sz="1000" b="1" i="0" u="none" dirty="0">
                          <a:solidFill>
                            <a:schemeClr val="tx1"/>
                          </a:solidFill>
                          <a:latin typeface="+mj-lt"/>
                        </a:rPr>
                        <a:t>6</a:t>
                      </a:r>
                    </a:p>
                  </a:txBody>
                  <a:tcPr marL="99060" marR="99060" marT="49530" marB="49530">
                    <a:noFill/>
                  </a:tcPr>
                </a:tc>
                <a:extLst>
                  <a:ext uri="{0D108BD9-81ED-4DB2-BD59-A6C34878D82A}">
                    <a16:rowId xmlns:a16="http://schemas.microsoft.com/office/drawing/2014/main" val="2710124994"/>
                  </a:ext>
                </a:extLst>
              </a:tr>
              <a:tr h="307417">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000" b="0" i="0" u="none" baseline="0" dirty="0">
                          <a:solidFill>
                            <a:schemeClr val="tx1"/>
                          </a:solidFill>
                          <a:uFill>
                            <a:solidFill>
                              <a:schemeClr val="bg1"/>
                            </a:solidFill>
                          </a:uFill>
                          <a:latin typeface="+mn-lt"/>
                          <a:hlinkClick r:id="rId7" action="ppaction://hlinksldjump">
                            <a:extLst>
                              <a:ext uri="{A12FA001-AC4F-418D-AE19-62706E023703}">
                                <ahyp:hlinkClr xmlns:ahyp="http://schemas.microsoft.com/office/drawing/2018/hyperlinkcolor" val="tx"/>
                              </a:ext>
                            </a:extLst>
                          </a:hlinkClick>
                        </a:rPr>
                        <a:t>Literature Review: Transformers</a:t>
                      </a:r>
                      <a:endParaRPr lang="en-US" sz="1000" b="0" i="0" u="none" baseline="0" dirty="0">
                        <a:solidFill>
                          <a:schemeClr val="tx1"/>
                        </a:solidFill>
                        <a:uFill>
                          <a:solidFill>
                            <a:schemeClr val="bg1"/>
                          </a:solidFill>
                        </a:uFill>
                        <a:latin typeface="+mn-lt"/>
                      </a:endParaRPr>
                    </a:p>
                    <a:p>
                      <a:pPr marL="0" algn="l" defTabSz="514350" rtl="0" eaLnBrk="1" latinLnBrk="0" hangingPunct="1"/>
                      <a:endParaRPr lang="en-US" sz="1000" b="0" u="none" kern="1200" dirty="0">
                        <a:solidFill>
                          <a:schemeClr val="tx1"/>
                        </a:solidFill>
                        <a:latin typeface="+mn-lt"/>
                        <a:ea typeface="+mn-ea"/>
                        <a:cs typeface="+mn-cs"/>
                      </a:endParaRPr>
                    </a:p>
                  </a:txBody>
                  <a:tcPr marL="99060" marR="99060" marT="49530" marB="49530">
                    <a:noFill/>
                  </a:tcPr>
                </a:tc>
                <a:tc>
                  <a:txBody>
                    <a:bodyPr/>
                    <a:lstStyle/>
                    <a:p>
                      <a:r>
                        <a:rPr lang="en-US" sz="1000" b="1" i="0" u="none" dirty="0">
                          <a:solidFill>
                            <a:schemeClr val="tx1"/>
                          </a:solidFill>
                          <a:latin typeface="+mj-lt"/>
                        </a:rPr>
                        <a:t>7</a:t>
                      </a:r>
                    </a:p>
                  </a:txBody>
                  <a:tcPr marL="99060" marR="99060" marT="49530" marB="49530">
                    <a:noFill/>
                  </a:tcPr>
                </a:tc>
                <a:extLst>
                  <a:ext uri="{0D108BD9-81ED-4DB2-BD59-A6C34878D82A}">
                    <a16:rowId xmlns:a16="http://schemas.microsoft.com/office/drawing/2014/main" val="4105710283"/>
                  </a:ext>
                </a:extLst>
              </a:tr>
              <a:tr h="307417">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000" b="0" i="0" u="none" baseline="0" dirty="0">
                          <a:solidFill>
                            <a:schemeClr val="tx1"/>
                          </a:solidFill>
                          <a:uFill>
                            <a:solidFill>
                              <a:schemeClr val="bg1"/>
                            </a:solidFill>
                          </a:uFill>
                          <a:latin typeface="+mn-lt"/>
                          <a:hlinkClick r:id="rId8" action="ppaction://hlinksldjump">
                            <a:extLst>
                              <a:ext uri="{A12FA001-AC4F-418D-AE19-62706E023703}">
                                <ahyp:hlinkClr xmlns:ahyp="http://schemas.microsoft.com/office/drawing/2018/hyperlinkcolor" val="tx"/>
                              </a:ext>
                            </a:extLst>
                          </a:hlinkClick>
                        </a:rPr>
                        <a:t>Literature Review: Ensemble</a:t>
                      </a:r>
                      <a:endParaRPr lang="en-US" sz="1000" b="0" i="0" u="none" baseline="0" dirty="0">
                        <a:solidFill>
                          <a:schemeClr val="tx1"/>
                        </a:solidFill>
                        <a:uFill>
                          <a:solidFill>
                            <a:schemeClr val="bg1"/>
                          </a:solidFill>
                        </a:uFill>
                        <a:latin typeface="+mn-lt"/>
                      </a:endParaRPr>
                    </a:p>
                    <a:p>
                      <a:pPr marL="0" algn="l" defTabSz="514350" rtl="0" eaLnBrk="1" latinLnBrk="0" hangingPunct="1"/>
                      <a:endParaRPr lang="en-US" sz="1000" b="0" u="none" kern="1200" dirty="0">
                        <a:solidFill>
                          <a:schemeClr val="tx1"/>
                        </a:solidFill>
                        <a:latin typeface="+mn-lt"/>
                        <a:ea typeface="+mn-ea"/>
                        <a:cs typeface="+mn-cs"/>
                      </a:endParaRPr>
                    </a:p>
                  </a:txBody>
                  <a:tcPr marL="99060" marR="99060" marT="49530" marB="49530">
                    <a:noFill/>
                  </a:tcPr>
                </a:tc>
                <a:tc>
                  <a:txBody>
                    <a:bodyPr/>
                    <a:lstStyle/>
                    <a:p>
                      <a:r>
                        <a:rPr lang="en-US" sz="1000" b="1" i="0" u="none" dirty="0">
                          <a:solidFill>
                            <a:schemeClr val="tx1"/>
                          </a:solidFill>
                          <a:latin typeface="+mj-lt"/>
                        </a:rPr>
                        <a:t>8</a:t>
                      </a:r>
                    </a:p>
                  </a:txBody>
                  <a:tcPr marL="99060" marR="99060" marT="49530" marB="49530">
                    <a:noFill/>
                  </a:tcPr>
                </a:tc>
                <a:extLst>
                  <a:ext uri="{0D108BD9-81ED-4DB2-BD59-A6C34878D82A}">
                    <a16:rowId xmlns:a16="http://schemas.microsoft.com/office/drawing/2014/main" val="874043375"/>
                  </a:ext>
                </a:extLst>
              </a:tr>
              <a:tr h="307417">
                <a:tc>
                  <a:txBody>
                    <a:bodyPr/>
                    <a:lstStyle/>
                    <a:p>
                      <a:pPr marL="0" algn="l" defTabSz="514350" rtl="0" eaLnBrk="1" latinLnBrk="0" hangingPunct="1"/>
                      <a:endParaRPr lang="en-US" sz="1000" b="0" u="none" kern="1200" dirty="0">
                        <a:solidFill>
                          <a:schemeClr val="dk1"/>
                        </a:solidFill>
                        <a:latin typeface="+mn-lt"/>
                        <a:ea typeface="+mn-ea"/>
                        <a:cs typeface="+mn-cs"/>
                      </a:endParaRPr>
                    </a:p>
                  </a:txBody>
                  <a:tcPr marL="99060" marR="99060" marT="49530" marB="49530">
                    <a:noFill/>
                  </a:tcPr>
                </a:tc>
                <a:tc>
                  <a:txBody>
                    <a:bodyPr/>
                    <a:lstStyle/>
                    <a:p>
                      <a:endParaRPr lang="en-US" sz="1000" b="1" i="0" u="none" dirty="0">
                        <a:solidFill>
                          <a:schemeClr val="accent1"/>
                        </a:solidFill>
                        <a:latin typeface="+mj-lt"/>
                      </a:endParaRPr>
                    </a:p>
                  </a:txBody>
                  <a:tcPr marL="99060" marR="99060" marT="49530" marB="49530">
                    <a:noFill/>
                  </a:tcPr>
                </a:tc>
                <a:extLst>
                  <a:ext uri="{0D108BD9-81ED-4DB2-BD59-A6C34878D82A}">
                    <a16:rowId xmlns:a16="http://schemas.microsoft.com/office/drawing/2014/main" val="2891082899"/>
                  </a:ext>
                </a:extLst>
              </a:tr>
              <a:tr h="3074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i="0" u="none" baseline="0" dirty="0">
                          <a:solidFill>
                            <a:schemeClr val="accent1"/>
                          </a:solidFill>
                          <a:uFill>
                            <a:solidFill>
                              <a:schemeClr val="bg1"/>
                            </a:solidFill>
                          </a:uFill>
                          <a:latin typeface="+mn-lt"/>
                          <a:hlinkClick r:id="rId9" action="ppaction://hlinksldjump"/>
                        </a:rPr>
                        <a:t>Dataset &amp; Exploration</a:t>
                      </a:r>
                      <a:endParaRPr lang="en-US" sz="1000" b="1" i="0" u="none" baseline="0" dirty="0">
                        <a:solidFill>
                          <a:schemeClr val="accent1"/>
                        </a:solidFill>
                        <a:uFill>
                          <a:solidFill>
                            <a:schemeClr val="bg1"/>
                          </a:solidFill>
                        </a:uFill>
                        <a:latin typeface="+mn-lt"/>
                      </a:endParaRPr>
                    </a:p>
                    <a:p>
                      <a:endParaRPr lang="en-US" sz="1000" b="0" i="0" u="none" baseline="0" dirty="0">
                        <a:solidFill>
                          <a:schemeClr val="tx1"/>
                        </a:solidFill>
                        <a:uFill>
                          <a:solidFill>
                            <a:schemeClr val="bg1"/>
                          </a:solidFill>
                        </a:uFill>
                        <a:latin typeface="+mn-lt"/>
                      </a:endParaRPr>
                    </a:p>
                  </a:txBody>
                  <a:tcPr marL="99060" marR="99060" marT="49530" marB="49530">
                    <a:noFill/>
                  </a:tcPr>
                </a:tc>
                <a:tc>
                  <a:txBody>
                    <a:bodyPr/>
                    <a:lstStyle/>
                    <a:p>
                      <a:r>
                        <a:rPr lang="en-US" sz="1000" b="1" i="0" u="none" dirty="0">
                          <a:solidFill>
                            <a:schemeClr val="accent1"/>
                          </a:solidFill>
                          <a:latin typeface="+mj-lt"/>
                        </a:rPr>
                        <a:t>9</a:t>
                      </a:r>
                    </a:p>
                  </a:txBody>
                  <a:tcPr marL="99060" marR="99060" marT="49530" marB="49530">
                    <a:noFill/>
                  </a:tcPr>
                </a:tc>
                <a:extLst>
                  <a:ext uri="{0D108BD9-81ED-4DB2-BD59-A6C34878D82A}">
                    <a16:rowId xmlns:a16="http://schemas.microsoft.com/office/drawing/2014/main" val="2502482596"/>
                  </a:ext>
                </a:extLst>
              </a:tr>
              <a:tr h="307417">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000" b="1" i="0" u="none" baseline="0" dirty="0">
                          <a:solidFill>
                            <a:schemeClr val="accent1"/>
                          </a:solidFill>
                          <a:uFill>
                            <a:solidFill>
                              <a:schemeClr val="bg1"/>
                            </a:solidFill>
                          </a:uFill>
                          <a:latin typeface="+mn-lt"/>
                          <a:hlinkClick r:id="rId10" action="ppaction://hlinksldjump"/>
                        </a:rPr>
                        <a:t>Methods</a:t>
                      </a:r>
                      <a:endParaRPr lang="en-US" sz="1000" b="1" i="0" u="none" baseline="0" dirty="0">
                        <a:solidFill>
                          <a:schemeClr val="accent1"/>
                        </a:solidFill>
                        <a:uFill>
                          <a:solidFill>
                            <a:schemeClr val="bg1"/>
                          </a:solidFill>
                        </a:uFill>
                        <a:latin typeface="+mn-lt"/>
                      </a:endParaRPr>
                    </a:p>
                  </a:txBody>
                  <a:tcPr marL="99060" marR="99060" marT="49530" marB="49530">
                    <a:noFill/>
                  </a:tcPr>
                </a:tc>
                <a:tc>
                  <a:txBody>
                    <a:bodyPr/>
                    <a:lstStyle/>
                    <a:p>
                      <a:r>
                        <a:rPr lang="en-US" sz="1000" b="1" i="0" u="none" dirty="0">
                          <a:solidFill>
                            <a:schemeClr val="accent1"/>
                          </a:solidFill>
                          <a:latin typeface="+mj-lt"/>
                        </a:rPr>
                        <a:t>11</a:t>
                      </a:r>
                    </a:p>
                  </a:txBody>
                  <a:tcPr marL="99060" marR="99060" marT="49530" marB="49530">
                    <a:noFill/>
                  </a:tcPr>
                </a:tc>
                <a:extLst>
                  <a:ext uri="{0D108BD9-81ED-4DB2-BD59-A6C34878D82A}">
                    <a16:rowId xmlns:a16="http://schemas.microsoft.com/office/drawing/2014/main" val="3245706943"/>
                  </a:ext>
                </a:extLst>
              </a:tr>
              <a:tr h="307417">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lang="en-US" sz="1000" b="0" u="none" kern="1200" dirty="0">
                        <a:solidFill>
                          <a:schemeClr val="dk1"/>
                        </a:solidFill>
                        <a:latin typeface="+mn-lt"/>
                        <a:ea typeface="+mn-ea"/>
                        <a:cs typeface="+mn-cs"/>
                      </a:endParaRPr>
                    </a:p>
                  </a:txBody>
                  <a:tcPr marL="99060" marR="99060" marT="49530" marB="49530">
                    <a:noFill/>
                  </a:tcPr>
                </a:tc>
                <a:tc>
                  <a:txBody>
                    <a:bodyPr/>
                    <a:lstStyle/>
                    <a:p>
                      <a:endParaRPr lang="en-US" sz="1000" b="1" i="0" u="none" dirty="0">
                        <a:solidFill>
                          <a:schemeClr val="accent1"/>
                        </a:solidFill>
                        <a:latin typeface="+mj-lt"/>
                      </a:endParaRPr>
                    </a:p>
                  </a:txBody>
                  <a:tcPr marL="99060" marR="99060" marT="49530" marB="49530">
                    <a:noFill/>
                  </a:tcPr>
                </a:tc>
                <a:extLst>
                  <a:ext uri="{0D108BD9-81ED-4DB2-BD59-A6C34878D82A}">
                    <a16:rowId xmlns:a16="http://schemas.microsoft.com/office/drawing/2014/main" val="3045810329"/>
                  </a:ext>
                </a:extLst>
              </a:tr>
            </a:tbl>
          </a:graphicData>
        </a:graphic>
      </p:graphicFrame>
      <p:cxnSp>
        <p:nvCxnSpPr>
          <p:cNvPr id="33" name="Straight Connector 32">
            <a:extLst>
              <a:ext uri="{FF2B5EF4-FFF2-40B4-BE49-F238E27FC236}">
                <a16:creationId xmlns:a16="http://schemas.microsoft.com/office/drawing/2014/main" id="{A6D6A0AD-B4BE-0093-A6E2-3EE4CEA7B8EA}"/>
              </a:ext>
            </a:extLst>
          </p:cNvPr>
          <p:cNvCxnSpPr>
            <a:cxnSpLocks/>
          </p:cNvCxnSpPr>
          <p:nvPr/>
        </p:nvCxnSpPr>
        <p:spPr>
          <a:xfrm flipV="1">
            <a:off x="377619" y="1114835"/>
            <a:ext cx="0" cy="1817535"/>
          </a:xfrm>
          <a:prstGeom prst="line">
            <a:avLst/>
          </a:prstGeom>
          <a:ln w="38100">
            <a:solidFill>
              <a:srgbClr val="003469"/>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D649D30D-1A25-DD37-B2D8-2BFA5D77977D}"/>
              </a:ext>
            </a:extLst>
          </p:cNvPr>
          <p:cNvSpPr txBox="1"/>
          <p:nvPr/>
        </p:nvSpPr>
        <p:spPr>
          <a:xfrm rot="16200000">
            <a:off x="-328438" y="1414919"/>
            <a:ext cx="1137037" cy="267317"/>
          </a:xfrm>
          <a:prstGeom prst="rect">
            <a:avLst/>
          </a:prstGeom>
          <a:noFill/>
        </p:spPr>
        <p:txBody>
          <a:bodyPr wrap="square" rtlCol="0">
            <a:spAutoFit/>
          </a:bodyPr>
          <a:lstStyle/>
          <a:p>
            <a:r>
              <a:rPr lang="en-US" sz="1137" b="1" dirty="0">
                <a:solidFill>
                  <a:srgbClr val="003469"/>
                </a:solidFill>
                <a:latin typeface="+mj-lt"/>
                <a:cs typeface="Arial" panose="020B0604020202020204" pitchFamily="34" charset="0"/>
              </a:rPr>
              <a:t>Presentation</a:t>
            </a:r>
          </a:p>
        </p:txBody>
      </p:sp>
      <p:grpSp>
        <p:nvGrpSpPr>
          <p:cNvPr id="35" name="Group 34">
            <a:extLst>
              <a:ext uri="{FF2B5EF4-FFF2-40B4-BE49-F238E27FC236}">
                <a16:creationId xmlns:a16="http://schemas.microsoft.com/office/drawing/2014/main" id="{9F4C30A4-8AB6-9C79-4D88-9997F5D10E78}"/>
              </a:ext>
            </a:extLst>
          </p:cNvPr>
          <p:cNvGrpSpPr/>
          <p:nvPr/>
        </p:nvGrpSpPr>
        <p:grpSpPr>
          <a:xfrm>
            <a:off x="6535151" y="1062594"/>
            <a:ext cx="267317" cy="1869776"/>
            <a:chOff x="3621208" y="754858"/>
            <a:chExt cx="267317" cy="1725947"/>
          </a:xfrm>
        </p:grpSpPr>
        <p:cxnSp>
          <p:nvCxnSpPr>
            <p:cNvPr id="36" name="Straight Connector 35">
              <a:extLst>
                <a:ext uri="{FF2B5EF4-FFF2-40B4-BE49-F238E27FC236}">
                  <a16:creationId xmlns:a16="http://schemas.microsoft.com/office/drawing/2014/main" id="{27CBF36F-82B2-B27C-FA05-7467C4A6EC35}"/>
                </a:ext>
              </a:extLst>
            </p:cNvPr>
            <p:cNvCxnSpPr>
              <a:cxnSpLocks/>
            </p:cNvCxnSpPr>
            <p:nvPr/>
          </p:nvCxnSpPr>
          <p:spPr>
            <a:xfrm flipV="1">
              <a:off x="3881825" y="803080"/>
              <a:ext cx="0" cy="1677725"/>
            </a:xfrm>
            <a:prstGeom prst="line">
              <a:avLst/>
            </a:prstGeom>
            <a:ln w="38100">
              <a:solidFill>
                <a:srgbClr val="003469"/>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338B5155-F99E-73E1-707C-0CCBA18FAE1E}"/>
                </a:ext>
              </a:extLst>
            </p:cNvPr>
            <p:cNvSpPr txBox="1"/>
            <p:nvPr/>
          </p:nvSpPr>
          <p:spPr>
            <a:xfrm rot="16200000">
              <a:off x="3357301" y="1018765"/>
              <a:ext cx="795131" cy="267317"/>
            </a:xfrm>
            <a:prstGeom prst="rect">
              <a:avLst/>
            </a:prstGeom>
            <a:noFill/>
            <a:ln>
              <a:noFill/>
            </a:ln>
          </p:spPr>
          <p:txBody>
            <a:bodyPr wrap="square" rtlCol="0">
              <a:spAutoFit/>
            </a:bodyPr>
            <a:lstStyle/>
            <a:p>
              <a:r>
                <a:rPr lang="en-US" sz="1137" b="1" dirty="0">
                  <a:solidFill>
                    <a:srgbClr val="003469"/>
                  </a:solidFill>
                  <a:latin typeface="+mj-lt"/>
                  <a:cs typeface="Arial" panose="020B0604020202020204" pitchFamily="34" charset="0"/>
                </a:rPr>
                <a:t>Appendix</a:t>
              </a:r>
            </a:p>
          </p:txBody>
        </p:sp>
      </p:grpSp>
      <p:graphicFrame>
        <p:nvGraphicFramePr>
          <p:cNvPr id="38" name="Table 4">
            <a:extLst>
              <a:ext uri="{FF2B5EF4-FFF2-40B4-BE49-F238E27FC236}">
                <a16:creationId xmlns:a16="http://schemas.microsoft.com/office/drawing/2014/main" id="{8A44F484-B2BA-3177-5ABA-4C87998B1DAE}"/>
              </a:ext>
            </a:extLst>
          </p:cNvPr>
          <p:cNvGraphicFramePr>
            <a:graphicFrameLocks noGrp="1"/>
          </p:cNvGraphicFramePr>
          <p:nvPr>
            <p:extLst>
              <p:ext uri="{D42A27DB-BD31-4B8C-83A1-F6EECF244321}">
                <p14:modId xmlns:p14="http://schemas.microsoft.com/office/powerpoint/2010/main" val="2053443624"/>
              </p:ext>
            </p:extLst>
          </p:nvPr>
        </p:nvGraphicFramePr>
        <p:xfrm>
          <a:off x="3822090" y="1097616"/>
          <a:ext cx="2880000" cy="7724595"/>
        </p:xfrm>
        <a:graphic>
          <a:graphicData uri="http://schemas.openxmlformats.org/drawingml/2006/table">
            <a:tbl>
              <a:tblPr>
                <a:tableStyleId>{5C22544A-7EE6-4342-B048-85BDC9FD1C3A}</a:tableStyleId>
              </a:tblPr>
              <a:tblGrid>
                <a:gridCol w="2450290">
                  <a:extLst>
                    <a:ext uri="{9D8B030D-6E8A-4147-A177-3AD203B41FA5}">
                      <a16:colId xmlns:a16="http://schemas.microsoft.com/office/drawing/2014/main" val="16870547"/>
                    </a:ext>
                  </a:extLst>
                </a:gridCol>
                <a:gridCol w="429710">
                  <a:extLst>
                    <a:ext uri="{9D8B030D-6E8A-4147-A177-3AD203B41FA5}">
                      <a16:colId xmlns:a16="http://schemas.microsoft.com/office/drawing/2014/main" val="1548675604"/>
                    </a:ext>
                  </a:extLst>
                </a:gridCol>
              </a:tblGrid>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000" b="1" i="0" u="none" baseline="0" dirty="0">
                          <a:solidFill>
                            <a:schemeClr val="accent1"/>
                          </a:solidFill>
                          <a:uFill>
                            <a:solidFill>
                              <a:schemeClr val="bg1"/>
                            </a:solidFill>
                          </a:uFill>
                          <a:latin typeface="+mn-lt"/>
                        </a:rPr>
                        <a:t>Results </a:t>
                      </a:r>
                    </a:p>
                  </a:txBody>
                  <a:tcPr marL="99060" marR="99060" marT="49530" marB="49530">
                    <a:noFill/>
                  </a:tcPr>
                </a:tc>
                <a:tc>
                  <a:txBody>
                    <a:bodyPr/>
                    <a:lstStyle/>
                    <a:p>
                      <a:pPr lvl="0" algn="ctr">
                        <a:buNone/>
                      </a:pPr>
                      <a:endParaRPr lang="en-US" sz="1000" b="1" i="0" dirty="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478260492"/>
                  </a:ext>
                </a:extLst>
              </a:tr>
              <a:tr h="329375">
                <a:tc>
                  <a:txBody>
                    <a:bodyPr/>
                    <a:lstStyle/>
                    <a:p>
                      <a:pPr marL="0" lvl="0" algn="l" defTabSz="514350" rtl="0" eaLnBrk="1" latinLnBrk="0" hangingPunct="1">
                        <a:buNone/>
                      </a:pPr>
                      <a:r>
                        <a:rPr lang="en-US" sz="1000" b="0" u="none" kern="1200" dirty="0">
                          <a:solidFill>
                            <a:schemeClr val="tx1"/>
                          </a:solidFill>
                          <a:latin typeface="+mn-lt"/>
                          <a:ea typeface="+mn-ea"/>
                          <a:cs typeface="+mn-cs"/>
                          <a:hlinkClick r:id="rId11" action="ppaction://hlinksldjump">
                            <a:extLst>
                              <a:ext uri="{A12FA001-AC4F-418D-AE19-62706E023703}">
                                <ahyp:hlinkClr xmlns:ahyp="http://schemas.microsoft.com/office/drawing/2018/hyperlinkcolor" val="tx"/>
                              </a:ext>
                            </a:extLst>
                          </a:hlinkClick>
                        </a:rPr>
                        <a:t>Overview</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12</a:t>
                      </a:r>
                    </a:p>
                  </a:txBody>
                  <a:tcPr marL="99060" marR="99060" marT="49530" marB="49530">
                    <a:noFill/>
                  </a:tcPr>
                </a:tc>
                <a:extLst>
                  <a:ext uri="{0D108BD9-81ED-4DB2-BD59-A6C34878D82A}">
                    <a16:rowId xmlns:a16="http://schemas.microsoft.com/office/drawing/2014/main" val="2174410019"/>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000" b="0" u="none" kern="1200" dirty="0">
                          <a:solidFill>
                            <a:schemeClr val="tx1"/>
                          </a:solidFill>
                          <a:latin typeface="+mn-lt"/>
                          <a:ea typeface="+mn-ea"/>
                          <a:cs typeface="+mn-cs"/>
                          <a:hlinkClick r:id="rId12" action="ppaction://hlinksldjump">
                            <a:extLst>
                              <a:ext uri="{A12FA001-AC4F-418D-AE19-62706E023703}">
                                <ahyp:hlinkClr xmlns:ahyp="http://schemas.microsoft.com/office/drawing/2018/hyperlinkcolor" val="tx"/>
                              </a:ext>
                            </a:extLst>
                          </a:hlinkClick>
                        </a:rPr>
                        <a:t>Results - LIME</a:t>
                      </a:r>
                      <a:endParaRPr lang="en-AU"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13</a:t>
                      </a:r>
                    </a:p>
                  </a:txBody>
                  <a:tcPr marL="99060" marR="99060" marT="49530" marB="49530">
                    <a:noFill/>
                  </a:tcPr>
                </a:tc>
                <a:extLst>
                  <a:ext uri="{0D108BD9-81ED-4DB2-BD59-A6C34878D82A}">
                    <a16:rowId xmlns:a16="http://schemas.microsoft.com/office/drawing/2014/main" val="1585988647"/>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AU" sz="1000" b="0" u="none" kern="1200" dirty="0">
                          <a:solidFill>
                            <a:schemeClr val="tx1"/>
                          </a:solidFill>
                          <a:latin typeface="+mn-lt"/>
                          <a:ea typeface="+mn-ea"/>
                          <a:cs typeface="+mn-cs"/>
                          <a:hlinkClick r:id="rId13" action="ppaction://hlinksldjump">
                            <a:extLst>
                              <a:ext uri="{A12FA001-AC4F-418D-AE19-62706E023703}">
                                <ahyp:hlinkClr xmlns:ahyp="http://schemas.microsoft.com/office/drawing/2018/hyperlinkcolor" val="tx"/>
                              </a:ext>
                            </a:extLst>
                          </a:hlinkClick>
                        </a:rPr>
                        <a:t>Results - Stacking</a:t>
                      </a:r>
                      <a:endParaRPr lang="en-AU"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14</a:t>
                      </a:r>
                    </a:p>
                  </a:txBody>
                  <a:tcPr marL="99060" marR="99060" marT="49530" marB="49530">
                    <a:noFill/>
                  </a:tcPr>
                </a:tc>
                <a:extLst>
                  <a:ext uri="{0D108BD9-81ED-4DB2-BD59-A6C34878D82A}">
                    <a16:rowId xmlns:a16="http://schemas.microsoft.com/office/drawing/2014/main" val="1204497863"/>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lang="en-AU" sz="1000" b="0" u="none" kern="1200" dirty="0">
                        <a:solidFill>
                          <a:schemeClr val="dk1"/>
                        </a:solidFill>
                        <a:latin typeface="+mn-lt"/>
                        <a:ea typeface="+mn-ea"/>
                        <a:cs typeface="+mn-cs"/>
                      </a:endParaRPr>
                    </a:p>
                  </a:txBody>
                  <a:tcPr marL="99060" marR="99060" marT="49530" marB="49530">
                    <a:noFill/>
                  </a:tcPr>
                </a:tc>
                <a:tc>
                  <a:txBody>
                    <a:bodyPr/>
                    <a:lstStyle/>
                    <a:p>
                      <a:pPr lvl="0" algn="ctr">
                        <a:buNone/>
                      </a:pPr>
                      <a:endParaRPr lang="en-US" sz="1000" b="1" i="0" dirty="0">
                        <a:solidFill>
                          <a:srgbClr val="4372C4"/>
                        </a:solidFill>
                        <a:latin typeface="+mn-lt"/>
                        <a:cs typeface="Arial"/>
                      </a:endParaRPr>
                    </a:p>
                  </a:txBody>
                  <a:tcPr marL="99060" marR="99060" marT="49530" marB="49530">
                    <a:noFill/>
                  </a:tcPr>
                </a:tc>
                <a:extLst>
                  <a:ext uri="{0D108BD9-81ED-4DB2-BD59-A6C34878D82A}">
                    <a16:rowId xmlns:a16="http://schemas.microsoft.com/office/drawing/2014/main" val="859462732"/>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000" b="1" i="0" u="none" baseline="0" dirty="0">
                          <a:solidFill>
                            <a:schemeClr val="accent1"/>
                          </a:solidFill>
                          <a:uFill>
                            <a:solidFill>
                              <a:schemeClr val="bg1"/>
                            </a:solidFill>
                          </a:uFill>
                          <a:latin typeface="+mn-lt"/>
                          <a:hlinkClick r:id="rId14" action="ppaction://hlinksldjump"/>
                        </a:rPr>
                        <a:t>Discussion</a:t>
                      </a:r>
                      <a:endParaRPr lang="en-US" sz="1000" b="1" i="0" u="none" baseline="0" dirty="0">
                        <a:solidFill>
                          <a:schemeClr val="accent1"/>
                        </a:solidFill>
                        <a:uFill>
                          <a:solidFill>
                            <a:schemeClr val="bg1"/>
                          </a:solidFill>
                        </a:uFill>
                        <a:latin typeface="+mn-lt"/>
                      </a:endParaRPr>
                    </a:p>
                    <a:p>
                      <a:pPr marL="0" marR="0" lvl="0" indent="0" algn="l" defTabSz="514350" rtl="0" eaLnBrk="1" fontAlgn="auto" latinLnBrk="0" hangingPunct="1">
                        <a:lnSpc>
                          <a:spcPct val="100000"/>
                        </a:lnSpc>
                        <a:spcBef>
                          <a:spcPts val="0"/>
                        </a:spcBef>
                        <a:spcAft>
                          <a:spcPts val="0"/>
                        </a:spcAft>
                        <a:buClrTx/>
                        <a:buSzTx/>
                        <a:buFontTx/>
                        <a:buNone/>
                        <a:tabLst/>
                        <a:defRPr/>
                      </a:pPr>
                      <a:endParaRPr lang="en-US" sz="1000" b="0" u="none" kern="1200" dirty="0">
                        <a:solidFill>
                          <a:schemeClr val="dk1"/>
                        </a:solidFill>
                        <a:latin typeface="+mn-lt"/>
                        <a:ea typeface="+mn-ea"/>
                        <a:cs typeface="+mn-cs"/>
                      </a:endParaRPr>
                    </a:p>
                  </a:txBody>
                  <a:tcPr marL="99060" marR="99060" marT="49530" marB="49530">
                    <a:noFill/>
                  </a:tcPr>
                </a:tc>
                <a:tc>
                  <a:txBody>
                    <a:bodyPr/>
                    <a:lstStyle/>
                    <a:p>
                      <a:pPr lvl="0" algn="ctr">
                        <a:buNone/>
                      </a:pPr>
                      <a:r>
                        <a:rPr lang="en-US" sz="1000" b="1" i="0" u="none" kern="1200" dirty="0">
                          <a:solidFill>
                            <a:srgbClr val="4372C4"/>
                          </a:solidFill>
                          <a:latin typeface="+mn-lt"/>
                          <a:ea typeface="+mn-ea"/>
                          <a:cs typeface="+mn-cs"/>
                        </a:rPr>
                        <a:t>15</a:t>
                      </a:r>
                      <a:endParaRPr lang="en-US" sz="1000" b="1" i="0" dirty="0">
                        <a:solidFill>
                          <a:srgbClr val="4372C4"/>
                        </a:solidFill>
                        <a:latin typeface="+mn-lt"/>
                        <a:cs typeface="Arial"/>
                      </a:endParaRPr>
                    </a:p>
                  </a:txBody>
                  <a:tcPr marL="99060" marR="99060" marT="49530" marB="49530">
                    <a:noFill/>
                  </a:tcPr>
                </a:tc>
                <a:extLst>
                  <a:ext uri="{0D108BD9-81ED-4DB2-BD59-A6C34878D82A}">
                    <a16:rowId xmlns:a16="http://schemas.microsoft.com/office/drawing/2014/main" val="559769688"/>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US" sz="1000" b="1" i="0" u="none" baseline="0" dirty="0">
                          <a:solidFill>
                            <a:schemeClr val="accent1"/>
                          </a:solidFill>
                          <a:uFill>
                            <a:solidFill>
                              <a:schemeClr val="bg1"/>
                            </a:solidFill>
                          </a:uFill>
                          <a:latin typeface="+mn-lt"/>
                          <a:hlinkClick r:id="rId15" action="ppaction://hlinksldjump"/>
                        </a:rPr>
                        <a:t>Conclusion</a:t>
                      </a:r>
                      <a:endParaRPr lang="en-US" sz="1000" b="1" i="0" u="none" baseline="0" dirty="0">
                        <a:solidFill>
                          <a:schemeClr val="accent1"/>
                        </a:solidFill>
                        <a:uFill>
                          <a:solidFill>
                            <a:schemeClr val="bg1"/>
                          </a:solidFill>
                        </a:uFill>
                        <a:latin typeface="+mn-lt"/>
                      </a:endParaRPr>
                    </a:p>
                    <a:p>
                      <a:pPr marL="0" marR="0" lvl="0" indent="0" algn="l" defTabSz="514350" rtl="0" eaLnBrk="1" fontAlgn="auto" latinLnBrk="0" hangingPunct="1">
                        <a:lnSpc>
                          <a:spcPct val="100000"/>
                        </a:lnSpc>
                        <a:spcBef>
                          <a:spcPts val="0"/>
                        </a:spcBef>
                        <a:spcAft>
                          <a:spcPts val="0"/>
                        </a:spcAft>
                        <a:buClrTx/>
                        <a:buSzTx/>
                        <a:buFontTx/>
                        <a:buNone/>
                        <a:tabLst/>
                        <a:defRPr/>
                      </a:pPr>
                      <a:endParaRPr lang="en-AU" sz="1000" b="0" u="none" kern="1200" dirty="0">
                        <a:solidFill>
                          <a:schemeClr val="dk1"/>
                        </a:solidFill>
                        <a:latin typeface="+mn-lt"/>
                        <a:ea typeface="+mn-ea"/>
                        <a:cs typeface="+mn-cs"/>
                      </a:endParaRPr>
                    </a:p>
                  </a:txBody>
                  <a:tcPr marL="99060" marR="99060" marT="49530" marB="49530">
                    <a:noFill/>
                  </a:tcPr>
                </a:tc>
                <a:tc>
                  <a:txBody>
                    <a:bodyPr/>
                    <a:lstStyle/>
                    <a:p>
                      <a:pPr lvl="0" algn="ctr">
                        <a:buNone/>
                      </a:pPr>
                      <a:r>
                        <a:rPr lang="en-US" sz="1000" b="1" i="0" dirty="0">
                          <a:solidFill>
                            <a:srgbClr val="4372C4"/>
                          </a:solidFill>
                          <a:latin typeface="+mn-lt"/>
                          <a:cs typeface="Arial"/>
                        </a:rPr>
                        <a:t>16</a:t>
                      </a:r>
                    </a:p>
                  </a:txBody>
                  <a:tcPr marL="99060" marR="99060" marT="49530" marB="49530">
                    <a:noFill/>
                  </a:tcPr>
                </a:tc>
                <a:extLst>
                  <a:ext uri="{0D108BD9-81ED-4DB2-BD59-A6C34878D82A}">
                    <a16:rowId xmlns:a16="http://schemas.microsoft.com/office/drawing/2014/main" val="3415954598"/>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lang="en-AU" sz="1000" b="0" u="none" kern="1200" dirty="0">
                        <a:solidFill>
                          <a:schemeClr val="dk1"/>
                        </a:solidFill>
                        <a:latin typeface="+mn-lt"/>
                        <a:ea typeface="+mn-ea"/>
                        <a:cs typeface="+mn-cs"/>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3855462367"/>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lang="en-US" sz="1000" b="0" u="none" kern="1200" dirty="0">
                        <a:solidFill>
                          <a:schemeClr val="dk1"/>
                        </a:solidFill>
                        <a:latin typeface="+mn-lt"/>
                        <a:ea typeface="+mn-ea"/>
                        <a:cs typeface="+mn-cs"/>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380695459"/>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lang="en-US" sz="1000" b="0" u="none" kern="1200">
                        <a:solidFill>
                          <a:schemeClr val="dk1"/>
                        </a:solidFill>
                        <a:latin typeface="+mn-lt"/>
                        <a:ea typeface="+mn-ea"/>
                        <a:cs typeface="+mn-cs"/>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1813637531"/>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lang="en-US" sz="1000" b="0" u="none" kern="1200">
                        <a:solidFill>
                          <a:schemeClr val="dk1"/>
                        </a:solidFill>
                        <a:latin typeface="+mn-lt"/>
                        <a:ea typeface="+mn-ea"/>
                        <a:cs typeface="+mn-cs"/>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1404606454"/>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lang="en-US" sz="1000" b="0" u="sng" kern="1200">
                        <a:solidFill>
                          <a:schemeClr val="dk1"/>
                        </a:solidFill>
                        <a:latin typeface="+mn-lt"/>
                        <a:ea typeface="+mn-ea"/>
                        <a:cs typeface="+mn-cs"/>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2134963689"/>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lang="en-US" sz="1000" b="0" u="none" kern="1200">
                        <a:solidFill>
                          <a:schemeClr val="dk1"/>
                        </a:solidFill>
                        <a:latin typeface="+mn-lt"/>
                        <a:ea typeface="+mn-ea"/>
                        <a:cs typeface="+mn-cs"/>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2170157186"/>
                  </a:ext>
                </a:extLst>
              </a:tr>
              <a:tr h="329375">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endParaRPr lang="en-US" sz="1000" b="0" u="none" kern="1200">
                        <a:solidFill>
                          <a:schemeClr val="dk1"/>
                        </a:solidFill>
                        <a:latin typeface="+mn-lt"/>
                        <a:ea typeface="+mn-ea"/>
                        <a:cs typeface="+mn-cs"/>
                      </a:endParaRPr>
                    </a:p>
                  </a:txBody>
                  <a:tcPr marL="99060" marR="99060" marT="49530" marB="49530">
                    <a:noFill/>
                  </a:tcPr>
                </a:tc>
                <a:tc>
                  <a:txBody>
                    <a:bodyPr/>
                    <a:lstStyle/>
                    <a:p>
                      <a:pPr lvl="0" algn="ctr">
                        <a:buNone/>
                      </a:pPr>
                      <a:endParaRPr lang="en-US" sz="1000" b="1" i="0" dirty="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631692802"/>
                  </a:ext>
                </a:extLst>
              </a:tr>
              <a:tr h="329375">
                <a:tc>
                  <a:txBody>
                    <a:bodyPr/>
                    <a:lstStyle/>
                    <a:p>
                      <a:pPr lvl="0">
                        <a:buNone/>
                      </a:pPr>
                      <a:endParaRPr lang="en-US" sz="1000" b="0" i="0" u="sng" baseline="0">
                        <a:solidFill>
                          <a:schemeClr val="tx1"/>
                        </a:solidFill>
                        <a:uFill>
                          <a:solidFill>
                            <a:schemeClr val="bg1"/>
                          </a:solidFill>
                        </a:uFill>
                        <a:latin typeface="+mn-lt"/>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4078429607"/>
                  </a:ext>
                </a:extLst>
              </a:tr>
              <a:tr h="329375">
                <a:tc>
                  <a:txBody>
                    <a:bodyPr/>
                    <a:lstStyle/>
                    <a:p>
                      <a:pPr lvl="0">
                        <a:buNone/>
                      </a:pPr>
                      <a:endParaRPr lang="en-US" sz="1000" b="0" i="0" u="sng" baseline="0">
                        <a:solidFill>
                          <a:schemeClr val="tx1"/>
                        </a:solidFill>
                        <a:uFill>
                          <a:solidFill>
                            <a:schemeClr val="bg1"/>
                          </a:solidFill>
                        </a:uFill>
                        <a:latin typeface="+mn-lt"/>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1221689930"/>
                  </a:ext>
                </a:extLst>
              </a:tr>
              <a:tr h="329375">
                <a:tc>
                  <a:txBody>
                    <a:bodyPr/>
                    <a:lstStyle/>
                    <a:p>
                      <a:pPr lvl="0">
                        <a:buNone/>
                      </a:pPr>
                      <a:endParaRPr lang="en-US" sz="1000" b="0" i="0" u="sng" baseline="0">
                        <a:solidFill>
                          <a:schemeClr val="tx1"/>
                        </a:solidFill>
                        <a:uFill>
                          <a:solidFill>
                            <a:schemeClr val="bg1"/>
                          </a:solidFill>
                        </a:uFill>
                        <a:latin typeface="+mn-lt"/>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2815291429"/>
                  </a:ext>
                </a:extLst>
              </a:tr>
              <a:tr h="329375">
                <a:tc>
                  <a:txBody>
                    <a:bodyPr/>
                    <a:lstStyle/>
                    <a:p>
                      <a:pPr lvl="0">
                        <a:buNone/>
                      </a:pPr>
                      <a:endParaRPr lang="en-US" sz="1000" b="0" i="0" u="sng" baseline="0">
                        <a:solidFill>
                          <a:schemeClr val="tx1"/>
                        </a:solidFill>
                        <a:uFill>
                          <a:solidFill>
                            <a:schemeClr val="bg1"/>
                          </a:solidFill>
                        </a:uFill>
                        <a:latin typeface="+mn-lt"/>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3495782387"/>
                  </a:ext>
                </a:extLst>
              </a:tr>
              <a:tr h="329375">
                <a:tc>
                  <a:txBody>
                    <a:bodyPr/>
                    <a:lstStyle/>
                    <a:p>
                      <a:pPr lvl="0">
                        <a:buNone/>
                      </a:pPr>
                      <a:endParaRPr lang="en-US" sz="1000" b="0" i="0" u="sng" baseline="0">
                        <a:solidFill>
                          <a:schemeClr val="tx1"/>
                        </a:solidFill>
                        <a:uFill>
                          <a:solidFill>
                            <a:schemeClr val="bg1"/>
                          </a:solidFill>
                        </a:uFill>
                        <a:latin typeface="+mn-lt"/>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1777815818"/>
                  </a:ext>
                </a:extLst>
              </a:tr>
              <a:tr h="329375">
                <a:tc>
                  <a:txBody>
                    <a:bodyPr/>
                    <a:lstStyle/>
                    <a:p>
                      <a:pPr lvl="0">
                        <a:buNone/>
                      </a:pPr>
                      <a:endParaRPr lang="en-US" sz="1000" b="0" i="0" u="sng" baseline="0">
                        <a:solidFill>
                          <a:schemeClr val="tx1"/>
                        </a:solidFill>
                        <a:uFill>
                          <a:solidFill>
                            <a:schemeClr val="bg1"/>
                          </a:solidFill>
                        </a:uFill>
                        <a:latin typeface="+mn-lt"/>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4074396964"/>
                  </a:ext>
                </a:extLst>
              </a:tr>
              <a:tr h="329375">
                <a:tc>
                  <a:txBody>
                    <a:bodyPr/>
                    <a:lstStyle/>
                    <a:p>
                      <a:pPr lvl="0">
                        <a:buNone/>
                      </a:pPr>
                      <a:endParaRPr lang="en-US" sz="1000" b="0" i="0" u="sng" baseline="0">
                        <a:solidFill>
                          <a:schemeClr val="tx1"/>
                        </a:solidFill>
                        <a:uFill>
                          <a:solidFill>
                            <a:schemeClr val="bg1"/>
                          </a:solidFill>
                        </a:uFill>
                        <a:latin typeface="+mn-lt"/>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3058329630"/>
                  </a:ext>
                </a:extLst>
              </a:tr>
              <a:tr h="329375">
                <a:tc>
                  <a:txBody>
                    <a:bodyPr/>
                    <a:lstStyle/>
                    <a:p>
                      <a:pPr lvl="0">
                        <a:buNone/>
                      </a:pPr>
                      <a:endParaRPr lang="en-US" sz="1000" b="0" i="0" u="sng" baseline="0">
                        <a:solidFill>
                          <a:schemeClr val="tx1"/>
                        </a:solidFill>
                        <a:uFill>
                          <a:solidFill>
                            <a:schemeClr val="bg1"/>
                          </a:solidFill>
                        </a:uFill>
                        <a:latin typeface="+mn-lt"/>
                      </a:endParaRPr>
                    </a:p>
                  </a:txBody>
                  <a:tcPr marL="99060" marR="99060" marT="49530" marB="49530">
                    <a:noFill/>
                  </a:tcPr>
                </a:tc>
                <a:tc>
                  <a:txBody>
                    <a:bodyPr/>
                    <a:lstStyle/>
                    <a:p>
                      <a:pPr lvl="0" algn="ctr">
                        <a:buNone/>
                      </a:pPr>
                      <a:endParaRPr lang="en-US" sz="1000" b="1" i="0">
                        <a:solidFill>
                          <a:schemeClr val="tx1"/>
                        </a:solidFill>
                        <a:latin typeface="+mn-lt"/>
                        <a:cs typeface="Arial"/>
                      </a:endParaRPr>
                    </a:p>
                  </a:txBody>
                  <a:tcPr marL="99060" marR="99060" marT="49530" marB="49530">
                    <a:noFill/>
                  </a:tcPr>
                </a:tc>
                <a:extLst>
                  <a:ext uri="{0D108BD9-81ED-4DB2-BD59-A6C34878D82A}">
                    <a16:rowId xmlns:a16="http://schemas.microsoft.com/office/drawing/2014/main" val="2770658059"/>
                  </a:ext>
                </a:extLst>
              </a:tr>
              <a:tr h="329375">
                <a:tc>
                  <a:txBody>
                    <a:bodyPr/>
                    <a:lstStyle/>
                    <a:p>
                      <a:pPr lvl="0">
                        <a:buNone/>
                      </a:pPr>
                      <a:r>
                        <a:rPr lang="en-US" sz="1000" b="0" i="0" u="sng" baseline="0">
                          <a:solidFill>
                            <a:schemeClr val="tx1"/>
                          </a:solidFill>
                          <a:uFill>
                            <a:solidFill>
                              <a:schemeClr val="bg1"/>
                            </a:solidFill>
                          </a:uFill>
                          <a:latin typeface="+mn-lt"/>
                        </a:rPr>
                        <a:t>CBA Sustainability in the News</a:t>
                      </a:r>
                    </a:p>
                  </a:txBody>
                  <a:tcPr marL="99060" marR="99060" marT="49530" marB="49530">
                    <a:noFill/>
                  </a:tcPr>
                </a:tc>
                <a:tc>
                  <a:txBody>
                    <a:bodyPr/>
                    <a:lstStyle/>
                    <a:p>
                      <a:pPr lvl="0" algn="ctr">
                        <a:buNone/>
                      </a:pPr>
                      <a:r>
                        <a:rPr lang="en-US" sz="1000" b="1" i="0" dirty="0">
                          <a:solidFill>
                            <a:schemeClr val="tx1"/>
                          </a:solidFill>
                          <a:latin typeface="+mn-lt"/>
                          <a:cs typeface="Arial"/>
                        </a:rPr>
                        <a:t>32</a:t>
                      </a:r>
                    </a:p>
                  </a:txBody>
                  <a:tcPr marL="99060" marR="99060" marT="49530" marB="49530">
                    <a:noFill/>
                  </a:tcPr>
                </a:tc>
                <a:extLst>
                  <a:ext uri="{0D108BD9-81ED-4DB2-BD59-A6C34878D82A}">
                    <a16:rowId xmlns:a16="http://schemas.microsoft.com/office/drawing/2014/main" val="2115069735"/>
                  </a:ext>
                </a:extLst>
              </a:tr>
            </a:tbl>
          </a:graphicData>
        </a:graphic>
      </p:graphicFrame>
      <p:graphicFrame>
        <p:nvGraphicFramePr>
          <p:cNvPr id="39" name="Table 38">
            <a:extLst>
              <a:ext uri="{FF2B5EF4-FFF2-40B4-BE49-F238E27FC236}">
                <a16:creationId xmlns:a16="http://schemas.microsoft.com/office/drawing/2014/main" id="{4E83EAEC-06FD-9170-4B8F-13D235D0FCC3}"/>
              </a:ext>
            </a:extLst>
          </p:cNvPr>
          <p:cNvGraphicFramePr>
            <a:graphicFrameLocks noGrp="1"/>
          </p:cNvGraphicFramePr>
          <p:nvPr>
            <p:extLst>
              <p:ext uri="{D42A27DB-BD31-4B8C-83A1-F6EECF244321}">
                <p14:modId xmlns:p14="http://schemas.microsoft.com/office/powerpoint/2010/main" val="2601637814"/>
              </p:ext>
            </p:extLst>
          </p:nvPr>
        </p:nvGraphicFramePr>
        <p:xfrm>
          <a:off x="6894539" y="1097616"/>
          <a:ext cx="2880000" cy="3940950"/>
        </p:xfrm>
        <a:graphic>
          <a:graphicData uri="http://schemas.openxmlformats.org/drawingml/2006/table">
            <a:tbl>
              <a:tblPr>
                <a:tableStyleId>{5C22544A-7EE6-4342-B048-85BDC9FD1C3A}</a:tableStyleId>
              </a:tblPr>
              <a:tblGrid>
                <a:gridCol w="2450290">
                  <a:extLst>
                    <a:ext uri="{9D8B030D-6E8A-4147-A177-3AD203B41FA5}">
                      <a16:colId xmlns:a16="http://schemas.microsoft.com/office/drawing/2014/main" val="3256993389"/>
                    </a:ext>
                  </a:extLst>
                </a:gridCol>
                <a:gridCol w="429710">
                  <a:extLst>
                    <a:ext uri="{9D8B030D-6E8A-4147-A177-3AD203B41FA5}">
                      <a16:colId xmlns:a16="http://schemas.microsoft.com/office/drawing/2014/main" val="2728173201"/>
                    </a:ext>
                  </a:extLst>
                </a:gridCol>
              </a:tblGrid>
              <a:tr h="317825">
                <a:tc>
                  <a:txBody>
                    <a:bodyPr/>
                    <a:lstStyle/>
                    <a:p>
                      <a:pPr lvl="0">
                        <a:buNone/>
                      </a:pPr>
                      <a:r>
                        <a:rPr lang="en-US" sz="1000" b="1" u="none" kern="1200" dirty="0">
                          <a:solidFill>
                            <a:srgbClr val="4372C4"/>
                          </a:solidFill>
                          <a:latin typeface="+mn-lt"/>
                          <a:ea typeface="+mn-ea"/>
                          <a:cs typeface="+mn-cs"/>
                        </a:rPr>
                        <a:t>Appendix Overview</a:t>
                      </a:r>
                    </a:p>
                  </a:txBody>
                  <a:tcPr marL="99060" marR="99060" marT="49530" marB="49530">
                    <a:noFill/>
                  </a:tcPr>
                </a:tc>
                <a:tc>
                  <a:txBody>
                    <a:bodyPr/>
                    <a:lstStyle/>
                    <a:p>
                      <a:pPr lvl="0" algn="ctr">
                        <a:buNone/>
                      </a:pPr>
                      <a:r>
                        <a:rPr lang="en-US" sz="1000" b="1" i="0" dirty="0">
                          <a:solidFill>
                            <a:srgbClr val="4372C4"/>
                          </a:solidFill>
                          <a:latin typeface="+mn-lt"/>
                          <a:cs typeface="Arial"/>
                        </a:rPr>
                        <a:t>17</a:t>
                      </a:r>
                    </a:p>
                  </a:txBody>
                  <a:tcPr marL="99060" marR="99060" marT="49530" marB="49530">
                    <a:noFill/>
                  </a:tcPr>
                </a:tc>
                <a:extLst>
                  <a:ext uri="{0D108BD9-81ED-4DB2-BD59-A6C34878D82A}">
                    <a16:rowId xmlns:a16="http://schemas.microsoft.com/office/drawing/2014/main" val="3964172480"/>
                  </a:ext>
                </a:extLst>
              </a:tr>
              <a:tr h="329375">
                <a:tc>
                  <a:txBody>
                    <a:bodyPr/>
                    <a:lstStyle/>
                    <a:p>
                      <a:pPr lvl="0">
                        <a:buNone/>
                      </a:pPr>
                      <a:r>
                        <a:rPr lang="en-US" sz="1000" b="0" u="none" kern="1200" dirty="0">
                          <a:solidFill>
                            <a:schemeClr val="tx1"/>
                          </a:solidFill>
                          <a:latin typeface="+mn-lt"/>
                          <a:ea typeface="+mn-ea"/>
                          <a:cs typeface="+mn-cs"/>
                          <a:hlinkClick r:id="rId16" action="ppaction://hlinksldjump">
                            <a:extLst>
                              <a:ext uri="{A12FA001-AC4F-418D-AE19-62706E023703}">
                                <ahyp:hlinkClr xmlns:ahyp="http://schemas.microsoft.com/office/drawing/2018/hyperlinkcolor" val="tx"/>
                              </a:ext>
                            </a:extLst>
                          </a:hlinkClick>
                        </a:rPr>
                        <a:t>Literature Review – Datasets used</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18</a:t>
                      </a:r>
                    </a:p>
                  </a:txBody>
                  <a:tcPr marL="99060" marR="99060" marT="49530" marB="49530">
                    <a:noFill/>
                  </a:tcPr>
                </a:tc>
                <a:extLst>
                  <a:ext uri="{0D108BD9-81ED-4DB2-BD59-A6C34878D82A}">
                    <a16:rowId xmlns:a16="http://schemas.microsoft.com/office/drawing/2014/main" val="3906717213"/>
                  </a:ext>
                </a:extLst>
              </a:tr>
              <a:tr h="329375">
                <a:tc>
                  <a:txBody>
                    <a:bodyPr/>
                    <a:lstStyle/>
                    <a:p>
                      <a:pPr lvl="0">
                        <a:buNone/>
                      </a:pPr>
                      <a:r>
                        <a:rPr lang="en-US" sz="1000" b="0" u="none" kern="1200" dirty="0">
                          <a:solidFill>
                            <a:schemeClr val="tx1"/>
                          </a:solidFill>
                          <a:latin typeface="+mn-lt"/>
                          <a:ea typeface="+mn-ea"/>
                          <a:cs typeface="+mn-cs"/>
                          <a:hlinkClick r:id="rId17" action="ppaction://hlinksldjump">
                            <a:extLst>
                              <a:ext uri="{A12FA001-AC4F-418D-AE19-62706E023703}">
                                <ahyp:hlinkClr xmlns:ahyp="http://schemas.microsoft.com/office/drawing/2018/hyperlinkcolor" val="tx"/>
                              </a:ext>
                            </a:extLst>
                          </a:hlinkClick>
                        </a:rPr>
                        <a:t>LSTM Architecture</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19</a:t>
                      </a:r>
                    </a:p>
                  </a:txBody>
                  <a:tcPr marL="99060" marR="99060" marT="49530" marB="49530">
                    <a:noFill/>
                  </a:tcPr>
                </a:tc>
                <a:extLst>
                  <a:ext uri="{0D108BD9-81ED-4DB2-BD59-A6C34878D82A}">
                    <a16:rowId xmlns:a16="http://schemas.microsoft.com/office/drawing/2014/main" val="3574813164"/>
                  </a:ext>
                </a:extLst>
              </a:tr>
              <a:tr h="329375">
                <a:tc>
                  <a:txBody>
                    <a:bodyPr/>
                    <a:lstStyle/>
                    <a:p>
                      <a:pPr lvl="0">
                        <a:buNone/>
                      </a:pPr>
                      <a:r>
                        <a:rPr lang="en-US" sz="1000" b="0" u="none" kern="1200" dirty="0" err="1">
                          <a:solidFill>
                            <a:schemeClr val="tx1"/>
                          </a:solidFill>
                          <a:latin typeface="+mn-lt"/>
                          <a:ea typeface="+mn-ea"/>
                          <a:cs typeface="+mn-cs"/>
                          <a:hlinkClick r:id="rId18" action="ppaction://hlinksldjump">
                            <a:extLst>
                              <a:ext uri="{A12FA001-AC4F-418D-AE19-62706E023703}">
                                <ahyp:hlinkClr xmlns:ahyp="http://schemas.microsoft.com/office/drawing/2018/hyperlinkcolor" val="tx"/>
                              </a:ext>
                            </a:extLst>
                          </a:hlinkClick>
                        </a:rPr>
                        <a:t>RoBERTa</a:t>
                      </a:r>
                      <a:r>
                        <a:rPr lang="en-US" sz="1000" b="0" u="none" kern="1200" dirty="0">
                          <a:solidFill>
                            <a:schemeClr val="tx1"/>
                          </a:solidFill>
                          <a:latin typeface="+mn-lt"/>
                          <a:ea typeface="+mn-ea"/>
                          <a:cs typeface="+mn-cs"/>
                          <a:hlinkClick r:id="rId18" action="ppaction://hlinksldjump">
                            <a:extLst>
                              <a:ext uri="{A12FA001-AC4F-418D-AE19-62706E023703}">
                                <ahyp:hlinkClr xmlns:ahyp="http://schemas.microsoft.com/office/drawing/2018/hyperlinkcolor" val="tx"/>
                              </a:ext>
                            </a:extLst>
                          </a:hlinkClick>
                        </a:rPr>
                        <a:t> Architecture</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20</a:t>
                      </a:r>
                    </a:p>
                  </a:txBody>
                  <a:tcPr marL="99060" marR="99060" marT="49530" marB="49530">
                    <a:noFill/>
                  </a:tcPr>
                </a:tc>
                <a:extLst>
                  <a:ext uri="{0D108BD9-81ED-4DB2-BD59-A6C34878D82A}">
                    <a16:rowId xmlns:a16="http://schemas.microsoft.com/office/drawing/2014/main" val="3606425284"/>
                  </a:ext>
                </a:extLst>
              </a:tr>
              <a:tr h="329375">
                <a:tc>
                  <a:txBody>
                    <a:bodyPr/>
                    <a:lstStyle/>
                    <a:p>
                      <a:pPr lvl="0">
                        <a:buNone/>
                      </a:pPr>
                      <a:r>
                        <a:rPr lang="en-US" sz="1000" b="0" u="none" kern="1200" dirty="0" err="1">
                          <a:solidFill>
                            <a:schemeClr val="tx1"/>
                          </a:solidFill>
                          <a:latin typeface="+mn-lt"/>
                          <a:ea typeface="+mn-ea"/>
                          <a:cs typeface="+mn-cs"/>
                          <a:hlinkClick r:id="rId19" action="ppaction://hlinksldjump">
                            <a:extLst>
                              <a:ext uri="{A12FA001-AC4F-418D-AE19-62706E023703}">
                                <ahyp:hlinkClr xmlns:ahyp="http://schemas.microsoft.com/office/drawing/2018/hyperlinkcolor" val="tx"/>
                              </a:ext>
                            </a:extLst>
                          </a:hlinkClick>
                        </a:rPr>
                        <a:t>DeBERTa</a:t>
                      </a:r>
                      <a:r>
                        <a:rPr lang="en-US" sz="1000" b="0" u="none" kern="1200" dirty="0">
                          <a:solidFill>
                            <a:schemeClr val="tx1"/>
                          </a:solidFill>
                          <a:latin typeface="+mn-lt"/>
                          <a:ea typeface="+mn-ea"/>
                          <a:cs typeface="+mn-cs"/>
                          <a:hlinkClick r:id="rId19" action="ppaction://hlinksldjump">
                            <a:extLst>
                              <a:ext uri="{A12FA001-AC4F-418D-AE19-62706E023703}">
                                <ahyp:hlinkClr xmlns:ahyp="http://schemas.microsoft.com/office/drawing/2018/hyperlinkcolor" val="tx"/>
                              </a:ext>
                            </a:extLst>
                          </a:hlinkClick>
                        </a:rPr>
                        <a:t> Architecture</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21</a:t>
                      </a:r>
                    </a:p>
                  </a:txBody>
                  <a:tcPr marL="99060" marR="99060" marT="49530" marB="49530">
                    <a:noFill/>
                  </a:tcPr>
                </a:tc>
                <a:extLst>
                  <a:ext uri="{0D108BD9-81ED-4DB2-BD59-A6C34878D82A}">
                    <a16:rowId xmlns:a16="http://schemas.microsoft.com/office/drawing/2014/main" val="798741500"/>
                  </a:ext>
                </a:extLst>
              </a:tr>
              <a:tr h="329375">
                <a:tc>
                  <a:txBody>
                    <a:bodyPr/>
                    <a:lstStyle/>
                    <a:p>
                      <a:pPr lvl="0">
                        <a:buNone/>
                      </a:pPr>
                      <a:r>
                        <a:rPr lang="en-US" sz="1000" b="0" u="none" kern="1200" dirty="0" err="1">
                          <a:solidFill>
                            <a:schemeClr val="tx1"/>
                          </a:solidFill>
                          <a:latin typeface="+mn-lt"/>
                          <a:ea typeface="+mn-ea"/>
                          <a:cs typeface="+mn-cs"/>
                          <a:hlinkClick r:id="rId20" action="ppaction://hlinksldjump">
                            <a:extLst>
                              <a:ext uri="{A12FA001-AC4F-418D-AE19-62706E023703}">
                                <ahyp:hlinkClr xmlns:ahyp="http://schemas.microsoft.com/office/drawing/2018/hyperlinkcolor" val="tx"/>
                              </a:ext>
                            </a:extLst>
                          </a:hlinkClick>
                        </a:rPr>
                        <a:t>Qwen</a:t>
                      </a:r>
                      <a:r>
                        <a:rPr lang="en-US" sz="1000" b="0" u="none" kern="1200" dirty="0">
                          <a:solidFill>
                            <a:schemeClr val="tx1"/>
                          </a:solidFill>
                          <a:latin typeface="+mn-lt"/>
                          <a:ea typeface="+mn-ea"/>
                          <a:cs typeface="+mn-cs"/>
                          <a:hlinkClick r:id="rId20" action="ppaction://hlinksldjump">
                            <a:extLst>
                              <a:ext uri="{A12FA001-AC4F-418D-AE19-62706E023703}">
                                <ahyp:hlinkClr xmlns:ahyp="http://schemas.microsoft.com/office/drawing/2018/hyperlinkcolor" val="tx"/>
                              </a:ext>
                            </a:extLst>
                          </a:hlinkClick>
                        </a:rPr>
                        <a:t> Architecture</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22</a:t>
                      </a:r>
                    </a:p>
                  </a:txBody>
                  <a:tcPr marL="99060" marR="99060" marT="49530" marB="49530">
                    <a:noFill/>
                  </a:tcPr>
                </a:tc>
                <a:extLst>
                  <a:ext uri="{0D108BD9-81ED-4DB2-BD59-A6C34878D82A}">
                    <a16:rowId xmlns:a16="http://schemas.microsoft.com/office/drawing/2014/main" val="269774627"/>
                  </a:ext>
                </a:extLst>
              </a:tr>
              <a:tr h="329375">
                <a:tc>
                  <a:txBody>
                    <a:bodyPr/>
                    <a:lstStyle/>
                    <a:p>
                      <a:pPr lvl="0">
                        <a:buNone/>
                      </a:pPr>
                      <a:r>
                        <a:rPr lang="en-US" sz="1000" b="0" u="none" kern="1200" dirty="0">
                          <a:solidFill>
                            <a:schemeClr val="tx1"/>
                          </a:solidFill>
                          <a:latin typeface="+mn-lt"/>
                          <a:ea typeface="+mn-ea"/>
                          <a:cs typeface="+mn-cs"/>
                          <a:hlinkClick r:id="rId21" action="ppaction://hlinksldjump">
                            <a:extLst>
                              <a:ext uri="{A12FA001-AC4F-418D-AE19-62706E023703}">
                                <ahyp:hlinkClr xmlns:ahyp="http://schemas.microsoft.com/office/drawing/2018/hyperlinkcolor" val="tx"/>
                              </a:ext>
                            </a:extLst>
                          </a:hlinkClick>
                        </a:rPr>
                        <a:t>Training with RTX3080</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23</a:t>
                      </a:r>
                    </a:p>
                  </a:txBody>
                  <a:tcPr marL="99060" marR="99060" marT="49530" marB="49530">
                    <a:noFill/>
                  </a:tcPr>
                </a:tc>
                <a:extLst>
                  <a:ext uri="{0D108BD9-81ED-4DB2-BD59-A6C34878D82A}">
                    <a16:rowId xmlns:a16="http://schemas.microsoft.com/office/drawing/2014/main" val="2905504897"/>
                  </a:ext>
                </a:extLst>
              </a:tr>
              <a:tr h="329375">
                <a:tc>
                  <a:txBody>
                    <a:bodyPr/>
                    <a:lstStyle/>
                    <a:p>
                      <a:pPr lvl="0">
                        <a:buNone/>
                      </a:pPr>
                      <a:r>
                        <a:rPr lang="en-US" sz="1000" b="0" u="none" kern="1200" dirty="0">
                          <a:solidFill>
                            <a:schemeClr val="tx1"/>
                          </a:solidFill>
                          <a:latin typeface="+mn-lt"/>
                          <a:ea typeface="+mn-ea"/>
                          <a:cs typeface="+mn-cs"/>
                          <a:hlinkClick r:id="rId22" action="ppaction://hlinksldjump">
                            <a:extLst>
                              <a:ext uri="{A12FA001-AC4F-418D-AE19-62706E023703}">
                                <ahyp:hlinkClr xmlns:ahyp="http://schemas.microsoft.com/office/drawing/2018/hyperlinkcolor" val="tx"/>
                              </a:ext>
                            </a:extLst>
                          </a:hlinkClick>
                        </a:rPr>
                        <a:t>Hyperparameter Tuning Rationale</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24</a:t>
                      </a:r>
                    </a:p>
                  </a:txBody>
                  <a:tcPr marL="99060" marR="99060" marT="49530" marB="49530">
                    <a:noFill/>
                  </a:tcPr>
                </a:tc>
                <a:extLst>
                  <a:ext uri="{0D108BD9-81ED-4DB2-BD59-A6C34878D82A}">
                    <a16:rowId xmlns:a16="http://schemas.microsoft.com/office/drawing/2014/main" val="763973468"/>
                  </a:ext>
                </a:extLst>
              </a:tr>
              <a:tr h="329375">
                <a:tc>
                  <a:txBody>
                    <a:bodyPr/>
                    <a:lstStyle/>
                    <a:p>
                      <a:pPr lvl="0">
                        <a:buNone/>
                      </a:pPr>
                      <a:r>
                        <a:rPr lang="en-US" sz="1000" b="0" u="none" kern="1200" dirty="0">
                          <a:solidFill>
                            <a:schemeClr val="tx1"/>
                          </a:solidFill>
                          <a:latin typeface="+mn-lt"/>
                          <a:ea typeface="+mn-ea"/>
                          <a:cs typeface="+mn-cs"/>
                          <a:hlinkClick r:id="rId23" action="ppaction://hlinksldjump">
                            <a:extLst>
                              <a:ext uri="{A12FA001-AC4F-418D-AE19-62706E023703}">
                                <ahyp:hlinkClr xmlns:ahyp="http://schemas.microsoft.com/office/drawing/2018/hyperlinkcolor" val="tx"/>
                              </a:ext>
                            </a:extLst>
                          </a:hlinkClick>
                        </a:rPr>
                        <a:t>Fine-Tuning process for </a:t>
                      </a:r>
                      <a:r>
                        <a:rPr lang="en-US" sz="1000" b="0" u="none" kern="1200" dirty="0" err="1">
                          <a:solidFill>
                            <a:schemeClr val="tx1"/>
                          </a:solidFill>
                          <a:latin typeface="+mn-lt"/>
                          <a:ea typeface="+mn-ea"/>
                          <a:cs typeface="+mn-cs"/>
                          <a:hlinkClick r:id="rId23" action="ppaction://hlinksldjump">
                            <a:extLst>
                              <a:ext uri="{A12FA001-AC4F-418D-AE19-62706E023703}">
                                <ahyp:hlinkClr xmlns:ahyp="http://schemas.microsoft.com/office/drawing/2018/hyperlinkcolor" val="tx"/>
                              </a:ext>
                            </a:extLst>
                          </a:hlinkClick>
                        </a:rPr>
                        <a:t>RoBERTa</a:t>
                      </a:r>
                      <a:r>
                        <a:rPr lang="en-US" sz="1000" b="0" u="none" kern="1200" dirty="0">
                          <a:solidFill>
                            <a:schemeClr val="tx1"/>
                          </a:solidFill>
                          <a:latin typeface="+mn-lt"/>
                          <a:ea typeface="+mn-ea"/>
                          <a:cs typeface="+mn-cs"/>
                          <a:hlinkClick r:id="rId23" action="ppaction://hlinksldjump">
                            <a:extLst>
                              <a:ext uri="{A12FA001-AC4F-418D-AE19-62706E023703}">
                                <ahyp:hlinkClr xmlns:ahyp="http://schemas.microsoft.com/office/drawing/2018/hyperlinkcolor" val="tx"/>
                              </a:ext>
                            </a:extLst>
                          </a:hlinkClick>
                        </a:rPr>
                        <a:t>-Large</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25</a:t>
                      </a:r>
                    </a:p>
                  </a:txBody>
                  <a:tcPr marL="99060" marR="99060" marT="49530" marB="49530">
                    <a:noFill/>
                  </a:tcPr>
                </a:tc>
                <a:extLst>
                  <a:ext uri="{0D108BD9-81ED-4DB2-BD59-A6C34878D82A}">
                    <a16:rowId xmlns:a16="http://schemas.microsoft.com/office/drawing/2014/main" val="3944202450"/>
                  </a:ext>
                </a:extLst>
              </a:tr>
              <a:tr h="329375">
                <a:tc>
                  <a:txBody>
                    <a:bodyPr/>
                    <a:lstStyle/>
                    <a:p>
                      <a:pPr lvl="0">
                        <a:buNone/>
                      </a:pPr>
                      <a:r>
                        <a:rPr lang="en-US" sz="1000" b="0" u="none" kern="1200" dirty="0">
                          <a:solidFill>
                            <a:schemeClr val="tx1"/>
                          </a:solidFill>
                          <a:latin typeface="+mn-lt"/>
                          <a:ea typeface="+mn-ea"/>
                          <a:cs typeface="+mn-cs"/>
                          <a:hlinkClick r:id="rId24" action="ppaction://hlinksldjump">
                            <a:extLst>
                              <a:ext uri="{A12FA001-AC4F-418D-AE19-62706E023703}">
                                <ahyp:hlinkClr xmlns:ahyp="http://schemas.microsoft.com/office/drawing/2018/hyperlinkcolor" val="tx"/>
                              </a:ext>
                            </a:extLst>
                          </a:hlinkClick>
                        </a:rPr>
                        <a:t>Fine-Tuning process for </a:t>
                      </a:r>
                      <a:r>
                        <a:rPr lang="en-US" sz="1000" b="0" u="none" kern="1200" dirty="0" err="1">
                          <a:solidFill>
                            <a:schemeClr val="tx1"/>
                          </a:solidFill>
                          <a:latin typeface="+mn-lt"/>
                          <a:ea typeface="+mn-ea"/>
                          <a:cs typeface="+mn-cs"/>
                          <a:hlinkClick r:id="rId24" action="ppaction://hlinksldjump">
                            <a:extLst>
                              <a:ext uri="{A12FA001-AC4F-418D-AE19-62706E023703}">
                                <ahyp:hlinkClr xmlns:ahyp="http://schemas.microsoft.com/office/drawing/2018/hyperlinkcolor" val="tx"/>
                              </a:ext>
                            </a:extLst>
                          </a:hlinkClick>
                        </a:rPr>
                        <a:t>DeBERTa</a:t>
                      </a:r>
                      <a:r>
                        <a:rPr lang="en-US" sz="1000" b="0" u="none" kern="1200" dirty="0">
                          <a:solidFill>
                            <a:schemeClr val="tx1"/>
                          </a:solidFill>
                          <a:latin typeface="+mn-lt"/>
                          <a:ea typeface="+mn-ea"/>
                          <a:cs typeface="+mn-cs"/>
                          <a:hlinkClick r:id="rId24" action="ppaction://hlinksldjump">
                            <a:extLst>
                              <a:ext uri="{A12FA001-AC4F-418D-AE19-62706E023703}">
                                <ahyp:hlinkClr xmlns:ahyp="http://schemas.microsoft.com/office/drawing/2018/hyperlinkcolor" val="tx"/>
                              </a:ext>
                            </a:extLst>
                          </a:hlinkClick>
                        </a:rPr>
                        <a:t>-Large</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26</a:t>
                      </a:r>
                    </a:p>
                  </a:txBody>
                  <a:tcPr marL="99060" marR="99060" marT="49530" marB="49530">
                    <a:noFill/>
                  </a:tcPr>
                </a:tc>
                <a:extLst>
                  <a:ext uri="{0D108BD9-81ED-4DB2-BD59-A6C34878D82A}">
                    <a16:rowId xmlns:a16="http://schemas.microsoft.com/office/drawing/2014/main" val="1085177181"/>
                  </a:ext>
                </a:extLst>
              </a:tr>
              <a:tr h="329375">
                <a:tc>
                  <a:txBody>
                    <a:bodyPr/>
                    <a:lstStyle/>
                    <a:p>
                      <a:pPr lvl="0">
                        <a:buNone/>
                      </a:pPr>
                      <a:r>
                        <a:rPr lang="en-US" sz="1000" b="0" u="none" kern="1200" dirty="0">
                          <a:solidFill>
                            <a:schemeClr val="tx1"/>
                          </a:solidFill>
                          <a:latin typeface="+mn-lt"/>
                          <a:ea typeface="+mn-ea"/>
                          <a:cs typeface="+mn-cs"/>
                          <a:hlinkClick r:id="rId25" action="ppaction://hlinksldjump">
                            <a:extLst>
                              <a:ext uri="{A12FA001-AC4F-418D-AE19-62706E023703}">
                                <ahyp:hlinkClr xmlns:ahyp="http://schemas.microsoft.com/office/drawing/2018/hyperlinkcolor" val="tx"/>
                              </a:ext>
                            </a:extLst>
                          </a:hlinkClick>
                        </a:rPr>
                        <a:t>Stacking Considerations</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27</a:t>
                      </a:r>
                    </a:p>
                  </a:txBody>
                  <a:tcPr marL="99060" marR="99060" marT="49530" marB="49530">
                    <a:noFill/>
                  </a:tcPr>
                </a:tc>
                <a:extLst>
                  <a:ext uri="{0D108BD9-81ED-4DB2-BD59-A6C34878D82A}">
                    <a16:rowId xmlns:a16="http://schemas.microsoft.com/office/drawing/2014/main" val="761748748"/>
                  </a:ext>
                </a:extLst>
              </a:tr>
              <a:tr h="329375">
                <a:tc>
                  <a:txBody>
                    <a:bodyPr/>
                    <a:lstStyle/>
                    <a:p>
                      <a:pPr lvl="0">
                        <a:buNone/>
                      </a:pPr>
                      <a:r>
                        <a:rPr lang="en-US" sz="1000" b="0" u="none" kern="1200" dirty="0">
                          <a:solidFill>
                            <a:schemeClr val="tx1"/>
                          </a:solidFill>
                          <a:latin typeface="+mn-lt"/>
                          <a:ea typeface="+mn-ea"/>
                          <a:cs typeface="+mn-cs"/>
                          <a:hlinkClick r:id="rId26" action="ppaction://hlinksldjump">
                            <a:extLst>
                              <a:ext uri="{A12FA001-AC4F-418D-AE19-62706E023703}">
                                <ahyp:hlinkClr xmlns:ahyp="http://schemas.microsoft.com/office/drawing/2018/hyperlinkcolor" val="tx"/>
                              </a:ext>
                            </a:extLst>
                          </a:hlinkClick>
                        </a:rPr>
                        <a:t>Bibliography</a:t>
                      </a:r>
                      <a:endParaRPr lang="en-US" sz="1000" b="0" u="none" kern="1200" dirty="0">
                        <a:solidFill>
                          <a:schemeClr val="tx1"/>
                        </a:solidFill>
                        <a:latin typeface="+mn-lt"/>
                        <a:ea typeface="+mn-ea"/>
                        <a:cs typeface="+mn-cs"/>
                      </a:endParaRPr>
                    </a:p>
                  </a:txBody>
                  <a:tcPr marL="99060" marR="99060" marT="49530" marB="49530">
                    <a:noFill/>
                  </a:tcPr>
                </a:tc>
                <a:tc>
                  <a:txBody>
                    <a:bodyPr/>
                    <a:lstStyle/>
                    <a:p>
                      <a:pPr lvl="0" algn="ctr">
                        <a:buNone/>
                      </a:pPr>
                      <a:r>
                        <a:rPr lang="en-US" sz="1000" b="1" i="0" dirty="0">
                          <a:solidFill>
                            <a:schemeClr val="tx1"/>
                          </a:solidFill>
                          <a:latin typeface="+mn-lt"/>
                          <a:cs typeface="Arial"/>
                        </a:rPr>
                        <a:t>28</a:t>
                      </a:r>
                    </a:p>
                  </a:txBody>
                  <a:tcPr marL="99060" marR="99060" marT="49530" marB="49530">
                    <a:noFill/>
                  </a:tcPr>
                </a:tc>
                <a:extLst>
                  <a:ext uri="{0D108BD9-81ED-4DB2-BD59-A6C34878D82A}">
                    <a16:rowId xmlns:a16="http://schemas.microsoft.com/office/drawing/2014/main" val="3436039809"/>
                  </a:ext>
                </a:extLst>
              </a:tr>
            </a:tbl>
          </a:graphicData>
        </a:graphic>
      </p:graphicFrame>
      <p:sp>
        <p:nvSpPr>
          <p:cNvPr id="40" name="Slide Number Placeholder 12">
            <a:extLst>
              <a:ext uri="{FF2B5EF4-FFF2-40B4-BE49-F238E27FC236}">
                <a16:creationId xmlns:a16="http://schemas.microsoft.com/office/drawing/2014/main" id="{E055C96E-CCA8-5345-569B-769ABD99DC42}"/>
              </a:ext>
            </a:extLst>
          </p:cNvPr>
          <p:cNvSpPr txBox="1">
            <a:spLocks/>
          </p:cNvSpPr>
          <p:nvPr/>
        </p:nvSpPr>
        <p:spPr>
          <a:xfrm>
            <a:off x="7501304" y="6422537"/>
            <a:ext cx="222885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A56586A-937C-41DB-9378-D6AFBD2DD253}" type="slidenum">
              <a:rPr lang="en-AU" smtClean="0"/>
              <a:pPr/>
              <a:t>21</a:t>
            </a:fld>
            <a:endParaRPr lang="en-AU"/>
          </a:p>
        </p:txBody>
      </p:sp>
      <p:cxnSp>
        <p:nvCxnSpPr>
          <p:cNvPr id="42" name="Google Shape;119;g12f20562990_0_39">
            <a:extLst>
              <a:ext uri="{FF2B5EF4-FFF2-40B4-BE49-F238E27FC236}">
                <a16:creationId xmlns:a16="http://schemas.microsoft.com/office/drawing/2014/main" id="{9603F1B3-EB84-28BE-276C-61430D924AE2}"/>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47" name="Title 1">
            <a:extLst>
              <a:ext uri="{FF2B5EF4-FFF2-40B4-BE49-F238E27FC236}">
                <a16:creationId xmlns:a16="http://schemas.microsoft.com/office/drawing/2014/main" id="{FF18D78D-329C-2CDE-27EE-36BBBBF6376D}"/>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dirty="0"/>
              <a:t>Appendix Network</a:t>
            </a:r>
            <a:endParaRPr lang="en-AU" dirty="0"/>
          </a:p>
        </p:txBody>
      </p:sp>
      <p:cxnSp>
        <p:nvCxnSpPr>
          <p:cNvPr id="48" name="Straight Connector 47">
            <a:extLst>
              <a:ext uri="{FF2B5EF4-FFF2-40B4-BE49-F238E27FC236}">
                <a16:creationId xmlns:a16="http://schemas.microsoft.com/office/drawing/2014/main" id="{1A997858-A1A4-2B97-76B5-A785F436A694}"/>
              </a:ext>
            </a:extLst>
          </p:cNvPr>
          <p:cNvCxnSpPr>
            <a:cxnSpLocks/>
          </p:cNvCxnSpPr>
          <p:nvPr/>
        </p:nvCxnSpPr>
        <p:spPr>
          <a:xfrm flipV="1">
            <a:off x="3813584" y="1128685"/>
            <a:ext cx="0" cy="1817535"/>
          </a:xfrm>
          <a:prstGeom prst="line">
            <a:avLst/>
          </a:prstGeom>
          <a:ln w="38100">
            <a:solidFill>
              <a:srgbClr val="003469"/>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2279A96-6F8F-5132-3DA6-C6D31641BF92}"/>
              </a:ext>
            </a:extLst>
          </p:cNvPr>
          <p:cNvSpPr txBox="1"/>
          <p:nvPr/>
        </p:nvSpPr>
        <p:spPr>
          <a:xfrm rot="16200000">
            <a:off x="3107527" y="1428769"/>
            <a:ext cx="1137037" cy="267317"/>
          </a:xfrm>
          <a:prstGeom prst="rect">
            <a:avLst/>
          </a:prstGeom>
          <a:noFill/>
        </p:spPr>
        <p:txBody>
          <a:bodyPr wrap="square" rtlCol="0">
            <a:spAutoFit/>
          </a:bodyPr>
          <a:lstStyle/>
          <a:p>
            <a:r>
              <a:rPr lang="en-US" sz="1137" b="1" dirty="0">
                <a:solidFill>
                  <a:srgbClr val="003469"/>
                </a:solidFill>
                <a:latin typeface="+mj-lt"/>
                <a:cs typeface="Arial" panose="020B0604020202020204" pitchFamily="34" charset="0"/>
              </a:rPr>
              <a:t>Presentation</a:t>
            </a:r>
          </a:p>
        </p:txBody>
      </p:sp>
    </p:spTree>
    <p:extLst>
      <p:ext uri="{BB962C8B-B14F-4D97-AF65-F5344CB8AC3E}">
        <p14:creationId xmlns:p14="http://schemas.microsoft.com/office/powerpoint/2010/main" val="10900513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9D099-E22A-9484-53E6-602E97C1D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9D67C9-E126-A4C4-A94D-B25D13D34BBD}"/>
              </a:ext>
            </a:extLst>
          </p:cNvPr>
          <p:cNvSpPr>
            <a:spLocks noGrp="1"/>
          </p:cNvSpPr>
          <p:nvPr>
            <p:ph type="title"/>
          </p:nvPr>
        </p:nvSpPr>
        <p:spPr>
          <a:xfrm>
            <a:off x="231648" y="136525"/>
            <a:ext cx="11631168" cy="838835"/>
          </a:xfrm>
        </p:spPr>
        <p:txBody>
          <a:bodyPr/>
          <a:lstStyle/>
          <a:p>
            <a:r>
              <a:rPr lang="en-GB" dirty="0"/>
              <a:t>Literature Review – Datasets Used</a:t>
            </a:r>
            <a:endParaRPr lang="en-AU" dirty="0"/>
          </a:p>
        </p:txBody>
      </p:sp>
      <p:sp>
        <p:nvSpPr>
          <p:cNvPr id="4" name="Slide Number Placeholder 3">
            <a:extLst>
              <a:ext uri="{FF2B5EF4-FFF2-40B4-BE49-F238E27FC236}">
                <a16:creationId xmlns:a16="http://schemas.microsoft.com/office/drawing/2014/main" id="{14CA839C-2576-8A05-B740-FE07EC15BBC8}"/>
              </a:ext>
            </a:extLst>
          </p:cNvPr>
          <p:cNvSpPr>
            <a:spLocks noGrp="1"/>
          </p:cNvSpPr>
          <p:nvPr>
            <p:ph type="sldNum" sz="quarter" idx="12"/>
          </p:nvPr>
        </p:nvSpPr>
        <p:spPr/>
        <p:txBody>
          <a:bodyPr/>
          <a:lstStyle/>
          <a:p>
            <a:fld id="{6BAD6A8B-B5C3-4437-A9DE-A8C2149171DD}" type="slidenum">
              <a:rPr lang="en-AU" smtClean="0"/>
              <a:t>22</a:t>
            </a:fld>
            <a:endParaRPr lang="en-AU"/>
          </a:p>
        </p:txBody>
      </p:sp>
      <p:cxnSp>
        <p:nvCxnSpPr>
          <p:cNvPr id="7" name="Google Shape;119;g12f20562990_0_39">
            <a:extLst>
              <a:ext uri="{FF2B5EF4-FFF2-40B4-BE49-F238E27FC236}">
                <a16:creationId xmlns:a16="http://schemas.microsoft.com/office/drawing/2014/main" id="{D93B3A28-61A0-D531-4935-B5BC7EF864B4}"/>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18" name="Google Shape;176;p6">
            <a:extLst>
              <a:ext uri="{FF2B5EF4-FFF2-40B4-BE49-F238E27FC236}">
                <a16:creationId xmlns:a16="http://schemas.microsoft.com/office/drawing/2014/main" id="{2535C565-63FC-0178-DA3A-7C0F52B89B02}"/>
              </a:ext>
            </a:extLst>
          </p:cNvPr>
          <p:cNvSpPr txBox="1"/>
          <p:nvPr/>
        </p:nvSpPr>
        <p:spPr>
          <a:xfrm>
            <a:off x="360693" y="769727"/>
            <a:ext cx="11144034" cy="523180"/>
          </a:xfrm>
          <a:prstGeom prst="rect">
            <a:avLst/>
          </a:prstGeom>
          <a:noFill/>
          <a:ln>
            <a:noFill/>
          </a:ln>
        </p:spPr>
        <p:txBody>
          <a:bodyPr spcFirstLastPara="1" wrap="square" lIns="91425" tIns="45700" rIns="91425" bIns="45700" anchor="t" anchorCtr="0">
            <a:spAutoFit/>
          </a:bodyPr>
          <a:lstStyle/>
          <a:p>
            <a:pPr>
              <a:buSzPts val="2800"/>
            </a:pPr>
            <a:r>
              <a:rPr lang="en-AU" sz="1400" i="1" dirty="0" err="1">
                <a:solidFill>
                  <a:schemeClr val="accent3">
                    <a:lumMod val="60000"/>
                    <a:lumOff val="40000"/>
                  </a:schemeClr>
                </a:solidFill>
              </a:rPr>
              <a:t>Etelis</a:t>
            </a:r>
            <a:r>
              <a:rPr lang="en-AU" sz="1400" i="1" dirty="0">
                <a:solidFill>
                  <a:schemeClr val="accent3">
                    <a:lumMod val="60000"/>
                    <a:lumOff val="40000"/>
                  </a:schemeClr>
                </a:solidFill>
              </a:rPr>
              <a:t> et al. (2023) demonstrated that ensemble stacking, incorporating diverse NLP model types, improves sentiment analysis performance beyond individual transformer models.</a:t>
            </a:r>
            <a:endParaRPr lang="en-US" sz="1400" b="1" i="1" u="none" strike="noStrike" cap="none" dirty="0">
              <a:solidFill>
                <a:schemeClr val="accent3">
                  <a:lumMod val="60000"/>
                  <a:lumOff val="40000"/>
                </a:schemeClr>
              </a:solidFill>
              <a:latin typeface="+mn-lt"/>
              <a:ea typeface="Avenir"/>
              <a:cs typeface="Avenir"/>
            </a:endParaRPr>
          </a:p>
        </p:txBody>
      </p:sp>
      <p:pic>
        <p:nvPicPr>
          <p:cNvPr id="19" name="Picture 18">
            <a:extLst>
              <a:ext uri="{FF2B5EF4-FFF2-40B4-BE49-F238E27FC236}">
                <a16:creationId xmlns:a16="http://schemas.microsoft.com/office/drawing/2014/main" id="{40ACF81C-AE20-7A77-771E-3DEDD28590B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025" y="1487492"/>
            <a:ext cx="8636299" cy="4522559"/>
          </a:xfrm>
          <a:prstGeom prst="rect">
            <a:avLst/>
          </a:prstGeom>
        </p:spPr>
      </p:pic>
      <p:sp>
        <p:nvSpPr>
          <p:cNvPr id="3" name="TextBox 2">
            <a:extLst>
              <a:ext uri="{FF2B5EF4-FFF2-40B4-BE49-F238E27FC236}">
                <a16:creationId xmlns:a16="http://schemas.microsoft.com/office/drawing/2014/main" id="{655F2814-D14B-8D1F-B09F-5B210A5AC0FB}"/>
              </a:ext>
            </a:extLst>
          </p:cNvPr>
          <p:cNvSpPr txBox="1"/>
          <p:nvPr/>
        </p:nvSpPr>
        <p:spPr>
          <a:xfrm>
            <a:off x="6248848" y="1577890"/>
            <a:ext cx="1908944" cy="1240972"/>
          </a:xfrm>
          <a:prstGeom prst="rect">
            <a:avLst/>
          </a:prstGeom>
          <a:noFill/>
          <a:ln w="34925">
            <a:solidFill>
              <a:srgbClr val="FF0000"/>
            </a:solidFill>
          </a:ln>
        </p:spPr>
        <p:txBody>
          <a:bodyPr wrap="square" rtlCol="0">
            <a:noAutofit/>
          </a:bodyPr>
          <a:lstStyle/>
          <a:p>
            <a:endParaRPr lang="en-US" dirty="0"/>
          </a:p>
        </p:txBody>
      </p:sp>
      <p:grpSp>
        <p:nvGrpSpPr>
          <p:cNvPr id="6" name="Google Shape;121;g12f20562990_0_39">
            <a:extLst>
              <a:ext uri="{FF2B5EF4-FFF2-40B4-BE49-F238E27FC236}">
                <a16:creationId xmlns:a16="http://schemas.microsoft.com/office/drawing/2014/main" id="{4CA9E33C-06BF-95AB-364D-F1B3A6BC8F35}"/>
              </a:ext>
            </a:extLst>
          </p:cNvPr>
          <p:cNvGrpSpPr/>
          <p:nvPr/>
        </p:nvGrpSpPr>
        <p:grpSpPr>
          <a:xfrm>
            <a:off x="2610855" y="6225545"/>
            <a:ext cx="6060176" cy="365125"/>
            <a:chOff x="1425588" y="6394039"/>
            <a:chExt cx="9340906" cy="363742"/>
          </a:xfrm>
        </p:grpSpPr>
        <p:sp>
          <p:nvSpPr>
            <p:cNvPr id="8" name="Google Shape;122;g12f20562990_0_39">
              <a:extLst>
                <a:ext uri="{FF2B5EF4-FFF2-40B4-BE49-F238E27FC236}">
                  <a16:creationId xmlns:a16="http://schemas.microsoft.com/office/drawing/2014/main" id="{F34683E9-D334-6566-9FBD-1F75D165BF28}"/>
                </a:ext>
              </a:extLst>
            </p:cNvPr>
            <p:cNvSpPr/>
            <p:nvPr/>
          </p:nvSpPr>
          <p:spPr>
            <a:xfrm>
              <a:off x="1425588" y="6398681"/>
              <a:ext cx="1969200" cy="359100"/>
            </a:xfrm>
            <a:prstGeom prst="chevron">
              <a:avLst>
                <a:gd name="adj" fmla="val 50000"/>
              </a:avLst>
            </a:prstGeom>
            <a:solidFill>
              <a:srgbClr val="DBDB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latin typeface="+mj-lt"/>
                  <a:ea typeface="Avenir"/>
                  <a:cs typeface="Avenir"/>
                  <a:sym typeface="Avenir"/>
                </a:rPr>
                <a:t>Motivation</a:t>
              </a:r>
              <a:endParaRPr sz="1400" b="1" i="0" u="none" strike="noStrike" cap="none" dirty="0">
                <a:latin typeface="+mj-lt"/>
                <a:sym typeface="Arial"/>
              </a:endParaRPr>
            </a:p>
          </p:txBody>
        </p:sp>
        <p:sp>
          <p:nvSpPr>
            <p:cNvPr id="17" name="Google Shape;123;g12f20562990_0_39">
              <a:extLst>
                <a:ext uri="{FF2B5EF4-FFF2-40B4-BE49-F238E27FC236}">
                  <a16:creationId xmlns:a16="http://schemas.microsoft.com/office/drawing/2014/main" id="{54E926AE-0706-F08A-DEA7-8B18C3FAF026}"/>
                </a:ext>
              </a:extLst>
            </p:cNvPr>
            <p:cNvSpPr/>
            <p:nvPr/>
          </p:nvSpPr>
          <p:spPr>
            <a:xfrm>
              <a:off x="3291959"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Problem Statement</a:t>
              </a:r>
              <a:endParaRPr sz="1400" b="1" i="0" u="none" strike="noStrike" cap="none" dirty="0">
                <a:solidFill>
                  <a:srgbClr val="000000"/>
                </a:solidFill>
                <a:latin typeface="+mj-lt"/>
                <a:sym typeface="Arial"/>
              </a:endParaRPr>
            </a:p>
          </p:txBody>
        </p:sp>
        <p:sp>
          <p:nvSpPr>
            <p:cNvPr id="20" name="Google Shape;124;g12f20562990_0_39">
              <a:extLst>
                <a:ext uri="{FF2B5EF4-FFF2-40B4-BE49-F238E27FC236}">
                  <a16:creationId xmlns:a16="http://schemas.microsoft.com/office/drawing/2014/main" id="{B9EFCA6E-6D54-C8CF-B0F0-982349E1E0DB}"/>
                </a:ext>
              </a:extLst>
            </p:cNvPr>
            <p:cNvSpPr/>
            <p:nvPr/>
          </p:nvSpPr>
          <p:spPr>
            <a:xfrm>
              <a:off x="5152512" y="6398681"/>
              <a:ext cx="1983300" cy="359100"/>
            </a:xfrm>
            <a:prstGeom prst="chevron">
              <a:avLst>
                <a:gd name="adj" fmla="val 50000"/>
              </a:avLst>
            </a:prstGeom>
            <a:solidFill>
              <a:srgbClr val="00346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dirty="0">
                  <a:solidFill>
                    <a:schemeClr val="bg1"/>
                  </a:solidFill>
                  <a:latin typeface="+mj-lt"/>
                  <a:sym typeface="Avenir"/>
                </a:rPr>
                <a:t>Literature</a:t>
              </a:r>
              <a:endParaRPr sz="1400" b="1" i="0" u="none" strike="noStrike" cap="none" dirty="0">
                <a:solidFill>
                  <a:schemeClr val="bg1"/>
                </a:solidFill>
                <a:latin typeface="+mj-lt"/>
                <a:sym typeface="Arial"/>
              </a:endParaRPr>
            </a:p>
          </p:txBody>
        </p:sp>
        <p:sp>
          <p:nvSpPr>
            <p:cNvPr id="21" name="Google Shape;125;g12f20562990_0_39">
              <a:extLst>
                <a:ext uri="{FF2B5EF4-FFF2-40B4-BE49-F238E27FC236}">
                  <a16:creationId xmlns:a16="http://schemas.microsoft.com/office/drawing/2014/main" id="{BA0BD1EA-C418-49F2-E802-0915915AEEC6}"/>
                </a:ext>
              </a:extLst>
            </p:cNvPr>
            <p:cNvSpPr/>
            <p:nvPr/>
          </p:nvSpPr>
          <p:spPr>
            <a:xfrm>
              <a:off x="7033040" y="6398681"/>
              <a:ext cx="19632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Data Exploration</a:t>
              </a:r>
              <a:endParaRPr sz="1800" b="1" i="0" u="none" strike="noStrike" cap="none" dirty="0">
                <a:solidFill>
                  <a:schemeClr val="dk1"/>
                </a:solidFill>
                <a:latin typeface="+mj-lt"/>
                <a:ea typeface="Calibri"/>
                <a:cs typeface="Calibri"/>
                <a:sym typeface="Calibri"/>
              </a:endParaRPr>
            </a:p>
          </p:txBody>
        </p:sp>
        <p:sp>
          <p:nvSpPr>
            <p:cNvPr id="22" name="Google Shape;126;g12f20562990_0_39">
              <a:extLst>
                <a:ext uri="{FF2B5EF4-FFF2-40B4-BE49-F238E27FC236}">
                  <a16:creationId xmlns:a16="http://schemas.microsoft.com/office/drawing/2014/main" id="{454ED168-4070-1097-3BEE-C7315287095D}"/>
                </a:ext>
              </a:extLst>
            </p:cNvPr>
            <p:cNvSpPr/>
            <p:nvPr/>
          </p:nvSpPr>
          <p:spPr>
            <a:xfrm>
              <a:off x="8893594" y="6394039"/>
              <a:ext cx="1872900" cy="359100"/>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Method/s</a:t>
              </a:r>
              <a:endParaRPr sz="1800" b="1" i="0" u="none" strike="noStrike" cap="none" dirty="0">
                <a:solidFill>
                  <a:schemeClr val="lt1"/>
                </a:solidFill>
                <a:latin typeface="+mj-lt"/>
                <a:ea typeface="Calibri"/>
                <a:cs typeface="Calibri"/>
                <a:sym typeface="Calibri"/>
              </a:endParaRPr>
            </a:p>
          </p:txBody>
        </p:sp>
      </p:grpSp>
      <p:sp>
        <p:nvSpPr>
          <p:cNvPr id="23" name="Google Shape;126;g12f20562990_0_39">
            <a:extLst>
              <a:ext uri="{FF2B5EF4-FFF2-40B4-BE49-F238E27FC236}">
                <a16:creationId xmlns:a16="http://schemas.microsoft.com/office/drawing/2014/main" id="{A9E36D69-70A3-EFD3-0DAC-64C56B4A1ADA}"/>
              </a:ext>
            </a:extLst>
          </p:cNvPr>
          <p:cNvSpPr/>
          <p:nvPr/>
        </p:nvSpPr>
        <p:spPr>
          <a:xfrm>
            <a:off x="8565790" y="6220885"/>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dirty="0">
                <a:solidFill>
                  <a:schemeClr val="dk1"/>
                </a:solidFill>
                <a:latin typeface="+mj-lt"/>
                <a:ea typeface="Avenir"/>
                <a:cs typeface="Avenir"/>
                <a:sym typeface="Avenir"/>
              </a:rPr>
              <a:t>Results</a:t>
            </a:r>
            <a:endParaRPr sz="1800" b="1" i="0" u="none" strike="noStrike" cap="none" dirty="0">
              <a:solidFill>
                <a:schemeClr val="lt1"/>
              </a:solidFill>
              <a:latin typeface="+mj-lt"/>
              <a:ea typeface="Calibri"/>
              <a:cs typeface="Calibri"/>
              <a:sym typeface="Calibri"/>
            </a:endParaRPr>
          </a:p>
        </p:txBody>
      </p:sp>
      <p:sp>
        <p:nvSpPr>
          <p:cNvPr id="24" name="Google Shape;126;g12f20562990_0_39">
            <a:extLst>
              <a:ext uri="{FF2B5EF4-FFF2-40B4-BE49-F238E27FC236}">
                <a16:creationId xmlns:a16="http://schemas.microsoft.com/office/drawing/2014/main" id="{B01C2FAB-323A-F276-A864-D2D0A3484086}"/>
              </a:ext>
            </a:extLst>
          </p:cNvPr>
          <p:cNvSpPr/>
          <p:nvPr/>
        </p:nvSpPr>
        <p:spPr>
          <a:xfrm>
            <a:off x="9675646" y="6220884"/>
            <a:ext cx="1215097" cy="360465"/>
          </a:xfrm>
          <a:prstGeom prst="chevron">
            <a:avLst>
              <a:gd name="adj" fmla="val 50000"/>
            </a:avLst>
          </a:prstGeom>
          <a:solidFill>
            <a:srgbClr val="DADAD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100" b="1" i="0" u="none" strike="noStrike" cap="none" dirty="0">
                <a:solidFill>
                  <a:schemeClr val="dk1"/>
                </a:solidFill>
                <a:latin typeface="+mj-lt"/>
                <a:ea typeface="Avenir"/>
                <a:cs typeface="Avenir"/>
                <a:sym typeface="Avenir"/>
              </a:rPr>
              <a:t>Conclusion</a:t>
            </a:r>
            <a:endParaRPr sz="1100" b="1" i="0" u="none" strike="noStrike" cap="none" dirty="0">
              <a:solidFill>
                <a:schemeClr val="lt1"/>
              </a:solidFill>
              <a:latin typeface="+mj-lt"/>
              <a:ea typeface="Calibri"/>
              <a:cs typeface="Calibri"/>
              <a:sym typeface="Calibri"/>
            </a:endParaRPr>
          </a:p>
        </p:txBody>
      </p:sp>
      <p:sp>
        <p:nvSpPr>
          <p:cNvPr id="26" name="TextBox 25">
            <a:extLst>
              <a:ext uri="{FF2B5EF4-FFF2-40B4-BE49-F238E27FC236}">
                <a16:creationId xmlns:a16="http://schemas.microsoft.com/office/drawing/2014/main" id="{70007775-43FB-266C-3855-7E6CCA73CAF2}"/>
              </a:ext>
            </a:extLst>
          </p:cNvPr>
          <p:cNvSpPr txBox="1"/>
          <p:nvPr/>
        </p:nvSpPr>
        <p:spPr>
          <a:xfrm>
            <a:off x="7756599" y="2916687"/>
            <a:ext cx="4115198" cy="1815882"/>
          </a:xfrm>
          <a:prstGeom prst="rect">
            <a:avLst/>
          </a:prstGeom>
          <a:noFill/>
        </p:spPr>
        <p:txBody>
          <a:bodyPr wrap="square">
            <a:spAutoFit/>
          </a:bodyPr>
          <a:lstStyle/>
          <a:p>
            <a:r>
              <a:rPr lang="en-AU" sz="1400" b="1" i="1" dirty="0"/>
              <a:t>Did:</a:t>
            </a:r>
            <a:r>
              <a:rPr lang="en-AU" sz="1400" i="1" dirty="0"/>
              <a:t> </a:t>
            </a:r>
            <a:r>
              <a:rPr lang="en-AU" sz="1400" dirty="0"/>
              <a:t>Used a Hierarchical Ensemble Construction (HEC) algorithm with diverse NLP models, achieving a mean accuracy of 90% +  across eight sentiment analysis datasets.</a:t>
            </a:r>
          </a:p>
          <a:p>
            <a:endParaRPr lang="en-AU" sz="1400" dirty="0"/>
          </a:p>
          <a:p>
            <a:r>
              <a:rPr lang="en-AU" sz="1400" b="1" i="1" dirty="0"/>
              <a:t>Bad:</a:t>
            </a:r>
            <a:r>
              <a:rPr lang="en-AU" sz="1400" i="1" dirty="0"/>
              <a:t> </a:t>
            </a:r>
            <a:r>
              <a:rPr lang="en-AU" sz="1400" dirty="0"/>
              <a:t>Increased complexity and computational demands compared to using a single transformer model, requiring up to 75 base-learners in evaluation.</a:t>
            </a:r>
          </a:p>
        </p:txBody>
      </p:sp>
      <p:sp>
        <p:nvSpPr>
          <p:cNvPr id="30" name="TextBox 29">
            <a:extLst>
              <a:ext uri="{FF2B5EF4-FFF2-40B4-BE49-F238E27FC236}">
                <a16:creationId xmlns:a16="http://schemas.microsoft.com/office/drawing/2014/main" id="{42C755FF-24B1-14EE-F88E-87BCE6416692}"/>
              </a:ext>
            </a:extLst>
          </p:cNvPr>
          <p:cNvSpPr txBox="1"/>
          <p:nvPr/>
        </p:nvSpPr>
        <p:spPr>
          <a:xfrm>
            <a:off x="360693" y="1383977"/>
            <a:ext cx="5582460" cy="3693319"/>
          </a:xfrm>
          <a:prstGeom prst="rect">
            <a:avLst/>
          </a:prstGeom>
          <a:noFill/>
        </p:spPr>
        <p:txBody>
          <a:bodyPr wrap="square">
            <a:spAutoFit/>
          </a:bodyPr>
          <a:lstStyle/>
          <a:p>
            <a:r>
              <a:rPr lang="en-AU" dirty="0">
                <a:solidFill>
                  <a:srgbClr val="FF0000"/>
                </a:solidFill>
                <a:highlight>
                  <a:srgbClr val="FFFF00"/>
                </a:highlight>
              </a:rPr>
              <a:t>The study by </a:t>
            </a:r>
            <a:r>
              <a:rPr lang="en-AU" dirty="0" err="1">
                <a:solidFill>
                  <a:srgbClr val="FF0000"/>
                </a:solidFill>
                <a:highlight>
                  <a:srgbClr val="FFFF00"/>
                </a:highlight>
              </a:rPr>
              <a:t>Etelis</a:t>
            </a:r>
            <a:r>
              <a:rPr lang="en-AU" dirty="0">
                <a:solidFill>
                  <a:srgbClr val="FF0000"/>
                </a:solidFill>
                <a:highlight>
                  <a:srgbClr val="FFFF00"/>
                </a:highlight>
              </a:rPr>
              <a:t> et al. used the following eight canonical sentiment analysis datasets:</a:t>
            </a:r>
          </a:p>
          <a:p>
            <a:endParaRPr lang="en-AU" dirty="0">
              <a:solidFill>
                <a:srgbClr val="FF0000"/>
              </a:solidFill>
              <a:highlight>
                <a:srgbClr val="FFFF00"/>
              </a:highlight>
            </a:endParaRPr>
          </a:p>
          <a:p>
            <a:pPr>
              <a:buFont typeface="+mj-lt"/>
              <a:buAutoNum type="arabicPeriod"/>
            </a:pPr>
            <a:r>
              <a:rPr lang="en-AU" b="1" dirty="0">
                <a:solidFill>
                  <a:srgbClr val="FF0000"/>
                </a:solidFill>
                <a:highlight>
                  <a:srgbClr val="FFFF00"/>
                </a:highlight>
              </a:rPr>
              <a:t>Yelp Dataset (YLP)</a:t>
            </a:r>
            <a:r>
              <a:rPr lang="en-AU" dirty="0">
                <a:solidFill>
                  <a:srgbClr val="FF0000"/>
                </a:solidFill>
                <a:highlight>
                  <a:srgbClr val="FFFF00"/>
                </a:highlight>
              </a:rPr>
              <a:t>: Business reviews.</a:t>
            </a:r>
          </a:p>
          <a:p>
            <a:pPr>
              <a:buFont typeface="+mj-lt"/>
              <a:buAutoNum type="arabicPeriod"/>
            </a:pPr>
            <a:r>
              <a:rPr lang="en-AU" b="1" dirty="0">
                <a:solidFill>
                  <a:srgbClr val="FF0000"/>
                </a:solidFill>
                <a:highlight>
                  <a:srgbClr val="FFFF00"/>
                </a:highlight>
              </a:rPr>
              <a:t>IMDB Dataset</a:t>
            </a:r>
            <a:r>
              <a:rPr lang="en-AU" dirty="0">
                <a:solidFill>
                  <a:srgbClr val="FF0000"/>
                </a:solidFill>
                <a:highlight>
                  <a:srgbClr val="FFFF00"/>
                </a:highlight>
              </a:rPr>
              <a:t>: Movie reviews.</a:t>
            </a:r>
          </a:p>
          <a:p>
            <a:pPr>
              <a:buFont typeface="+mj-lt"/>
              <a:buAutoNum type="arabicPeriod"/>
            </a:pPr>
            <a:r>
              <a:rPr lang="en-AU" b="1" dirty="0">
                <a:solidFill>
                  <a:srgbClr val="FF0000"/>
                </a:solidFill>
                <a:highlight>
                  <a:srgbClr val="FFFF00"/>
                </a:highlight>
              </a:rPr>
              <a:t>Stanford Sentiment Treebank (SST2)</a:t>
            </a:r>
            <a:r>
              <a:rPr lang="en-AU" dirty="0">
                <a:solidFill>
                  <a:srgbClr val="FF0000"/>
                </a:solidFill>
                <a:highlight>
                  <a:srgbClr val="FFFF00"/>
                </a:highlight>
              </a:rPr>
              <a:t>: Movie reviews.</a:t>
            </a:r>
          </a:p>
          <a:p>
            <a:pPr>
              <a:buFont typeface="+mj-lt"/>
              <a:buAutoNum type="arabicPeriod"/>
            </a:pPr>
            <a:r>
              <a:rPr lang="en-AU" b="1" dirty="0">
                <a:solidFill>
                  <a:srgbClr val="FF0000"/>
                </a:solidFill>
                <a:highlight>
                  <a:srgbClr val="FFFF00"/>
                </a:highlight>
              </a:rPr>
              <a:t>Tweet Sentiment Extraction (TSE)</a:t>
            </a:r>
            <a:r>
              <a:rPr lang="en-AU" dirty="0">
                <a:solidFill>
                  <a:srgbClr val="FF0000"/>
                </a:solidFill>
                <a:highlight>
                  <a:srgbClr val="FFFF00"/>
                </a:highlight>
              </a:rPr>
              <a:t>: Social media posts.</a:t>
            </a:r>
          </a:p>
          <a:p>
            <a:pPr>
              <a:buFont typeface="+mj-lt"/>
              <a:buAutoNum type="arabicPeriod"/>
            </a:pPr>
            <a:r>
              <a:rPr lang="en-AU" b="1" dirty="0">
                <a:solidFill>
                  <a:srgbClr val="FF0000"/>
                </a:solidFill>
                <a:highlight>
                  <a:srgbClr val="FFFF00"/>
                </a:highlight>
              </a:rPr>
              <a:t>Twitter US Airline Sentiment (TUF)</a:t>
            </a:r>
            <a:r>
              <a:rPr lang="en-AU" dirty="0">
                <a:solidFill>
                  <a:srgbClr val="FF0000"/>
                </a:solidFill>
                <a:highlight>
                  <a:srgbClr val="FFFF00"/>
                </a:highlight>
              </a:rPr>
              <a:t>: Social media posts related to airlines.</a:t>
            </a:r>
          </a:p>
          <a:p>
            <a:pPr>
              <a:buFont typeface="+mj-lt"/>
              <a:buAutoNum type="arabicPeriod"/>
            </a:pPr>
            <a:r>
              <a:rPr lang="en-AU" b="1" dirty="0">
                <a:solidFill>
                  <a:srgbClr val="FF0000"/>
                </a:solidFill>
                <a:highlight>
                  <a:srgbClr val="FFFF00"/>
                </a:highlight>
              </a:rPr>
              <a:t>SemEval-2016 </a:t>
            </a:r>
            <a:r>
              <a:rPr lang="en-AU" b="1" dirty="0" err="1">
                <a:solidFill>
                  <a:srgbClr val="FF0000"/>
                </a:solidFill>
                <a:highlight>
                  <a:srgbClr val="FFFF00"/>
                </a:highlight>
              </a:rPr>
              <a:t>TweetEval</a:t>
            </a:r>
            <a:r>
              <a:rPr lang="en-AU" b="1" dirty="0">
                <a:solidFill>
                  <a:srgbClr val="FF0000"/>
                </a:solidFill>
                <a:highlight>
                  <a:srgbClr val="FFFF00"/>
                </a:highlight>
              </a:rPr>
              <a:t> (TE)</a:t>
            </a:r>
            <a:r>
              <a:rPr lang="en-AU" dirty="0">
                <a:solidFill>
                  <a:srgbClr val="FF0000"/>
                </a:solidFill>
                <a:highlight>
                  <a:srgbClr val="FFFF00"/>
                </a:highlight>
              </a:rPr>
              <a:t>: Tweets classified for sentiment analysis.</a:t>
            </a:r>
          </a:p>
          <a:p>
            <a:pPr>
              <a:buFont typeface="+mj-lt"/>
              <a:buAutoNum type="arabicPeriod"/>
            </a:pPr>
            <a:r>
              <a:rPr lang="en-AU" b="1" dirty="0">
                <a:solidFill>
                  <a:srgbClr val="FF0000"/>
                </a:solidFill>
                <a:highlight>
                  <a:srgbClr val="FFFF00"/>
                </a:highlight>
              </a:rPr>
              <a:t>Rotten Tomato (RTM)</a:t>
            </a:r>
            <a:r>
              <a:rPr lang="en-AU" dirty="0">
                <a:solidFill>
                  <a:srgbClr val="FF0000"/>
                </a:solidFill>
                <a:highlight>
                  <a:srgbClr val="FFFF00"/>
                </a:highlight>
              </a:rPr>
              <a:t>: Movie reviews.</a:t>
            </a:r>
          </a:p>
          <a:p>
            <a:pPr>
              <a:buFont typeface="+mj-lt"/>
              <a:buAutoNum type="arabicPeriod"/>
            </a:pPr>
            <a:r>
              <a:rPr lang="en-AU" b="1" dirty="0">
                <a:solidFill>
                  <a:srgbClr val="FF0000"/>
                </a:solidFill>
                <a:highlight>
                  <a:srgbClr val="FFFF00"/>
                </a:highlight>
              </a:rPr>
              <a:t>Customer Reviews (CR)</a:t>
            </a:r>
            <a:r>
              <a:rPr lang="en-AU" dirty="0">
                <a:solidFill>
                  <a:srgbClr val="FF0000"/>
                </a:solidFill>
                <a:highlight>
                  <a:srgbClr val="FFFF00"/>
                </a:highlight>
              </a:rPr>
              <a:t>: Product reviews</a:t>
            </a:r>
          </a:p>
        </p:txBody>
      </p:sp>
    </p:spTree>
    <p:extLst>
      <p:ext uri="{BB962C8B-B14F-4D97-AF65-F5344CB8AC3E}">
        <p14:creationId xmlns:p14="http://schemas.microsoft.com/office/powerpoint/2010/main" val="929267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FA8E343-BA2C-1ECB-A938-D6C9D1CBB5C7}"/>
              </a:ext>
            </a:extLst>
          </p:cNvPr>
          <p:cNvSpPr>
            <a:spLocks noGrp="1"/>
          </p:cNvSpPr>
          <p:nvPr>
            <p:ph type="sldNum" sz="quarter" idx="12"/>
          </p:nvPr>
        </p:nvSpPr>
        <p:spPr/>
        <p:txBody>
          <a:bodyPr/>
          <a:lstStyle/>
          <a:p>
            <a:fld id="{6BAD6A8B-B5C3-4437-A9DE-A8C2149171DD}" type="slidenum">
              <a:rPr lang="en-AU" smtClean="0"/>
              <a:t>23</a:t>
            </a:fld>
            <a:endParaRPr lang="en-AU"/>
          </a:p>
        </p:txBody>
      </p:sp>
      <p:pic>
        <p:nvPicPr>
          <p:cNvPr id="1026" name="Picture 2" descr="An Intuitive Explanation of LSTM. Recurrent Neural Networks | by Ottavio  Calzone | Medium">
            <a:extLst>
              <a:ext uri="{FF2B5EF4-FFF2-40B4-BE49-F238E27FC236}">
                <a16:creationId xmlns:a16="http://schemas.microsoft.com/office/drawing/2014/main" id="{00FC5F39-25B0-F426-D47F-7E9F4F61EE3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11306" y="1673000"/>
            <a:ext cx="8060937" cy="408781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FA67ABE2-6006-9BAB-1561-CEDF66484DEF}"/>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dirty="0"/>
              <a:t>LSTM Architecture</a:t>
            </a:r>
            <a:endParaRPr lang="en-AU" dirty="0"/>
          </a:p>
        </p:txBody>
      </p:sp>
      <p:cxnSp>
        <p:nvCxnSpPr>
          <p:cNvPr id="6" name="Google Shape;119;g12f20562990_0_39">
            <a:extLst>
              <a:ext uri="{FF2B5EF4-FFF2-40B4-BE49-F238E27FC236}">
                <a16:creationId xmlns:a16="http://schemas.microsoft.com/office/drawing/2014/main" id="{76B796DC-1875-0779-4B99-90061977EDB7}"/>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7" name="Google Shape;176;p6">
            <a:extLst>
              <a:ext uri="{FF2B5EF4-FFF2-40B4-BE49-F238E27FC236}">
                <a16:creationId xmlns:a16="http://schemas.microsoft.com/office/drawing/2014/main" id="{ECB70F8C-2768-851C-CC71-22C86B37B430}"/>
              </a:ext>
            </a:extLst>
          </p:cNvPr>
          <p:cNvSpPr txBox="1"/>
          <p:nvPr/>
        </p:nvSpPr>
        <p:spPr>
          <a:xfrm>
            <a:off x="360693" y="769727"/>
            <a:ext cx="11144034" cy="307736"/>
          </a:xfrm>
          <a:prstGeom prst="rect">
            <a:avLst/>
          </a:prstGeom>
          <a:noFill/>
          <a:ln>
            <a:noFill/>
          </a:ln>
        </p:spPr>
        <p:txBody>
          <a:bodyPr spcFirstLastPara="1" wrap="square" lIns="91425" tIns="45700" rIns="91425" bIns="45700" anchor="t" anchorCtr="0">
            <a:spAutoFit/>
          </a:bodyPr>
          <a:lstStyle/>
          <a:p>
            <a:pPr>
              <a:buSzPts val="2800"/>
            </a:pPr>
            <a:r>
              <a:rPr lang="en-AU" sz="1400" i="1" dirty="0">
                <a:solidFill>
                  <a:schemeClr val="accent3">
                    <a:lumMod val="60000"/>
                    <a:lumOff val="40000"/>
                  </a:schemeClr>
                </a:solidFill>
              </a:rPr>
              <a:t>LSTM was utilised as a baseline model for our NLP analysis</a:t>
            </a:r>
            <a:endParaRPr lang="en-US" sz="1400" b="1" i="1" u="none" strike="noStrike" cap="none" dirty="0">
              <a:solidFill>
                <a:schemeClr val="accent3">
                  <a:lumMod val="60000"/>
                  <a:lumOff val="40000"/>
                </a:schemeClr>
              </a:solidFill>
              <a:latin typeface="+mn-lt"/>
              <a:ea typeface="Avenir"/>
              <a:cs typeface="Avenir"/>
            </a:endParaRPr>
          </a:p>
        </p:txBody>
      </p:sp>
    </p:spTree>
    <p:extLst>
      <p:ext uri="{BB962C8B-B14F-4D97-AF65-F5344CB8AC3E}">
        <p14:creationId xmlns:p14="http://schemas.microsoft.com/office/powerpoint/2010/main" val="36612765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E9FC5-F786-2063-A9D1-B5EF34771F7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AADD8B-8434-B490-C3C1-C9727192676F}"/>
              </a:ext>
            </a:extLst>
          </p:cNvPr>
          <p:cNvSpPr>
            <a:spLocks noGrp="1"/>
          </p:cNvSpPr>
          <p:nvPr>
            <p:ph type="sldNum" sz="quarter" idx="12"/>
          </p:nvPr>
        </p:nvSpPr>
        <p:spPr/>
        <p:txBody>
          <a:bodyPr/>
          <a:lstStyle/>
          <a:p>
            <a:fld id="{6BAD6A8B-B5C3-4437-A9DE-A8C2149171DD}" type="slidenum">
              <a:rPr lang="en-AU" smtClean="0"/>
              <a:t>24</a:t>
            </a:fld>
            <a:endParaRPr lang="en-AU"/>
          </a:p>
        </p:txBody>
      </p:sp>
      <p:pic>
        <p:nvPicPr>
          <p:cNvPr id="1026" name="Picture 2">
            <a:extLst>
              <a:ext uri="{FF2B5EF4-FFF2-40B4-BE49-F238E27FC236}">
                <a16:creationId xmlns:a16="http://schemas.microsoft.com/office/drawing/2014/main" id="{09903E31-3570-0F5C-FCEA-4ED51C70132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p:blipFill>
        <p:spPr bwMode="auto">
          <a:xfrm>
            <a:off x="360693" y="1269827"/>
            <a:ext cx="8060937" cy="408781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73F21C07-1238-F8DD-3B4D-1564311932E8}"/>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dirty="0" err="1"/>
              <a:t>RoBERTa</a:t>
            </a:r>
            <a:r>
              <a:rPr lang="en-GB" dirty="0"/>
              <a:t> Architecture</a:t>
            </a:r>
            <a:endParaRPr lang="en-AU" dirty="0"/>
          </a:p>
        </p:txBody>
      </p:sp>
      <p:cxnSp>
        <p:nvCxnSpPr>
          <p:cNvPr id="6" name="Google Shape;119;g12f20562990_0_39">
            <a:extLst>
              <a:ext uri="{FF2B5EF4-FFF2-40B4-BE49-F238E27FC236}">
                <a16:creationId xmlns:a16="http://schemas.microsoft.com/office/drawing/2014/main" id="{C1CA6292-79BF-9FDB-DEB1-37D75E95941D}"/>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7" name="Google Shape;176;p6">
            <a:extLst>
              <a:ext uri="{FF2B5EF4-FFF2-40B4-BE49-F238E27FC236}">
                <a16:creationId xmlns:a16="http://schemas.microsoft.com/office/drawing/2014/main" id="{5D144DB6-6551-0B5D-33C7-6CFE96FEA2ED}"/>
              </a:ext>
            </a:extLst>
          </p:cNvPr>
          <p:cNvSpPr txBox="1"/>
          <p:nvPr/>
        </p:nvSpPr>
        <p:spPr>
          <a:xfrm>
            <a:off x="360693" y="769727"/>
            <a:ext cx="11144034" cy="307736"/>
          </a:xfrm>
          <a:prstGeom prst="rect">
            <a:avLst/>
          </a:prstGeom>
          <a:noFill/>
          <a:ln>
            <a:noFill/>
          </a:ln>
        </p:spPr>
        <p:txBody>
          <a:bodyPr spcFirstLastPara="1" wrap="square" lIns="91425" tIns="45700" rIns="91425" bIns="45700" anchor="t" anchorCtr="0">
            <a:spAutoFit/>
          </a:bodyPr>
          <a:lstStyle/>
          <a:p>
            <a:pPr>
              <a:buSzPts val="2800"/>
            </a:pPr>
            <a:r>
              <a:rPr lang="en-AU" sz="1400" i="1" dirty="0" err="1">
                <a:solidFill>
                  <a:schemeClr val="accent3">
                    <a:lumMod val="60000"/>
                    <a:lumOff val="40000"/>
                  </a:schemeClr>
                </a:solidFill>
              </a:rPr>
              <a:t>RoBERTa</a:t>
            </a:r>
            <a:r>
              <a:rPr lang="en-AU" sz="1400" i="1" dirty="0">
                <a:solidFill>
                  <a:schemeClr val="accent3">
                    <a:lumMod val="60000"/>
                    <a:lumOff val="40000"/>
                  </a:schemeClr>
                </a:solidFill>
              </a:rPr>
              <a:t> proved to be the most optimal model</a:t>
            </a:r>
            <a:endParaRPr lang="en-US" sz="1400" b="1" i="1" u="none" strike="noStrike" cap="none" dirty="0">
              <a:solidFill>
                <a:schemeClr val="accent3">
                  <a:lumMod val="60000"/>
                  <a:lumOff val="40000"/>
                </a:schemeClr>
              </a:solidFill>
              <a:latin typeface="+mn-lt"/>
              <a:ea typeface="Avenir"/>
              <a:cs typeface="Avenir"/>
            </a:endParaRPr>
          </a:p>
        </p:txBody>
      </p:sp>
    </p:spTree>
    <p:extLst>
      <p:ext uri="{BB962C8B-B14F-4D97-AF65-F5344CB8AC3E}">
        <p14:creationId xmlns:p14="http://schemas.microsoft.com/office/powerpoint/2010/main" val="4178743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FF79FF-27DA-0174-2B11-94FE54C72627}"/>
              </a:ext>
            </a:extLst>
          </p:cNvPr>
          <p:cNvSpPr>
            <a:spLocks noGrp="1"/>
          </p:cNvSpPr>
          <p:nvPr>
            <p:ph type="sldNum" sz="quarter" idx="12"/>
          </p:nvPr>
        </p:nvSpPr>
        <p:spPr/>
        <p:txBody>
          <a:bodyPr/>
          <a:lstStyle/>
          <a:p>
            <a:fld id="{6BAD6A8B-B5C3-4437-A9DE-A8C2149171DD}" type="slidenum">
              <a:rPr lang="en-AU" smtClean="0"/>
              <a:t>25</a:t>
            </a:fld>
            <a:endParaRPr lang="en-AU"/>
          </a:p>
        </p:txBody>
      </p:sp>
      <p:pic>
        <p:nvPicPr>
          <p:cNvPr id="5122" name="Picture 2" descr="A High-Level Overview of the DeBERTa Model's Architecture | Download  Scientific Diagram">
            <a:extLst>
              <a:ext uri="{FF2B5EF4-FFF2-40B4-BE49-F238E27FC236}">
                <a16:creationId xmlns:a16="http://schemas.microsoft.com/office/drawing/2014/main" id="{7D51D33F-6D2D-9135-0585-73E5772B41D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0693" y="1782140"/>
            <a:ext cx="6021397" cy="330114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3006E34B-D628-7DA7-A48B-320207A3100C}"/>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dirty="0" err="1"/>
              <a:t>DeBERTa</a:t>
            </a:r>
            <a:r>
              <a:rPr lang="en-GB" dirty="0"/>
              <a:t> Architecture</a:t>
            </a:r>
            <a:endParaRPr lang="en-AU" dirty="0"/>
          </a:p>
        </p:txBody>
      </p:sp>
      <p:cxnSp>
        <p:nvCxnSpPr>
          <p:cNvPr id="6" name="Google Shape;119;g12f20562990_0_39">
            <a:extLst>
              <a:ext uri="{FF2B5EF4-FFF2-40B4-BE49-F238E27FC236}">
                <a16:creationId xmlns:a16="http://schemas.microsoft.com/office/drawing/2014/main" id="{E53736F0-6604-BB9F-C2C8-37AF4ED82318}"/>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7" name="Google Shape;176;p6">
            <a:extLst>
              <a:ext uri="{FF2B5EF4-FFF2-40B4-BE49-F238E27FC236}">
                <a16:creationId xmlns:a16="http://schemas.microsoft.com/office/drawing/2014/main" id="{1EE49D7D-CD95-9782-932E-5579B1900E51}"/>
              </a:ext>
            </a:extLst>
          </p:cNvPr>
          <p:cNvSpPr txBox="1"/>
          <p:nvPr/>
        </p:nvSpPr>
        <p:spPr>
          <a:xfrm>
            <a:off x="360693" y="769727"/>
            <a:ext cx="11144034" cy="307736"/>
          </a:xfrm>
          <a:prstGeom prst="rect">
            <a:avLst/>
          </a:prstGeom>
          <a:noFill/>
          <a:ln>
            <a:noFill/>
          </a:ln>
        </p:spPr>
        <p:txBody>
          <a:bodyPr spcFirstLastPara="1" wrap="square" lIns="91425" tIns="45700" rIns="91425" bIns="45700" anchor="t" anchorCtr="0">
            <a:spAutoFit/>
          </a:bodyPr>
          <a:lstStyle/>
          <a:p>
            <a:pPr>
              <a:buSzPts val="2800"/>
            </a:pPr>
            <a:r>
              <a:rPr lang="en-AU" sz="1400" i="1" dirty="0" err="1">
                <a:solidFill>
                  <a:schemeClr val="accent3">
                    <a:lumMod val="60000"/>
                    <a:lumOff val="40000"/>
                  </a:schemeClr>
                </a:solidFill>
              </a:rPr>
              <a:t>DeBERTa</a:t>
            </a:r>
            <a:r>
              <a:rPr lang="en-AU" sz="1400" i="1" dirty="0">
                <a:solidFill>
                  <a:schemeClr val="accent3">
                    <a:lumMod val="60000"/>
                    <a:lumOff val="40000"/>
                  </a:schemeClr>
                </a:solidFill>
              </a:rPr>
              <a:t> was initially promising, but did appear to have its issues…</a:t>
            </a:r>
            <a:endParaRPr lang="en-US" sz="1400" b="1" i="1" u="none" strike="noStrike" cap="none" dirty="0">
              <a:solidFill>
                <a:schemeClr val="accent3">
                  <a:lumMod val="60000"/>
                  <a:lumOff val="40000"/>
                </a:schemeClr>
              </a:solidFill>
              <a:latin typeface="+mn-lt"/>
              <a:ea typeface="Avenir"/>
              <a:cs typeface="Avenir"/>
            </a:endParaRPr>
          </a:p>
        </p:txBody>
      </p:sp>
      <p:sp>
        <p:nvSpPr>
          <p:cNvPr id="8" name="TextBox 7">
            <a:extLst>
              <a:ext uri="{FF2B5EF4-FFF2-40B4-BE49-F238E27FC236}">
                <a16:creationId xmlns:a16="http://schemas.microsoft.com/office/drawing/2014/main" id="{95268489-4226-F884-63AB-C12ACD8C9826}"/>
              </a:ext>
            </a:extLst>
          </p:cNvPr>
          <p:cNvSpPr txBox="1"/>
          <p:nvPr/>
        </p:nvSpPr>
        <p:spPr>
          <a:xfrm>
            <a:off x="6752192" y="1077463"/>
            <a:ext cx="5439808" cy="5632311"/>
          </a:xfrm>
          <a:prstGeom prst="rect">
            <a:avLst/>
          </a:prstGeom>
          <a:noFill/>
        </p:spPr>
        <p:txBody>
          <a:bodyPr wrap="square" rtlCol="0">
            <a:spAutoFit/>
          </a:bodyPr>
          <a:lstStyle/>
          <a:p>
            <a:r>
              <a:rPr lang="en-AU" b="1" dirty="0"/>
              <a:t>Disentangled Attention</a:t>
            </a:r>
            <a:r>
              <a:rPr lang="en-AU" dirty="0"/>
              <a:t>: </a:t>
            </a:r>
            <a:r>
              <a:rPr lang="en-AU" dirty="0" err="1"/>
              <a:t>DeBERTa</a:t>
            </a:r>
            <a:r>
              <a:rPr lang="en-AU" dirty="0"/>
              <a:t> separates (or “disentangles”) the content of words from their positions. It does this by encoding each word's content and its positional information independently, allowing the model to pay attention to both aspects more effectively. This improves the model's ability to comprehend relationships between words in context.</a:t>
            </a:r>
          </a:p>
          <a:p>
            <a:endParaRPr lang="en-AU" dirty="0"/>
          </a:p>
          <a:p>
            <a:r>
              <a:rPr lang="en-AU" b="1" dirty="0"/>
              <a:t>Relative Position Embedding</a:t>
            </a:r>
            <a:r>
              <a:rPr lang="en-AU" dirty="0"/>
              <a:t>: </a:t>
            </a:r>
            <a:r>
              <a:rPr lang="en-AU" dirty="0" err="1"/>
              <a:t>DeBERTa’s</a:t>
            </a:r>
            <a:r>
              <a:rPr lang="en-AU" dirty="0"/>
              <a:t> attention mechanism includes relative position embeddings rather than absolute ones, which allows it to capture long-range dependencies more effectively than traditional transformers.</a:t>
            </a:r>
          </a:p>
          <a:p>
            <a:endParaRPr lang="en-AU" dirty="0"/>
          </a:p>
          <a:p>
            <a:r>
              <a:rPr lang="en-AU" b="1" dirty="0"/>
              <a:t>Improved Masked Language Model</a:t>
            </a:r>
            <a:r>
              <a:rPr lang="en-AU" dirty="0"/>
              <a:t>: </a:t>
            </a:r>
            <a:r>
              <a:rPr lang="en-AU" dirty="0" err="1"/>
              <a:t>DeBERTa</a:t>
            </a:r>
            <a:r>
              <a:rPr lang="en-AU" dirty="0"/>
              <a:t> enhances the masked language </a:t>
            </a:r>
            <a:r>
              <a:rPr lang="en-AU" dirty="0" err="1"/>
              <a:t>modeling</a:t>
            </a:r>
            <a:r>
              <a:rPr lang="en-AU" dirty="0"/>
              <a:t> process, learning better contextual representations that help with nuanced understanding, considering {relative position, content} in its embeddings</a:t>
            </a:r>
          </a:p>
          <a:p>
            <a:endParaRPr lang="en-US" dirty="0"/>
          </a:p>
        </p:txBody>
      </p:sp>
    </p:spTree>
    <p:extLst>
      <p:ext uri="{BB962C8B-B14F-4D97-AF65-F5344CB8AC3E}">
        <p14:creationId xmlns:p14="http://schemas.microsoft.com/office/powerpoint/2010/main" val="842661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9F99D-9140-490A-624C-A21DDA9B029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98C4E30-3706-5120-A117-F9D72C54CACE}"/>
              </a:ext>
            </a:extLst>
          </p:cNvPr>
          <p:cNvSpPr>
            <a:spLocks noGrp="1"/>
          </p:cNvSpPr>
          <p:nvPr>
            <p:ph type="sldNum" sz="quarter" idx="12"/>
          </p:nvPr>
        </p:nvSpPr>
        <p:spPr/>
        <p:txBody>
          <a:bodyPr/>
          <a:lstStyle/>
          <a:p>
            <a:fld id="{6BAD6A8B-B5C3-4437-A9DE-A8C2149171DD}" type="slidenum">
              <a:rPr lang="en-AU" smtClean="0"/>
              <a:t>26</a:t>
            </a:fld>
            <a:endParaRPr lang="en-AU"/>
          </a:p>
        </p:txBody>
      </p:sp>
      <p:sp>
        <p:nvSpPr>
          <p:cNvPr id="5" name="Title 1">
            <a:extLst>
              <a:ext uri="{FF2B5EF4-FFF2-40B4-BE49-F238E27FC236}">
                <a16:creationId xmlns:a16="http://schemas.microsoft.com/office/drawing/2014/main" id="{DE60ADE3-764B-FB4E-3F83-B739DF64112D}"/>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dirty="0" err="1"/>
              <a:t>Qwen</a:t>
            </a:r>
            <a:r>
              <a:rPr lang="en-GB" dirty="0"/>
              <a:t> Architecture</a:t>
            </a:r>
            <a:endParaRPr lang="en-AU" dirty="0"/>
          </a:p>
        </p:txBody>
      </p:sp>
      <p:cxnSp>
        <p:nvCxnSpPr>
          <p:cNvPr id="6" name="Google Shape;119;g12f20562990_0_39">
            <a:extLst>
              <a:ext uri="{FF2B5EF4-FFF2-40B4-BE49-F238E27FC236}">
                <a16:creationId xmlns:a16="http://schemas.microsoft.com/office/drawing/2014/main" id="{1A45A519-103C-7175-6BBD-713B8A46E67B}"/>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7" name="Google Shape;176;p6">
            <a:extLst>
              <a:ext uri="{FF2B5EF4-FFF2-40B4-BE49-F238E27FC236}">
                <a16:creationId xmlns:a16="http://schemas.microsoft.com/office/drawing/2014/main" id="{BEFA7CA6-CF63-5493-2D26-B6BBCEFF541A}"/>
              </a:ext>
            </a:extLst>
          </p:cNvPr>
          <p:cNvSpPr txBox="1"/>
          <p:nvPr/>
        </p:nvSpPr>
        <p:spPr>
          <a:xfrm>
            <a:off x="360693" y="769727"/>
            <a:ext cx="11144034" cy="307736"/>
          </a:xfrm>
          <a:prstGeom prst="rect">
            <a:avLst/>
          </a:prstGeom>
          <a:noFill/>
          <a:ln>
            <a:noFill/>
          </a:ln>
        </p:spPr>
        <p:txBody>
          <a:bodyPr spcFirstLastPara="1" wrap="square" lIns="91425" tIns="45700" rIns="91425" bIns="45700" anchor="t" anchorCtr="0">
            <a:spAutoFit/>
          </a:bodyPr>
          <a:lstStyle/>
          <a:p>
            <a:pPr>
              <a:buSzPts val="2800"/>
            </a:pPr>
            <a:r>
              <a:rPr lang="en-AU" sz="1400" i="1" dirty="0" err="1">
                <a:solidFill>
                  <a:schemeClr val="accent3">
                    <a:lumMod val="60000"/>
                    <a:lumOff val="40000"/>
                  </a:schemeClr>
                </a:solidFill>
              </a:rPr>
              <a:t>Qwen</a:t>
            </a:r>
            <a:r>
              <a:rPr lang="en-AU" sz="1400" i="1" dirty="0">
                <a:solidFill>
                  <a:schemeClr val="accent3">
                    <a:lumMod val="60000"/>
                    <a:lumOff val="40000"/>
                  </a:schemeClr>
                </a:solidFill>
              </a:rPr>
              <a:t>  was evaluated as one of the potential architectures</a:t>
            </a:r>
            <a:endParaRPr lang="en-US" sz="1400" b="1" i="1" u="none" strike="noStrike" cap="none" dirty="0">
              <a:solidFill>
                <a:schemeClr val="accent3">
                  <a:lumMod val="60000"/>
                  <a:lumOff val="40000"/>
                </a:schemeClr>
              </a:solidFill>
              <a:latin typeface="+mn-lt"/>
              <a:ea typeface="Avenir"/>
              <a:cs typeface="Avenir"/>
            </a:endParaRPr>
          </a:p>
        </p:txBody>
      </p:sp>
      <p:sp>
        <p:nvSpPr>
          <p:cNvPr id="2" name="Content Placeholder 1">
            <a:extLst>
              <a:ext uri="{FF2B5EF4-FFF2-40B4-BE49-F238E27FC236}">
                <a16:creationId xmlns:a16="http://schemas.microsoft.com/office/drawing/2014/main" id="{657AAB05-96B9-F1B7-131E-4573F7DF8F85}"/>
              </a:ext>
            </a:extLst>
          </p:cNvPr>
          <p:cNvSpPr>
            <a:spLocks noGrp="1"/>
          </p:cNvSpPr>
          <p:nvPr>
            <p:ph idx="1"/>
          </p:nvPr>
        </p:nvSpPr>
        <p:spPr/>
        <p:txBody>
          <a:bodyPr/>
          <a:lstStyle/>
          <a:p>
            <a:endParaRPr lang="en-US"/>
          </a:p>
        </p:txBody>
      </p:sp>
      <p:pic>
        <p:nvPicPr>
          <p:cNvPr id="2050" name="Picture 2" descr="Developing Multimodal Services using Qwen and Model Studio | by Alibaba  Cloud | Medium">
            <a:extLst>
              <a:ext uri="{FF2B5EF4-FFF2-40B4-BE49-F238E27FC236}">
                <a16:creationId xmlns:a16="http://schemas.microsoft.com/office/drawing/2014/main" id="{3F66C605-2018-DF72-F111-1B08FA4710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430" y="1341783"/>
            <a:ext cx="688975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648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8A5DC9-4C24-3CB5-FF3A-7885BDDE51F2}"/>
              </a:ext>
            </a:extLst>
          </p:cNvPr>
          <p:cNvSpPr>
            <a:spLocks noGrp="1"/>
          </p:cNvSpPr>
          <p:nvPr>
            <p:ph type="sldNum" sz="quarter" idx="12"/>
          </p:nvPr>
        </p:nvSpPr>
        <p:spPr/>
        <p:txBody>
          <a:bodyPr/>
          <a:lstStyle/>
          <a:p>
            <a:fld id="{6BAD6A8B-B5C3-4437-A9DE-A8C2149171DD}" type="slidenum">
              <a:rPr lang="en-AU" smtClean="0"/>
              <a:t>27</a:t>
            </a:fld>
            <a:endParaRPr lang="en-AU"/>
          </a:p>
        </p:txBody>
      </p:sp>
      <p:pic>
        <p:nvPicPr>
          <p:cNvPr id="9" name="Picture 8">
            <a:extLst>
              <a:ext uri="{FF2B5EF4-FFF2-40B4-BE49-F238E27FC236}">
                <a16:creationId xmlns:a16="http://schemas.microsoft.com/office/drawing/2014/main" id="{51969786-29FE-34D2-AAFA-26F484F6C989}"/>
              </a:ext>
            </a:extLst>
          </p:cNvPr>
          <p:cNvPicPr>
            <a:picLocks noChangeAspect="1"/>
          </p:cNvPicPr>
          <p:nvPr/>
        </p:nvPicPr>
        <p:blipFill>
          <a:blip r:embed="rId2"/>
          <a:stretch>
            <a:fillRect/>
          </a:stretch>
        </p:blipFill>
        <p:spPr>
          <a:xfrm>
            <a:off x="838200" y="1806501"/>
            <a:ext cx="8994018" cy="2565474"/>
          </a:xfrm>
          <a:prstGeom prst="rect">
            <a:avLst/>
          </a:prstGeom>
        </p:spPr>
      </p:pic>
      <p:sp>
        <p:nvSpPr>
          <p:cNvPr id="10" name="Title 1">
            <a:extLst>
              <a:ext uri="{FF2B5EF4-FFF2-40B4-BE49-F238E27FC236}">
                <a16:creationId xmlns:a16="http://schemas.microsoft.com/office/drawing/2014/main" id="{B073FBD1-335B-43E6-22E5-14400E35B29E}"/>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dirty="0"/>
              <a:t>Training with RTX 3080 w. CUDA</a:t>
            </a:r>
            <a:endParaRPr lang="en-AU" dirty="0"/>
          </a:p>
        </p:txBody>
      </p:sp>
      <p:cxnSp>
        <p:nvCxnSpPr>
          <p:cNvPr id="11" name="Google Shape;119;g12f20562990_0_39">
            <a:extLst>
              <a:ext uri="{FF2B5EF4-FFF2-40B4-BE49-F238E27FC236}">
                <a16:creationId xmlns:a16="http://schemas.microsoft.com/office/drawing/2014/main" id="{324AB269-BD4E-749A-C55D-483B6C5938DB}"/>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12" name="Google Shape;176;p6">
            <a:extLst>
              <a:ext uri="{FF2B5EF4-FFF2-40B4-BE49-F238E27FC236}">
                <a16:creationId xmlns:a16="http://schemas.microsoft.com/office/drawing/2014/main" id="{D3174DEB-DCA1-90B7-FF3F-1A6B8D20FA51}"/>
              </a:ext>
            </a:extLst>
          </p:cNvPr>
          <p:cNvSpPr txBox="1"/>
          <p:nvPr/>
        </p:nvSpPr>
        <p:spPr>
          <a:xfrm>
            <a:off x="360693" y="769727"/>
            <a:ext cx="11144034" cy="307736"/>
          </a:xfrm>
          <a:prstGeom prst="rect">
            <a:avLst/>
          </a:prstGeom>
          <a:noFill/>
          <a:ln>
            <a:noFill/>
          </a:ln>
        </p:spPr>
        <p:txBody>
          <a:bodyPr spcFirstLastPara="1" wrap="square" lIns="91425" tIns="45700" rIns="91425" bIns="45700" anchor="t" anchorCtr="0">
            <a:spAutoFit/>
          </a:bodyPr>
          <a:lstStyle/>
          <a:p>
            <a:pPr>
              <a:buSzPts val="2800"/>
            </a:pPr>
            <a:r>
              <a:rPr lang="en-AU" sz="1400" i="1" dirty="0">
                <a:solidFill>
                  <a:schemeClr val="accent3">
                    <a:lumMod val="60000"/>
                    <a:lumOff val="40000"/>
                  </a:schemeClr>
                </a:solidFill>
              </a:rPr>
              <a:t>Demonstrating computational expensiveness</a:t>
            </a:r>
            <a:endParaRPr lang="en-US" sz="1400" b="1" i="1" u="none" strike="noStrike" cap="none" dirty="0">
              <a:solidFill>
                <a:schemeClr val="accent3">
                  <a:lumMod val="60000"/>
                  <a:lumOff val="40000"/>
                </a:schemeClr>
              </a:solidFill>
              <a:latin typeface="+mn-lt"/>
              <a:ea typeface="Avenir"/>
              <a:cs typeface="Avenir"/>
            </a:endParaRPr>
          </a:p>
        </p:txBody>
      </p:sp>
    </p:spTree>
    <p:extLst>
      <p:ext uri="{BB962C8B-B14F-4D97-AF65-F5344CB8AC3E}">
        <p14:creationId xmlns:p14="http://schemas.microsoft.com/office/powerpoint/2010/main" val="32499444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702C6-0BA5-3BA6-73F8-4ACBCB53066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2727386-44D6-2018-C1EF-FA9EB168FD4E}"/>
              </a:ext>
            </a:extLst>
          </p:cNvPr>
          <p:cNvSpPr>
            <a:spLocks noGrp="1"/>
          </p:cNvSpPr>
          <p:nvPr>
            <p:ph type="sldNum" sz="quarter" idx="12"/>
          </p:nvPr>
        </p:nvSpPr>
        <p:spPr/>
        <p:txBody>
          <a:bodyPr/>
          <a:lstStyle/>
          <a:p>
            <a:fld id="{6BAD6A8B-B5C3-4437-A9DE-A8C2149171DD}" type="slidenum">
              <a:rPr lang="en-AU" smtClean="0"/>
              <a:t>28</a:t>
            </a:fld>
            <a:endParaRPr lang="en-AU"/>
          </a:p>
        </p:txBody>
      </p:sp>
      <p:sp>
        <p:nvSpPr>
          <p:cNvPr id="5" name="Title 1">
            <a:extLst>
              <a:ext uri="{FF2B5EF4-FFF2-40B4-BE49-F238E27FC236}">
                <a16:creationId xmlns:a16="http://schemas.microsoft.com/office/drawing/2014/main" id="{842A0CAE-DF34-9493-91A2-1277BAFFDA1A}"/>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sz="3800" dirty="0"/>
              <a:t>Hyperparameter Tuning Rationale</a:t>
            </a:r>
            <a:endParaRPr lang="en-AU" sz="3800" dirty="0"/>
          </a:p>
        </p:txBody>
      </p:sp>
      <p:cxnSp>
        <p:nvCxnSpPr>
          <p:cNvPr id="6" name="Google Shape;119;g12f20562990_0_39">
            <a:extLst>
              <a:ext uri="{FF2B5EF4-FFF2-40B4-BE49-F238E27FC236}">
                <a16:creationId xmlns:a16="http://schemas.microsoft.com/office/drawing/2014/main" id="{9B930039-898D-260D-7BCF-74D02DACF64D}"/>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7" name="Google Shape;176;p6">
            <a:extLst>
              <a:ext uri="{FF2B5EF4-FFF2-40B4-BE49-F238E27FC236}">
                <a16:creationId xmlns:a16="http://schemas.microsoft.com/office/drawing/2014/main" id="{742E6B6E-AE97-12C6-4DC0-EA9AFAC1DCA6}"/>
              </a:ext>
            </a:extLst>
          </p:cNvPr>
          <p:cNvSpPr txBox="1"/>
          <p:nvPr/>
        </p:nvSpPr>
        <p:spPr>
          <a:xfrm>
            <a:off x="360693" y="769727"/>
            <a:ext cx="11144034" cy="307736"/>
          </a:xfrm>
          <a:prstGeom prst="rect">
            <a:avLst/>
          </a:prstGeom>
          <a:noFill/>
          <a:ln>
            <a:noFill/>
          </a:ln>
        </p:spPr>
        <p:txBody>
          <a:bodyPr spcFirstLastPara="1" wrap="square" lIns="91425" tIns="45700" rIns="91425" bIns="45700" anchor="t" anchorCtr="0">
            <a:spAutoFit/>
          </a:bodyPr>
          <a:lstStyle/>
          <a:p>
            <a:pPr>
              <a:buSzPts val="2800"/>
            </a:pPr>
            <a:r>
              <a:rPr lang="en-AU" sz="1400" i="1" dirty="0">
                <a:solidFill>
                  <a:schemeClr val="accent3">
                    <a:lumMod val="60000"/>
                    <a:lumOff val="40000"/>
                  </a:schemeClr>
                </a:solidFill>
              </a:rPr>
              <a:t>The process of fine-tuning involved random search, then optimised search with more optimised parameters …</a:t>
            </a:r>
            <a:endParaRPr lang="en-US" sz="1400" b="1" i="1" u="none" strike="noStrike" cap="none" dirty="0">
              <a:solidFill>
                <a:schemeClr val="accent3">
                  <a:lumMod val="60000"/>
                  <a:lumOff val="40000"/>
                </a:schemeClr>
              </a:solidFill>
              <a:latin typeface="+mn-lt"/>
              <a:ea typeface="Avenir"/>
              <a:cs typeface="Avenir"/>
            </a:endParaRPr>
          </a:p>
        </p:txBody>
      </p:sp>
      <p:graphicFrame>
        <p:nvGraphicFramePr>
          <p:cNvPr id="12" name="Table 11">
            <a:extLst>
              <a:ext uri="{FF2B5EF4-FFF2-40B4-BE49-F238E27FC236}">
                <a16:creationId xmlns:a16="http://schemas.microsoft.com/office/drawing/2014/main" id="{9ACBBEBD-1B1A-B097-51A9-995E9A3B6A0A}"/>
              </a:ext>
            </a:extLst>
          </p:cNvPr>
          <p:cNvGraphicFramePr>
            <a:graphicFrameLocks noGrp="1"/>
          </p:cNvGraphicFramePr>
          <p:nvPr>
            <p:extLst>
              <p:ext uri="{D42A27DB-BD31-4B8C-83A1-F6EECF244321}">
                <p14:modId xmlns:p14="http://schemas.microsoft.com/office/powerpoint/2010/main" val="2234572114"/>
              </p:ext>
            </p:extLst>
          </p:nvPr>
        </p:nvGraphicFramePr>
        <p:xfrm>
          <a:off x="360693" y="1148938"/>
          <a:ext cx="10598459" cy="3949921"/>
        </p:xfrm>
        <a:graphic>
          <a:graphicData uri="http://schemas.openxmlformats.org/drawingml/2006/table">
            <a:tbl>
              <a:tblPr/>
              <a:tblGrid>
                <a:gridCol w="1176653">
                  <a:extLst>
                    <a:ext uri="{9D8B030D-6E8A-4147-A177-3AD203B41FA5}">
                      <a16:colId xmlns:a16="http://schemas.microsoft.com/office/drawing/2014/main" val="1019969126"/>
                    </a:ext>
                  </a:extLst>
                </a:gridCol>
                <a:gridCol w="4133348">
                  <a:extLst>
                    <a:ext uri="{9D8B030D-6E8A-4147-A177-3AD203B41FA5}">
                      <a16:colId xmlns:a16="http://schemas.microsoft.com/office/drawing/2014/main" val="3442826360"/>
                    </a:ext>
                  </a:extLst>
                </a:gridCol>
                <a:gridCol w="5288458">
                  <a:extLst>
                    <a:ext uri="{9D8B030D-6E8A-4147-A177-3AD203B41FA5}">
                      <a16:colId xmlns:a16="http://schemas.microsoft.com/office/drawing/2014/main" val="3937341979"/>
                    </a:ext>
                  </a:extLst>
                </a:gridCol>
              </a:tblGrid>
              <a:tr h="416779">
                <a:tc>
                  <a:txBody>
                    <a:bodyPr/>
                    <a:lstStyle/>
                    <a:p>
                      <a:pPr algn="l" fontAlgn="b"/>
                      <a:r>
                        <a:rPr lang="en-AU" sz="1200" b="1" i="0" u="none" strike="noStrike" dirty="0">
                          <a:solidFill>
                            <a:srgbClr val="FFFFFF"/>
                          </a:solidFill>
                          <a:effectLst/>
                          <a:latin typeface="Arial" panose="020B0604020202020204" pitchFamily="34" charset="0"/>
                          <a:cs typeface="Arial" panose="020B0604020202020204" pitchFamily="34" charset="0"/>
                        </a:rPr>
                        <a:t>Hyperparameter</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l" fontAlgn="b"/>
                      <a:r>
                        <a:rPr lang="en-AU" sz="1200" b="1" i="0" u="none" strike="noStrike" dirty="0">
                          <a:solidFill>
                            <a:srgbClr val="FFFFFF"/>
                          </a:solidFill>
                          <a:effectLst/>
                          <a:latin typeface="Arial" panose="020B0604020202020204" pitchFamily="34" charset="0"/>
                          <a:cs typeface="Arial" panose="020B0604020202020204" pitchFamily="34" charset="0"/>
                        </a:rPr>
                        <a:t>Description</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l" fontAlgn="b"/>
                      <a:r>
                        <a:rPr lang="en-AU" sz="1200" b="1" i="0" u="none" strike="noStrike">
                          <a:solidFill>
                            <a:srgbClr val="FFFFFF"/>
                          </a:solidFill>
                          <a:effectLst/>
                          <a:latin typeface="Arial" panose="020B0604020202020204" pitchFamily="34" charset="0"/>
                          <a:cs typeface="Arial" panose="020B0604020202020204" pitchFamily="34" charset="0"/>
                        </a:rPr>
                        <a:t>Impact on Model</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val="3126913673"/>
                  </a:ext>
                </a:extLst>
              </a:tr>
              <a:tr h="621939">
                <a:tc>
                  <a:txBody>
                    <a:bodyPr/>
                    <a:lstStyle/>
                    <a:p>
                      <a:pPr algn="l" fontAlgn="b"/>
                      <a:r>
                        <a:rPr lang="en-AU" sz="1200" b="0" i="0" u="none" strike="noStrike">
                          <a:solidFill>
                            <a:srgbClr val="000000"/>
                          </a:solidFill>
                          <a:effectLst/>
                          <a:latin typeface="Arial" panose="020B0604020202020204" pitchFamily="34" charset="0"/>
                          <a:cs typeface="Arial" panose="020B0604020202020204" pitchFamily="34" charset="0"/>
                        </a:rPr>
                        <a:t>Learning Rate</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a:solidFill>
                            <a:srgbClr val="000000"/>
                          </a:solidFill>
                          <a:effectLst/>
                          <a:latin typeface="Arial" panose="020B0604020202020204" pitchFamily="34" charset="0"/>
                          <a:cs typeface="Arial" panose="020B0604020202020204" pitchFamily="34" charset="0"/>
                        </a:rPr>
                        <a:t>Controls how much to change the model in response to the estimated error each time model weights are updated.</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a:solidFill>
                            <a:srgbClr val="000000"/>
                          </a:solidFill>
                          <a:effectLst/>
                          <a:latin typeface="Arial" panose="020B0604020202020204" pitchFamily="34" charset="0"/>
                          <a:cs typeface="Arial" panose="020B0604020202020204" pitchFamily="34" charset="0"/>
                        </a:rPr>
                        <a:t>A higher learning rate can speed up training but risks overshooting the optimal solution. A lower rate provides stable training but can be very slow.</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2592348"/>
                  </a:ext>
                </a:extLst>
              </a:tr>
              <a:tr h="621939">
                <a:tc>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Batch Size</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Number of training examples utilized in one iteration.</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Larger batch sizes offer more stable gradients but require more memory. Smaller batches may lead to better generalization but noisier training.</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5742762"/>
                  </a:ext>
                </a:extLst>
              </a:tr>
              <a:tr h="555775">
                <a:tc>
                  <a:txBody>
                    <a:bodyPr/>
                    <a:lstStyle/>
                    <a:p>
                      <a:pPr algn="l" fontAlgn="b"/>
                      <a:r>
                        <a:rPr lang="en-AU" sz="1200" b="0" i="0" u="none" strike="noStrike">
                          <a:solidFill>
                            <a:srgbClr val="000000"/>
                          </a:solidFill>
                          <a:effectLst/>
                          <a:latin typeface="Arial" panose="020B0604020202020204" pitchFamily="34" charset="0"/>
                          <a:cs typeface="Arial" panose="020B0604020202020204" pitchFamily="34" charset="0"/>
                        </a:rPr>
                        <a:t>Epochs</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a:solidFill>
                            <a:srgbClr val="000000"/>
                          </a:solidFill>
                          <a:effectLst/>
                          <a:latin typeface="Arial" panose="020B0604020202020204" pitchFamily="34" charset="0"/>
                          <a:cs typeface="Arial" panose="020B0604020202020204" pitchFamily="34" charset="0"/>
                        </a:rPr>
                        <a:t>Number of times the entire dataset is passed forward and backward through the model.</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More epochs allow the model to learn better, but too many can cause overfitting.</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1235611"/>
                  </a:ext>
                </a:extLst>
              </a:tr>
              <a:tr h="555775">
                <a:tc>
                  <a:txBody>
                    <a:bodyPr/>
                    <a:lstStyle/>
                    <a:p>
                      <a:pPr algn="l" fontAlgn="b"/>
                      <a:r>
                        <a:rPr lang="en-AU" sz="1200" b="0" i="0" u="none" strike="noStrike">
                          <a:solidFill>
                            <a:srgbClr val="000000"/>
                          </a:solidFill>
                          <a:effectLst/>
                          <a:latin typeface="Arial" panose="020B0604020202020204" pitchFamily="34" charset="0"/>
                          <a:cs typeface="Arial" panose="020B0604020202020204" pitchFamily="34" charset="0"/>
                        </a:rPr>
                        <a:t>Max Length</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a:solidFill>
                            <a:srgbClr val="000000"/>
                          </a:solidFill>
                          <a:effectLst/>
                          <a:latin typeface="Arial" panose="020B0604020202020204" pitchFamily="34" charset="0"/>
                          <a:cs typeface="Arial" panose="020B0604020202020204" pitchFamily="34" charset="0"/>
                        </a:rPr>
                        <a:t>Maximum number of tokens considered from the input text.</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A larger maximum length allows for longer context, which improves understanding but increases computation and memory usage.</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6043944"/>
                  </a:ext>
                </a:extLst>
              </a:tr>
              <a:tr h="555775">
                <a:tc>
                  <a:txBody>
                    <a:bodyPr/>
                    <a:lstStyle/>
                    <a:p>
                      <a:pPr algn="l" fontAlgn="b"/>
                      <a:r>
                        <a:rPr lang="en-AU" sz="1200" b="0" i="0" u="none" strike="noStrike">
                          <a:solidFill>
                            <a:srgbClr val="000000"/>
                          </a:solidFill>
                          <a:effectLst/>
                          <a:latin typeface="Arial" panose="020B0604020202020204" pitchFamily="34" charset="0"/>
                          <a:cs typeface="Arial" panose="020B0604020202020204" pitchFamily="34" charset="0"/>
                        </a:rPr>
                        <a:t>Hidden Dropout</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Dropout applied to fully connected layers during training to prevent overfitting.</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Higher dropout values reduce overfitting risk but can slow down convergence. Too low a value might lead to overfitting.</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7394086"/>
                  </a:ext>
                </a:extLst>
              </a:tr>
              <a:tr h="621939">
                <a:tc>
                  <a:txBody>
                    <a:bodyPr/>
                    <a:lstStyle/>
                    <a:p>
                      <a:pPr algn="l" fontAlgn="b"/>
                      <a:r>
                        <a:rPr lang="en-AU" sz="1200" b="0" i="0" u="none" strike="noStrike">
                          <a:solidFill>
                            <a:srgbClr val="000000"/>
                          </a:solidFill>
                          <a:effectLst/>
                          <a:latin typeface="Arial" panose="020B0604020202020204" pitchFamily="34" charset="0"/>
                          <a:cs typeface="Arial" panose="020B0604020202020204" pitchFamily="34" charset="0"/>
                        </a:rPr>
                        <a:t>Attention Dropout</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Dropout applied to the attention mechanism to regularize and prevent overfitting.</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Helps the model to not rely too heavily on particular attention weights, promoting robustness. However, too much dropout can hamper learning.</a:t>
                      </a:r>
                    </a:p>
                  </a:txBody>
                  <a:tcPr marL="5757" marR="5757" marT="5757"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7050802"/>
                  </a:ext>
                </a:extLst>
              </a:tr>
            </a:tbl>
          </a:graphicData>
        </a:graphic>
      </p:graphicFrame>
    </p:spTree>
    <p:extLst>
      <p:ext uri="{BB962C8B-B14F-4D97-AF65-F5344CB8AC3E}">
        <p14:creationId xmlns:p14="http://schemas.microsoft.com/office/powerpoint/2010/main" val="16015226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091B1-F620-0A5C-CFF3-DB8E2957CB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A0BA96C-0771-DF6A-7870-1FA147B33374}"/>
              </a:ext>
            </a:extLst>
          </p:cNvPr>
          <p:cNvSpPr>
            <a:spLocks noGrp="1"/>
          </p:cNvSpPr>
          <p:nvPr>
            <p:ph type="sldNum" sz="quarter" idx="12"/>
          </p:nvPr>
        </p:nvSpPr>
        <p:spPr/>
        <p:txBody>
          <a:bodyPr/>
          <a:lstStyle/>
          <a:p>
            <a:fld id="{6BAD6A8B-B5C3-4437-A9DE-A8C2149171DD}" type="slidenum">
              <a:rPr lang="en-AU" smtClean="0"/>
              <a:t>29</a:t>
            </a:fld>
            <a:endParaRPr lang="en-AU"/>
          </a:p>
        </p:txBody>
      </p:sp>
      <p:sp>
        <p:nvSpPr>
          <p:cNvPr id="5" name="Title 1">
            <a:extLst>
              <a:ext uri="{FF2B5EF4-FFF2-40B4-BE49-F238E27FC236}">
                <a16:creationId xmlns:a16="http://schemas.microsoft.com/office/drawing/2014/main" id="{4149C717-B4BD-27B1-6EEF-E99CEE8C889F}"/>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sz="3800" dirty="0"/>
              <a:t>Fine Tuning Process for </a:t>
            </a:r>
            <a:r>
              <a:rPr lang="en-GB" sz="3800" dirty="0" err="1"/>
              <a:t>RoBERTa</a:t>
            </a:r>
            <a:r>
              <a:rPr lang="en-GB" sz="3800" dirty="0"/>
              <a:t>-Large</a:t>
            </a:r>
            <a:endParaRPr lang="en-AU" sz="3800" dirty="0"/>
          </a:p>
        </p:txBody>
      </p:sp>
      <p:cxnSp>
        <p:nvCxnSpPr>
          <p:cNvPr id="6" name="Google Shape;119;g12f20562990_0_39">
            <a:extLst>
              <a:ext uri="{FF2B5EF4-FFF2-40B4-BE49-F238E27FC236}">
                <a16:creationId xmlns:a16="http://schemas.microsoft.com/office/drawing/2014/main" id="{5CFFFC23-3514-6E5D-C9E8-33EEEC9B86CD}"/>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7" name="Google Shape;176;p6">
            <a:extLst>
              <a:ext uri="{FF2B5EF4-FFF2-40B4-BE49-F238E27FC236}">
                <a16:creationId xmlns:a16="http://schemas.microsoft.com/office/drawing/2014/main" id="{A0A77552-D111-D5F7-B6F3-F0F52DE7BA92}"/>
              </a:ext>
            </a:extLst>
          </p:cNvPr>
          <p:cNvSpPr txBox="1"/>
          <p:nvPr/>
        </p:nvSpPr>
        <p:spPr>
          <a:xfrm>
            <a:off x="360693" y="769727"/>
            <a:ext cx="11144034" cy="307736"/>
          </a:xfrm>
          <a:prstGeom prst="rect">
            <a:avLst/>
          </a:prstGeom>
          <a:noFill/>
          <a:ln>
            <a:noFill/>
          </a:ln>
        </p:spPr>
        <p:txBody>
          <a:bodyPr spcFirstLastPara="1" wrap="square" lIns="91425" tIns="45700" rIns="91425" bIns="45700" anchor="t" anchorCtr="0">
            <a:spAutoFit/>
          </a:bodyPr>
          <a:lstStyle/>
          <a:p>
            <a:pPr>
              <a:buSzPts val="2800"/>
            </a:pPr>
            <a:r>
              <a:rPr lang="en-AU" sz="1400" i="1" dirty="0">
                <a:solidFill>
                  <a:schemeClr val="accent3">
                    <a:lumMod val="60000"/>
                    <a:lumOff val="40000"/>
                  </a:schemeClr>
                </a:solidFill>
              </a:rPr>
              <a:t>The process of fine-tuning involved random search, then optimised search with more optimised parameters …</a:t>
            </a:r>
            <a:endParaRPr lang="en-US" sz="1400" b="1" i="1" u="none" strike="noStrike" cap="none" dirty="0">
              <a:solidFill>
                <a:schemeClr val="accent3">
                  <a:lumMod val="60000"/>
                  <a:lumOff val="40000"/>
                </a:schemeClr>
              </a:solidFill>
              <a:latin typeface="+mn-lt"/>
              <a:ea typeface="Avenir"/>
              <a:cs typeface="Avenir"/>
            </a:endParaRPr>
          </a:p>
        </p:txBody>
      </p:sp>
      <p:graphicFrame>
        <p:nvGraphicFramePr>
          <p:cNvPr id="8" name="Table 7">
            <a:extLst>
              <a:ext uri="{FF2B5EF4-FFF2-40B4-BE49-F238E27FC236}">
                <a16:creationId xmlns:a16="http://schemas.microsoft.com/office/drawing/2014/main" id="{2D0ADCDB-694B-4C30-E022-52B95B25B485}"/>
              </a:ext>
            </a:extLst>
          </p:cNvPr>
          <p:cNvGraphicFramePr>
            <a:graphicFrameLocks noGrp="1"/>
          </p:cNvGraphicFramePr>
          <p:nvPr>
            <p:extLst>
              <p:ext uri="{D42A27DB-BD31-4B8C-83A1-F6EECF244321}">
                <p14:modId xmlns:p14="http://schemas.microsoft.com/office/powerpoint/2010/main" val="2729379509"/>
              </p:ext>
            </p:extLst>
          </p:nvPr>
        </p:nvGraphicFramePr>
        <p:xfrm>
          <a:off x="360693" y="1391537"/>
          <a:ext cx="4448389" cy="4602624"/>
        </p:xfrm>
        <a:graphic>
          <a:graphicData uri="http://schemas.openxmlformats.org/drawingml/2006/table">
            <a:tbl>
              <a:tblPr/>
              <a:tblGrid>
                <a:gridCol w="404399">
                  <a:extLst>
                    <a:ext uri="{9D8B030D-6E8A-4147-A177-3AD203B41FA5}">
                      <a16:colId xmlns:a16="http://schemas.microsoft.com/office/drawing/2014/main" val="2436438958"/>
                    </a:ext>
                  </a:extLst>
                </a:gridCol>
                <a:gridCol w="404399">
                  <a:extLst>
                    <a:ext uri="{9D8B030D-6E8A-4147-A177-3AD203B41FA5}">
                      <a16:colId xmlns:a16="http://schemas.microsoft.com/office/drawing/2014/main" val="2268916514"/>
                    </a:ext>
                  </a:extLst>
                </a:gridCol>
                <a:gridCol w="404399">
                  <a:extLst>
                    <a:ext uri="{9D8B030D-6E8A-4147-A177-3AD203B41FA5}">
                      <a16:colId xmlns:a16="http://schemas.microsoft.com/office/drawing/2014/main" val="1703643925"/>
                    </a:ext>
                  </a:extLst>
                </a:gridCol>
                <a:gridCol w="404399">
                  <a:extLst>
                    <a:ext uri="{9D8B030D-6E8A-4147-A177-3AD203B41FA5}">
                      <a16:colId xmlns:a16="http://schemas.microsoft.com/office/drawing/2014/main" val="713946812"/>
                    </a:ext>
                  </a:extLst>
                </a:gridCol>
                <a:gridCol w="404399">
                  <a:extLst>
                    <a:ext uri="{9D8B030D-6E8A-4147-A177-3AD203B41FA5}">
                      <a16:colId xmlns:a16="http://schemas.microsoft.com/office/drawing/2014/main" val="3196428405"/>
                    </a:ext>
                  </a:extLst>
                </a:gridCol>
                <a:gridCol w="404399">
                  <a:extLst>
                    <a:ext uri="{9D8B030D-6E8A-4147-A177-3AD203B41FA5}">
                      <a16:colId xmlns:a16="http://schemas.microsoft.com/office/drawing/2014/main" val="1917614977"/>
                    </a:ext>
                  </a:extLst>
                </a:gridCol>
                <a:gridCol w="404399">
                  <a:extLst>
                    <a:ext uri="{9D8B030D-6E8A-4147-A177-3AD203B41FA5}">
                      <a16:colId xmlns:a16="http://schemas.microsoft.com/office/drawing/2014/main" val="2770159428"/>
                    </a:ext>
                  </a:extLst>
                </a:gridCol>
                <a:gridCol w="404399">
                  <a:extLst>
                    <a:ext uri="{9D8B030D-6E8A-4147-A177-3AD203B41FA5}">
                      <a16:colId xmlns:a16="http://schemas.microsoft.com/office/drawing/2014/main" val="3031965004"/>
                    </a:ext>
                  </a:extLst>
                </a:gridCol>
                <a:gridCol w="404399">
                  <a:extLst>
                    <a:ext uri="{9D8B030D-6E8A-4147-A177-3AD203B41FA5}">
                      <a16:colId xmlns:a16="http://schemas.microsoft.com/office/drawing/2014/main" val="967554959"/>
                    </a:ext>
                  </a:extLst>
                </a:gridCol>
                <a:gridCol w="404399">
                  <a:extLst>
                    <a:ext uri="{9D8B030D-6E8A-4147-A177-3AD203B41FA5}">
                      <a16:colId xmlns:a16="http://schemas.microsoft.com/office/drawing/2014/main" val="3141319776"/>
                    </a:ext>
                  </a:extLst>
                </a:gridCol>
                <a:gridCol w="404399">
                  <a:extLst>
                    <a:ext uri="{9D8B030D-6E8A-4147-A177-3AD203B41FA5}">
                      <a16:colId xmlns:a16="http://schemas.microsoft.com/office/drawing/2014/main" val="1527260761"/>
                    </a:ext>
                  </a:extLst>
                </a:gridCol>
              </a:tblGrid>
              <a:tr h="158525">
                <a:tc>
                  <a:txBody>
                    <a:bodyPr/>
                    <a:lstStyle/>
                    <a:p>
                      <a:pPr algn="ctr" rtl="0" fontAlgn="t"/>
                      <a:r>
                        <a:rPr lang="en-AU" sz="500" b="1" dirty="0">
                          <a:solidFill>
                            <a:srgbClr val="FFFFFF"/>
                          </a:solidFill>
                          <a:effectLst/>
                          <a:latin typeface="Calibri" panose="020F0502020204030204" pitchFamily="34" charset="0"/>
                        </a:rPr>
                        <a:t>Trial</a:t>
                      </a:r>
                    </a:p>
                  </a:txBody>
                  <a:tcPr marL="12132" marR="12132" marT="8088" marB="8088">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algn="ctr" rtl="0" fontAlgn="t"/>
                      <a:r>
                        <a:rPr lang="en-AU" sz="500" b="1">
                          <a:solidFill>
                            <a:srgbClr val="FFFFFF"/>
                          </a:solidFill>
                          <a:effectLst/>
                          <a:latin typeface="Calibri" panose="020F0502020204030204" pitchFamily="34" charset="0"/>
                        </a:rPr>
                        <a:t>Learning Rate</a:t>
                      </a:r>
                    </a:p>
                  </a:txBody>
                  <a:tcPr marL="12132" marR="12132" marT="8088" marB="80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algn="ctr" rtl="0" fontAlgn="t"/>
                      <a:r>
                        <a:rPr lang="en-AU" sz="500" b="1" dirty="0">
                          <a:solidFill>
                            <a:srgbClr val="FFFFFF"/>
                          </a:solidFill>
                          <a:effectLst/>
                          <a:latin typeface="Calibri" panose="020F0502020204030204" pitchFamily="34" charset="0"/>
                        </a:rPr>
                        <a:t>Batch Size</a:t>
                      </a:r>
                    </a:p>
                  </a:txBody>
                  <a:tcPr marL="12132" marR="12132" marT="8088" marB="80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algn="ctr" rtl="0" fontAlgn="t"/>
                      <a:r>
                        <a:rPr lang="en-AU" sz="500" b="1">
                          <a:solidFill>
                            <a:srgbClr val="FFFFFF"/>
                          </a:solidFill>
                          <a:effectLst/>
                          <a:latin typeface="Calibri" panose="020F0502020204030204" pitchFamily="34" charset="0"/>
                        </a:rPr>
                        <a:t>Epochs</a:t>
                      </a:r>
                    </a:p>
                  </a:txBody>
                  <a:tcPr marL="12132" marR="12132" marT="8088" marB="80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algn="ctr" rtl="0" fontAlgn="t"/>
                      <a:r>
                        <a:rPr lang="en-AU" sz="500" b="1">
                          <a:solidFill>
                            <a:srgbClr val="FFFFFF"/>
                          </a:solidFill>
                          <a:effectLst/>
                          <a:latin typeface="Calibri" panose="020F0502020204030204" pitchFamily="34" charset="0"/>
                        </a:rPr>
                        <a:t>Max Length</a:t>
                      </a:r>
                    </a:p>
                  </a:txBody>
                  <a:tcPr marL="12132" marR="12132" marT="8088" marB="80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algn="ctr" rtl="0" fontAlgn="t"/>
                      <a:r>
                        <a:rPr lang="en-AU" sz="500" b="1">
                          <a:solidFill>
                            <a:srgbClr val="FFFFFF"/>
                          </a:solidFill>
                          <a:effectLst/>
                          <a:latin typeface="Calibri" panose="020F0502020204030204" pitchFamily="34" charset="0"/>
                        </a:rPr>
                        <a:t>Hidden Dropout</a:t>
                      </a:r>
                    </a:p>
                  </a:txBody>
                  <a:tcPr marL="12132" marR="12132" marT="8088" marB="80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algn="ctr" rtl="0" fontAlgn="t"/>
                      <a:r>
                        <a:rPr lang="en-AU" sz="500" b="1">
                          <a:solidFill>
                            <a:srgbClr val="FFFFFF"/>
                          </a:solidFill>
                          <a:effectLst/>
                          <a:latin typeface="Calibri" panose="020F0502020204030204" pitchFamily="34" charset="0"/>
                        </a:rPr>
                        <a:t>Attention Dropout</a:t>
                      </a:r>
                    </a:p>
                  </a:txBody>
                  <a:tcPr marL="12132" marR="12132" marT="8088" marB="80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algn="ctr" rtl="0" fontAlgn="t"/>
                      <a:r>
                        <a:rPr lang="en-AU" sz="500" b="1">
                          <a:solidFill>
                            <a:srgbClr val="FFFFFF"/>
                          </a:solidFill>
                          <a:effectLst/>
                          <a:latin typeface="Calibri" panose="020F0502020204030204" pitchFamily="34" charset="0"/>
                        </a:rPr>
                        <a:t>Train Accuracy</a:t>
                      </a:r>
                    </a:p>
                  </a:txBody>
                  <a:tcPr marL="12132" marR="12132" marT="8088" marB="80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algn="ctr" rtl="0" fontAlgn="t"/>
                      <a:r>
                        <a:rPr lang="en-AU" sz="500" b="1">
                          <a:solidFill>
                            <a:srgbClr val="FFFFFF"/>
                          </a:solidFill>
                          <a:effectLst/>
                          <a:latin typeface="Calibri" panose="020F0502020204030204" pitchFamily="34" charset="0"/>
                        </a:rPr>
                        <a:t>Test Accuracy</a:t>
                      </a:r>
                    </a:p>
                  </a:txBody>
                  <a:tcPr marL="12132" marR="12132" marT="8088" marB="80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algn="ctr" rtl="0" fontAlgn="t"/>
                      <a:r>
                        <a:rPr lang="en-AU" sz="500" b="1">
                          <a:solidFill>
                            <a:srgbClr val="FFFFFF"/>
                          </a:solidFill>
                          <a:effectLst/>
                          <a:latin typeface="Calibri" panose="020F0502020204030204" pitchFamily="34" charset="0"/>
                        </a:rPr>
                        <a:t>Train F1 Score</a:t>
                      </a:r>
                    </a:p>
                  </a:txBody>
                  <a:tcPr marL="12132" marR="12132" marT="8088" marB="8088">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algn="ctr" rtl="0" fontAlgn="t"/>
                      <a:r>
                        <a:rPr lang="en-AU" sz="500" b="1">
                          <a:solidFill>
                            <a:srgbClr val="FFFFFF"/>
                          </a:solidFill>
                          <a:effectLst/>
                          <a:latin typeface="Calibri" panose="020F0502020204030204" pitchFamily="34" charset="0"/>
                        </a:rPr>
                        <a:t>Test F1 Score</a:t>
                      </a:r>
                    </a:p>
                  </a:txBody>
                  <a:tcPr marL="12132" marR="12132" marT="8088" marB="8088">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extLst>
                  <a:ext uri="{0D108BD9-81ED-4DB2-BD59-A6C34878D82A}">
                    <a16:rowId xmlns:a16="http://schemas.microsoft.com/office/drawing/2014/main" val="2360919423"/>
                  </a:ext>
                </a:extLst>
              </a:tr>
              <a:tr h="87350">
                <a:tc>
                  <a:txBody>
                    <a:bodyPr/>
                    <a:lstStyle/>
                    <a:p>
                      <a:pPr algn="r" rtl="0" fontAlgn="b"/>
                      <a:r>
                        <a:rPr lang="en-AU" sz="500" b="0">
                          <a:effectLst/>
                          <a:latin typeface="Calibri" panose="020F0502020204030204" pitchFamily="34" charset="0"/>
                        </a:rPr>
                        <a:t>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0.997479839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0.699596774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0.997481661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0.709971699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175670453"/>
                  </a:ext>
                </a:extLst>
              </a:tr>
              <a:tr h="87350">
                <a:tc>
                  <a:txBody>
                    <a:bodyPr/>
                    <a:lstStyle/>
                    <a:p>
                      <a:pPr algn="r" rtl="0" fontAlgn="b"/>
                      <a:r>
                        <a:rPr lang="en-AU" sz="500" b="0">
                          <a:effectLst/>
                          <a:latin typeface="Calibri" panose="020F0502020204030204" pitchFamily="34" charset="0"/>
                        </a:rPr>
                        <a:t>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0.991935484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0.703629032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0.991946733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0.725743208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045151249"/>
                  </a:ext>
                </a:extLst>
              </a:tr>
              <a:tr h="87350">
                <a:tc>
                  <a:txBody>
                    <a:bodyPr/>
                    <a:lstStyle/>
                    <a:p>
                      <a:pPr algn="r" rtl="0" fontAlgn="b"/>
                      <a:r>
                        <a:rPr lang="en-AU" sz="500" b="0">
                          <a:effectLst/>
                          <a:latin typeface="Calibri" panose="020F0502020204030204" pitchFamily="34" charset="0"/>
                        </a:rPr>
                        <a:t>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0.993951613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0.701612903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0.993949791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0.721192025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508614724"/>
                  </a:ext>
                </a:extLst>
              </a:tr>
              <a:tr h="87350">
                <a:tc>
                  <a:txBody>
                    <a:bodyPr/>
                    <a:lstStyle/>
                    <a:p>
                      <a:pPr algn="r" rtl="0" fontAlgn="b"/>
                      <a:r>
                        <a:rPr lang="en-AU" sz="500" b="0">
                          <a:effectLst/>
                          <a:latin typeface="Calibri" panose="020F0502020204030204" pitchFamily="34" charset="0"/>
                        </a:rPr>
                        <a:t>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0.996975806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0.697580645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0.996976208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0.724541632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217450654"/>
                  </a:ext>
                </a:extLst>
              </a:tr>
              <a:tr h="87350">
                <a:tc>
                  <a:txBody>
                    <a:bodyPr/>
                    <a:lstStyle/>
                    <a:p>
                      <a:pPr algn="r" rtl="0" fontAlgn="b"/>
                      <a:r>
                        <a:rPr lang="en-AU" sz="500" b="0">
                          <a:effectLst/>
                          <a:latin typeface="Calibri" panose="020F0502020204030204" pitchFamily="34" charset="0"/>
                        </a:rPr>
                        <a:t>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0.996975806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0.70766129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0.996978383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0.708563043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232166091"/>
                  </a:ext>
                </a:extLst>
              </a:tr>
              <a:tr h="87350">
                <a:tc>
                  <a:txBody>
                    <a:bodyPr/>
                    <a:lstStyle/>
                    <a:p>
                      <a:pPr algn="r" rtl="0" fontAlgn="b"/>
                      <a:r>
                        <a:rPr lang="en-AU" sz="500" b="0">
                          <a:effectLst/>
                          <a:latin typeface="Calibri" panose="020F0502020204030204" pitchFamily="34" charset="0"/>
                        </a:rPr>
                        <a:t>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0.996975806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0.693548387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0.996977713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0.70122742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253627069"/>
                  </a:ext>
                </a:extLst>
              </a:tr>
              <a:tr h="0">
                <a:tc>
                  <a:txBody>
                    <a:bodyPr/>
                    <a:lstStyle/>
                    <a:p>
                      <a:pPr algn="r" rtl="0" fontAlgn="b"/>
                      <a:r>
                        <a:rPr lang="en-AU" sz="500" b="0">
                          <a:effectLst/>
                          <a:latin typeface="Calibri" panose="020F0502020204030204" pitchFamily="34" charset="0"/>
                        </a:rPr>
                        <a:t>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0.993447581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0.693548387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0.993445341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0.709621421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085196120"/>
                  </a:ext>
                </a:extLst>
              </a:tr>
              <a:tr h="87350">
                <a:tc>
                  <a:txBody>
                    <a:bodyPr/>
                    <a:lstStyle/>
                    <a:p>
                      <a:pPr algn="r" rtl="0" fontAlgn="b"/>
                      <a:r>
                        <a:rPr lang="en-AU" sz="500" b="0">
                          <a:effectLst/>
                          <a:latin typeface="Calibri" panose="020F0502020204030204" pitchFamily="34" charset="0"/>
                        </a:rPr>
                        <a:t>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0.996471774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0.717741935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0.996471601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0.720427922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09909670"/>
                  </a:ext>
                </a:extLst>
              </a:tr>
              <a:tr h="87350">
                <a:tc>
                  <a:txBody>
                    <a:bodyPr/>
                    <a:lstStyle/>
                    <a:p>
                      <a:pPr algn="r" rtl="0" fontAlgn="b"/>
                      <a:r>
                        <a:rPr lang="en-AU" sz="500" b="0">
                          <a:effectLst/>
                          <a:latin typeface="Calibri" panose="020F0502020204030204" pitchFamily="34" charset="0"/>
                        </a:rPr>
                        <a:t>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0.994959677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0.675403226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0.994954989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0.683569682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768694574"/>
                  </a:ext>
                </a:extLst>
              </a:tr>
              <a:tr h="87350">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0.997479839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0.721774194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0.997481601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0.720499973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484983815"/>
                  </a:ext>
                </a:extLst>
              </a:tr>
              <a:tr h="87350">
                <a:tc>
                  <a:txBody>
                    <a:bodyPr/>
                    <a:lstStyle/>
                    <a:p>
                      <a:pPr algn="r" rtl="0" fontAlgn="b"/>
                      <a:r>
                        <a:rPr lang="en-AU" sz="500" b="0">
                          <a:effectLst/>
                          <a:latin typeface="Calibri" panose="020F0502020204030204" pitchFamily="34" charset="0"/>
                        </a:rPr>
                        <a:t>11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0.992943548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0.66733871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0.992946063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0.693947225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856648719"/>
                  </a:ext>
                </a:extLst>
              </a:tr>
              <a:tr h="87350">
                <a:tc>
                  <a:txBody>
                    <a:bodyPr/>
                    <a:lstStyle/>
                    <a:p>
                      <a:pPr algn="r" rtl="0" fontAlgn="b"/>
                      <a:r>
                        <a:rPr lang="en-AU" sz="500" b="0">
                          <a:effectLst/>
                          <a:latin typeface="Calibri" panose="020F0502020204030204" pitchFamily="34" charset="0"/>
                        </a:rPr>
                        <a:t>12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0.982358871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0.697580645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0.982331028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0.705469479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469236882"/>
                  </a:ext>
                </a:extLst>
              </a:tr>
              <a:tr h="87350">
                <a:tc>
                  <a:txBody>
                    <a:bodyPr/>
                    <a:lstStyle/>
                    <a:p>
                      <a:pPr algn="r" rtl="0" fontAlgn="b"/>
                      <a:r>
                        <a:rPr lang="en-AU" sz="500" b="0">
                          <a:effectLst/>
                          <a:latin typeface="Calibri" panose="020F0502020204030204" pitchFamily="34" charset="0"/>
                        </a:rPr>
                        <a:t>13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0.996471774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0.697580645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0.996469958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0.713963077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85404044"/>
                  </a:ext>
                </a:extLst>
              </a:tr>
              <a:tr h="87350">
                <a:tc>
                  <a:txBody>
                    <a:bodyPr/>
                    <a:lstStyle/>
                    <a:p>
                      <a:pPr algn="r" rtl="0" fontAlgn="b"/>
                      <a:r>
                        <a:rPr lang="en-AU" sz="500" b="0">
                          <a:effectLst/>
                          <a:latin typeface="Calibri" panose="020F0502020204030204" pitchFamily="34" charset="0"/>
                        </a:rPr>
                        <a:t>14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0.997479839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0.695564516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0.997480755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0.709306904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062957389"/>
                  </a:ext>
                </a:extLst>
              </a:tr>
              <a:tr h="87350">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0.987903226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0.695564516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0.987921546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0.715365944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744290297"/>
                  </a:ext>
                </a:extLst>
              </a:tr>
              <a:tr h="87350">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0.996975806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0.701612903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0.996976571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0.710024361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33698861"/>
                  </a:ext>
                </a:extLst>
              </a:tr>
              <a:tr h="87350">
                <a:tc>
                  <a:txBody>
                    <a:bodyPr/>
                    <a:lstStyle/>
                    <a:p>
                      <a:pPr algn="r" rtl="0" fontAlgn="b"/>
                      <a:r>
                        <a:rPr lang="en-AU" sz="500" b="0">
                          <a:effectLst/>
                          <a:latin typeface="Calibri" panose="020F0502020204030204" pitchFamily="34" charset="0"/>
                        </a:rPr>
                        <a:t>17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0.98891129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0.685483871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0.988961532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0.712546618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752934109"/>
                  </a:ext>
                </a:extLst>
              </a:tr>
              <a:tr h="87350">
                <a:tc>
                  <a:txBody>
                    <a:bodyPr/>
                    <a:lstStyle/>
                    <a:p>
                      <a:pPr algn="r" rtl="0" fontAlgn="b"/>
                      <a:r>
                        <a:rPr lang="en-AU" sz="500" b="0">
                          <a:effectLst/>
                          <a:latin typeface="Calibri" panose="020F0502020204030204" pitchFamily="34" charset="0"/>
                        </a:rPr>
                        <a:t>18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0.997479839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0.675403226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0.997480693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0.694066736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49242166"/>
                  </a:ext>
                </a:extLst>
              </a:tr>
              <a:tr h="87350">
                <a:tc>
                  <a:txBody>
                    <a:bodyPr/>
                    <a:lstStyle/>
                    <a:p>
                      <a:pPr algn="r" rtl="0" fontAlgn="b"/>
                      <a:r>
                        <a:rPr lang="en-AU" sz="500" b="0">
                          <a:effectLst/>
                          <a:latin typeface="Calibri" panose="020F0502020204030204" pitchFamily="34" charset="0"/>
                        </a:rPr>
                        <a:t>19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0.996975806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0.70766129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0.996978197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0.712880709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435219663"/>
                  </a:ext>
                </a:extLst>
              </a:tr>
              <a:tr h="87350">
                <a:tc>
                  <a:txBody>
                    <a:bodyPr/>
                    <a:lstStyle/>
                    <a:p>
                      <a:pPr algn="r" rtl="0" fontAlgn="b"/>
                      <a:r>
                        <a:rPr lang="en-AU" sz="500" b="0">
                          <a:effectLst/>
                          <a:latin typeface="Calibri" panose="020F0502020204030204" pitchFamily="34" charset="0"/>
                        </a:rPr>
                        <a:t>20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0.995967742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0.695564516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0.995969855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0.704778857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542816773"/>
                  </a:ext>
                </a:extLst>
              </a:tr>
              <a:tr h="87350">
                <a:tc>
                  <a:txBody>
                    <a:bodyPr/>
                    <a:lstStyle/>
                    <a:p>
                      <a:pPr algn="r" rtl="0" fontAlgn="b"/>
                      <a:r>
                        <a:rPr lang="en-AU" sz="500" b="0">
                          <a:effectLst/>
                          <a:latin typeface="Calibri" panose="020F0502020204030204" pitchFamily="34" charset="0"/>
                        </a:rPr>
                        <a:t>21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0.997479839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0.717741935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0.997478847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0.721955313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493803933"/>
                  </a:ext>
                </a:extLst>
              </a:tr>
              <a:tr h="87350">
                <a:tc>
                  <a:txBody>
                    <a:bodyPr/>
                    <a:lstStyle/>
                    <a:p>
                      <a:pPr algn="r" rtl="0" fontAlgn="b"/>
                      <a:r>
                        <a:rPr lang="en-AU" sz="500" b="0">
                          <a:effectLst/>
                          <a:latin typeface="Calibri" panose="020F0502020204030204" pitchFamily="34" charset="0"/>
                        </a:rPr>
                        <a:t>22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0.501008065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0.463709677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0.334454007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0.311728884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146802585"/>
                  </a:ext>
                </a:extLst>
              </a:tr>
              <a:tr h="87350">
                <a:tc>
                  <a:txBody>
                    <a:bodyPr/>
                    <a:lstStyle/>
                    <a:p>
                      <a:pPr algn="r" rtl="0" fontAlgn="b"/>
                      <a:r>
                        <a:rPr lang="en-AU" sz="500" b="0">
                          <a:effectLst/>
                          <a:latin typeface="Calibri" panose="020F0502020204030204" pitchFamily="34" charset="0"/>
                        </a:rPr>
                        <a:t>23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0.996975806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0.689516129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0.996973986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0.704353893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53857287"/>
                  </a:ext>
                </a:extLst>
              </a:tr>
              <a:tr h="87350">
                <a:tc>
                  <a:txBody>
                    <a:bodyPr/>
                    <a:lstStyle/>
                    <a:p>
                      <a:pPr algn="r" rtl="0" fontAlgn="b"/>
                      <a:r>
                        <a:rPr lang="en-AU" sz="500" b="0">
                          <a:effectLst/>
                          <a:latin typeface="Calibri" panose="020F0502020204030204" pitchFamily="34" charset="0"/>
                        </a:rPr>
                        <a:t>24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0.968245968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0.66733871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0.967989039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0.702222273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960949332"/>
                  </a:ext>
                </a:extLst>
              </a:tr>
              <a:tr h="87350">
                <a:tc>
                  <a:txBody>
                    <a:bodyPr/>
                    <a:lstStyle/>
                    <a:p>
                      <a:pPr algn="r" rtl="0" fontAlgn="b"/>
                      <a:r>
                        <a:rPr lang="en-AU" sz="500" b="0">
                          <a:effectLst/>
                          <a:latin typeface="Calibri" panose="020F0502020204030204" pitchFamily="34" charset="0"/>
                        </a:rPr>
                        <a:t>25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0.99546371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0.699596774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0.995462115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0.707102133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289402201"/>
                  </a:ext>
                </a:extLst>
              </a:tr>
              <a:tr h="87350">
                <a:tc>
                  <a:txBody>
                    <a:bodyPr/>
                    <a:lstStyle/>
                    <a:p>
                      <a:pPr algn="r" rtl="0" fontAlgn="b"/>
                      <a:r>
                        <a:rPr lang="en-AU" sz="500" b="0">
                          <a:effectLst/>
                          <a:latin typeface="Calibri" panose="020F0502020204030204" pitchFamily="34" charset="0"/>
                        </a:rPr>
                        <a:t>26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0.99546371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0.691532258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0.995464162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0.700391886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367283222"/>
                  </a:ext>
                </a:extLst>
              </a:tr>
              <a:tr h="87350">
                <a:tc>
                  <a:txBody>
                    <a:bodyPr/>
                    <a:lstStyle/>
                    <a:p>
                      <a:pPr algn="r" rtl="0" fontAlgn="b"/>
                      <a:r>
                        <a:rPr lang="en-AU" sz="500" b="0">
                          <a:effectLst/>
                          <a:latin typeface="Calibri" panose="020F0502020204030204" pitchFamily="34" charset="0"/>
                        </a:rPr>
                        <a:t>27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0.996975806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0.701612903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0.996978647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0.704910236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44628538"/>
                  </a:ext>
                </a:extLst>
              </a:tr>
              <a:tr h="87350">
                <a:tc>
                  <a:txBody>
                    <a:bodyPr/>
                    <a:lstStyle/>
                    <a:p>
                      <a:pPr algn="r" rtl="0" fontAlgn="b"/>
                      <a:r>
                        <a:rPr lang="en-AU" sz="500" b="0">
                          <a:effectLst/>
                          <a:latin typeface="Calibri" panose="020F0502020204030204" pitchFamily="34" charset="0"/>
                        </a:rPr>
                        <a:t>28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0.996975806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0.72983871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0.996976998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0.732300639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67021928"/>
                  </a:ext>
                </a:extLst>
              </a:tr>
              <a:tr h="87350">
                <a:tc>
                  <a:txBody>
                    <a:bodyPr/>
                    <a:lstStyle/>
                    <a:p>
                      <a:pPr algn="r" rtl="0" fontAlgn="b"/>
                      <a:r>
                        <a:rPr lang="en-AU" sz="500" b="0">
                          <a:effectLst/>
                          <a:latin typeface="Calibri" panose="020F0502020204030204" pitchFamily="34" charset="0"/>
                        </a:rPr>
                        <a:t>29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0.992439516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0.695564516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0.992447592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0.712676856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36818271"/>
                  </a:ext>
                </a:extLst>
              </a:tr>
              <a:tr h="87350">
                <a:tc>
                  <a:txBody>
                    <a:bodyPr/>
                    <a:lstStyle/>
                    <a:p>
                      <a:pPr algn="r" rtl="0" fontAlgn="b"/>
                      <a:r>
                        <a:rPr lang="en-AU" sz="500" b="0">
                          <a:effectLst/>
                          <a:latin typeface="Calibri" panose="020F0502020204030204" pitchFamily="34" charset="0"/>
                        </a:rPr>
                        <a:t>30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0.997479839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0.713709677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0.997478847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0.722853904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57331046"/>
                  </a:ext>
                </a:extLst>
              </a:tr>
              <a:tr h="87350">
                <a:tc>
                  <a:txBody>
                    <a:bodyPr/>
                    <a:lstStyle/>
                    <a:p>
                      <a:pPr algn="r" rtl="0" fontAlgn="b"/>
                      <a:r>
                        <a:rPr lang="en-AU" sz="500" b="0">
                          <a:effectLst/>
                          <a:latin typeface="Calibri" panose="020F0502020204030204" pitchFamily="34" charset="0"/>
                        </a:rPr>
                        <a:t>31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0.501008065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0.463709677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0.334454007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0.342103438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900352089"/>
                  </a:ext>
                </a:extLst>
              </a:tr>
              <a:tr h="87350">
                <a:tc>
                  <a:txBody>
                    <a:bodyPr/>
                    <a:lstStyle/>
                    <a:p>
                      <a:pPr algn="r" rtl="0" fontAlgn="b"/>
                      <a:r>
                        <a:rPr lang="en-AU" sz="500" b="0">
                          <a:effectLst/>
                          <a:latin typeface="Calibri" panose="020F0502020204030204" pitchFamily="34" charset="0"/>
                        </a:rPr>
                        <a:t>32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0.993447581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0.719758065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0.993441503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0.724020517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30031901"/>
                  </a:ext>
                </a:extLst>
              </a:tr>
              <a:tr h="87350">
                <a:tc>
                  <a:txBody>
                    <a:bodyPr/>
                    <a:lstStyle/>
                    <a:p>
                      <a:pPr algn="r" rtl="0" fontAlgn="b"/>
                      <a:r>
                        <a:rPr lang="en-AU" sz="500" b="0">
                          <a:effectLst/>
                          <a:latin typeface="Calibri" panose="020F0502020204030204" pitchFamily="34" charset="0"/>
                        </a:rPr>
                        <a:t>33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0.997479839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0.721774194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0.997481661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0.721724738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26166262"/>
                  </a:ext>
                </a:extLst>
              </a:tr>
              <a:tr h="87350">
                <a:tc>
                  <a:txBody>
                    <a:bodyPr/>
                    <a:lstStyle/>
                    <a:p>
                      <a:pPr algn="r" rtl="0" fontAlgn="b"/>
                      <a:r>
                        <a:rPr lang="en-AU" sz="500" b="0">
                          <a:effectLst/>
                          <a:latin typeface="Calibri" panose="020F0502020204030204" pitchFamily="34" charset="0"/>
                        </a:rPr>
                        <a:t>34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0.994959677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0.697580645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0.994957114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0.713229674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319059443"/>
                  </a:ext>
                </a:extLst>
              </a:tr>
              <a:tr h="87350">
                <a:tc>
                  <a:txBody>
                    <a:bodyPr/>
                    <a:lstStyle/>
                    <a:p>
                      <a:pPr algn="r" rtl="0" fontAlgn="b"/>
                      <a:r>
                        <a:rPr lang="en-AU" sz="500" b="0">
                          <a:effectLst/>
                          <a:latin typeface="Calibri" panose="020F0502020204030204" pitchFamily="34" charset="0"/>
                        </a:rPr>
                        <a:t>35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0.501008065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0.463709677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0.334454007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0.602764763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258849345"/>
                  </a:ext>
                </a:extLst>
              </a:tr>
              <a:tr h="87350">
                <a:tc>
                  <a:txBody>
                    <a:bodyPr/>
                    <a:lstStyle/>
                    <a:p>
                      <a:pPr algn="r" rtl="0" fontAlgn="b"/>
                      <a:r>
                        <a:rPr lang="en-AU" sz="500" b="0">
                          <a:effectLst/>
                          <a:latin typeface="Calibri" panose="020F0502020204030204" pitchFamily="34" charset="0"/>
                        </a:rPr>
                        <a:t>36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0.995967742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0.691532258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0.995969207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0.698922677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006616645"/>
                  </a:ext>
                </a:extLst>
              </a:tr>
              <a:tr h="87350">
                <a:tc>
                  <a:txBody>
                    <a:bodyPr/>
                    <a:lstStyle/>
                    <a:p>
                      <a:pPr algn="r" rtl="0" fontAlgn="b"/>
                      <a:r>
                        <a:rPr lang="en-AU" sz="500" b="0">
                          <a:effectLst/>
                          <a:latin typeface="Calibri" panose="020F0502020204030204" pitchFamily="34" charset="0"/>
                        </a:rPr>
                        <a:t>37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0.997479839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0.695564516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0.997478913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0.704080766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921299159"/>
                  </a:ext>
                </a:extLst>
              </a:tr>
              <a:tr h="87350">
                <a:tc>
                  <a:txBody>
                    <a:bodyPr/>
                    <a:lstStyle/>
                    <a:p>
                      <a:pPr algn="r" rtl="0" fontAlgn="b"/>
                      <a:r>
                        <a:rPr lang="en-AU" sz="500" b="0">
                          <a:effectLst/>
                          <a:latin typeface="Calibri" panose="020F0502020204030204" pitchFamily="34" charset="0"/>
                        </a:rPr>
                        <a:t>38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0.996975806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0.699596774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0.996976805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0.717319432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538268025"/>
                  </a:ext>
                </a:extLst>
              </a:tr>
              <a:tr h="87350">
                <a:tc>
                  <a:txBody>
                    <a:bodyPr/>
                    <a:lstStyle/>
                    <a:p>
                      <a:pPr algn="r" rtl="0" fontAlgn="b"/>
                      <a:r>
                        <a:rPr lang="en-AU" sz="500" b="0">
                          <a:effectLst/>
                          <a:latin typeface="Calibri" panose="020F0502020204030204" pitchFamily="34" charset="0"/>
                        </a:rPr>
                        <a:t>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0.990927419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0.709677419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0.99091089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0.737857247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32720536"/>
                  </a:ext>
                </a:extLst>
              </a:tr>
              <a:tr h="87350">
                <a:tc>
                  <a:txBody>
                    <a:bodyPr/>
                    <a:lstStyle/>
                    <a:p>
                      <a:pPr algn="r" rtl="0" fontAlgn="b"/>
                      <a:r>
                        <a:rPr lang="en-AU" sz="500" b="0">
                          <a:effectLst/>
                          <a:latin typeface="Calibri" panose="020F0502020204030204" pitchFamily="34" charset="0"/>
                        </a:rPr>
                        <a:t>40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0.997479839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0.697580645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0.997481661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0.714125863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255232161"/>
                  </a:ext>
                </a:extLst>
              </a:tr>
              <a:tr h="87350">
                <a:tc>
                  <a:txBody>
                    <a:bodyPr/>
                    <a:lstStyle/>
                    <a:p>
                      <a:pPr algn="r" rtl="0" fontAlgn="b"/>
                      <a:r>
                        <a:rPr lang="en-AU" sz="500" b="0">
                          <a:effectLst/>
                          <a:latin typeface="Calibri" panose="020F0502020204030204" pitchFamily="34" charset="0"/>
                        </a:rPr>
                        <a:t>41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0.995967742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0.691532258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0.995966852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0.713327285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86565578"/>
                  </a:ext>
                </a:extLst>
              </a:tr>
              <a:tr h="87350">
                <a:tc>
                  <a:txBody>
                    <a:bodyPr/>
                    <a:lstStyle/>
                    <a:p>
                      <a:pPr algn="r" rtl="0" fontAlgn="b"/>
                      <a:r>
                        <a:rPr lang="en-AU" sz="500" b="0">
                          <a:effectLst/>
                          <a:latin typeface="Calibri" panose="020F0502020204030204" pitchFamily="34" charset="0"/>
                        </a:rPr>
                        <a:t>42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0.995967742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0.715725806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0.995968769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0.726517103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758216452"/>
                  </a:ext>
                </a:extLst>
              </a:tr>
              <a:tr h="87350">
                <a:tc>
                  <a:txBody>
                    <a:bodyPr/>
                    <a:lstStyle/>
                    <a:p>
                      <a:pPr algn="r" rtl="0" fontAlgn="b"/>
                      <a:r>
                        <a:rPr lang="en-AU" sz="500" b="0">
                          <a:effectLst/>
                          <a:latin typeface="Calibri" panose="020F0502020204030204" pitchFamily="34" charset="0"/>
                        </a:rPr>
                        <a:t>43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0.995967742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0.675403226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0.995969674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0.691591328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831891315"/>
                  </a:ext>
                </a:extLst>
              </a:tr>
              <a:tr h="87350">
                <a:tc>
                  <a:txBody>
                    <a:bodyPr/>
                    <a:lstStyle/>
                    <a:p>
                      <a:pPr algn="r" rtl="0" fontAlgn="b"/>
                      <a:r>
                        <a:rPr lang="en-AU" sz="500" b="0">
                          <a:effectLst/>
                          <a:latin typeface="Calibri" panose="020F0502020204030204" pitchFamily="34" charset="0"/>
                        </a:rPr>
                        <a:t>44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0.996975806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0.737903226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0.996976208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0.743978736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737916332"/>
                  </a:ext>
                </a:extLst>
              </a:tr>
              <a:tr h="87350">
                <a:tc>
                  <a:txBody>
                    <a:bodyPr/>
                    <a:lstStyle/>
                    <a:p>
                      <a:pPr algn="r" rtl="0" fontAlgn="b"/>
                      <a:r>
                        <a:rPr lang="en-AU" sz="500" b="0">
                          <a:effectLst/>
                          <a:latin typeface="Calibri" panose="020F0502020204030204" pitchFamily="34" charset="0"/>
                        </a:rPr>
                        <a:t>45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0.995967742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0.677419355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0.995966403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0.714873911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853561108"/>
                  </a:ext>
                </a:extLst>
              </a:tr>
              <a:tr h="87350">
                <a:tc>
                  <a:txBody>
                    <a:bodyPr/>
                    <a:lstStyle/>
                    <a:p>
                      <a:pPr algn="r" rtl="0" fontAlgn="b"/>
                      <a:r>
                        <a:rPr lang="en-AU" sz="500" b="0">
                          <a:effectLst/>
                          <a:latin typeface="Calibri" panose="020F0502020204030204" pitchFamily="34" charset="0"/>
                        </a:rPr>
                        <a:t>46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0.00002</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0.996471774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0.693548387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0.996475524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0.733600156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490542361"/>
                  </a:ext>
                </a:extLst>
              </a:tr>
              <a:tr h="87350">
                <a:tc>
                  <a:txBody>
                    <a:bodyPr/>
                    <a:lstStyle/>
                    <a:p>
                      <a:pPr algn="r" rtl="0" fontAlgn="b"/>
                      <a:r>
                        <a:rPr lang="en-AU" sz="500" b="0">
                          <a:effectLst/>
                          <a:latin typeface="Calibri" panose="020F0502020204030204" pitchFamily="34" charset="0"/>
                        </a:rPr>
                        <a:t>47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50</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0.983366935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0.66733871</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0.983324658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0.711026424</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86801267"/>
                  </a:ext>
                </a:extLst>
              </a:tr>
              <a:tr h="87350">
                <a:tc>
                  <a:txBody>
                    <a:bodyPr/>
                    <a:lstStyle/>
                    <a:p>
                      <a:pPr algn="r" rtl="0" fontAlgn="b"/>
                      <a:r>
                        <a:rPr lang="en-AU" sz="500" b="0">
                          <a:effectLst/>
                          <a:latin typeface="Calibri" panose="020F0502020204030204" pitchFamily="34" charset="0"/>
                        </a:rPr>
                        <a:t>48</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0.00003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16</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15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75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0.501008065</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0.463709677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a:effectLst/>
                          <a:latin typeface="Calibri" panose="020F0502020204030204" pitchFamily="34" charset="0"/>
                        </a:rPr>
                        <a:t>0.334454007</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500" b="0" dirty="0">
                          <a:effectLst/>
                          <a:latin typeface="Calibri" panose="020F0502020204030204" pitchFamily="34" charset="0"/>
                        </a:rPr>
                        <a:t>0.293810539</a:t>
                      </a:r>
                    </a:p>
                  </a:txBody>
                  <a:tcPr marL="12132" marR="12132" marT="8088" marB="808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20127125"/>
                  </a:ext>
                </a:extLst>
              </a:tr>
            </a:tbl>
          </a:graphicData>
        </a:graphic>
      </p:graphicFrame>
      <p:sp>
        <p:nvSpPr>
          <p:cNvPr id="9" name="Arrow: Right 5">
            <a:extLst>
              <a:ext uri="{FF2B5EF4-FFF2-40B4-BE49-F238E27FC236}">
                <a16:creationId xmlns:a16="http://schemas.microsoft.com/office/drawing/2014/main" id="{346629DC-4878-7A8D-B90A-39D395BA225F}"/>
              </a:ext>
            </a:extLst>
          </p:cNvPr>
          <p:cNvSpPr/>
          <p:nvPr/>
        </p:nvSpPr>
        <p:spPr>
          <a:xfrm>
            <a:off x="5111737" y="1249829"/>
            <a:ext cx="529774" cy="1747261"/>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1A63FC42-B078-8235-307A-CD088D3A00B7}"/>
              </a:ext>
            </a:extLst>
          </p:cNvPr>
          <p:cNvSpPr txBox="1"/>
          <p:nvPr/>
        </p:nvSpPr>
        <p:spPr>
          <a:xfrm>
            <a:off x="274900" y="6016798"/>
            <a:ext cx="4836837" cy="369332"/>
          </a:xfrm>
          <a:prstGeom prst="rect">
            <a:avLst/>
          </a:prstGeom>
          <a:noFill/>
        </p:spPr>
        <p:txBody>
          <a:bodyPr wrap="none" rtlCol="0">
            <a:spAutoFit/>
          </a:bodyPr>
          <a:lstStyle/>
          <a:p>
            <a:r>
              <a:rPr lang="en-US" dirty="0"/>
              <a:t>Note, this random search process took 25 hours…</a:t>
            </a:r>
          </a:p>
        </p:txBody>
      </p:sp>
      <p:sp>
        <p:nvSpPr>
          <p:cNvPr id="13" name="TextBox 12">
            <a:extLst>
              <a:ext uri="{FF2B5EF4-FFF2-40B4-BE49-F238E27FC236}">
                <a16:creationId xmlns:a16="http://schemas.microsoft.com/office/drawing/2014/main" id="{7FD86DFC-5934-F816-8908-3CA8CFF02304}"/>
              </a:ext>
            </a:extLst>
          </p:cNvPr>
          <p:cNvSpPr txBox="1"/>
          <p:nvPr/>
        </p:nvSpPr>
        <p:spPr>
          <a:xfrm>
            <a:off x="274900" y="1065163"/>
            <a:ext cx="6100762" cy="369332"/>
          </a:xfrm>
          <a:prstGeom prst="rect">
            <a:avLst/>
          </a:prstGeom>
          <a:noFill/>
        </p:spPr>
        <p:txBody>
          <a:bodyPr wrap="square">
            <a:spAutoFit/>
          </a:bodyPr>
          <a:lstStyle/>
          <a:p>
            <a:r>
              <a:rPr lang="en-US" b="1" dirty="0"/>
              <a:t>Random Search </a:t>
            </a:r>
          </a:p>
        </p:txBody>
      </p:sp>
      <p:sp>
        <p:nvSpPr>
          <p:cNvPr id="14" name="TextBox 13">
            <a:extLst>
              <a:ext uri="{FF2B5EF4-FFF2-40B4-BE49-F238E27FC236}">
                <a16:creationId xmlns:a16="http://schemas.microsoft.com/office/drawing/2014/main" id="{0A267AB5-BF22-48A4-700C-F795499DBAE0}"/>
              </a:ext>
            </a:extLst>
          </p:cNvPr>
          <p:cNvSpPr txBox="1"/>
          <p:nvPr/>
        </p:nvSpPr>
        <p:spPr>
          <a:xfrm>
            <a:off x="5889814" y="1167266"/>
            <a:ext cx="6100762" cy="2031325"/>
          </a:xfrm>
          <a:prstGeom prst="rect">
            <a:avLst/>
          </a:prstGeom>
          <a:noFill/>
        </p:spPr>
        <p:txBody>
          <a:bodyPr wrap="square">
            <a:spAutoFit/>
          </a:bodyPr>
          <a:lstStyle/>
          <a:p>
            <a:r>
              <a:rPr lang="en-US" b="1" dirty="0"/>
              <a:t>Bayesian </a:t>
            </a:r>
            <a:r>
              <a:rPr lang="en-US" b="1" dirty="0" err="1"/>
              <a:t>Optimisation</a:t>
            </a:r>
            <a:r>
              <a:rPr lang="en-US" b="1" dirty="0"/>
              <a:t> (structured like a greedy-epsilon policy)</a:t>
            </a:r>
          </a:p>
          <a:p>
            <a:endParaRPr lang="en-US" b="1" dirty="0"/>
          </a:p>
          <a:p>
            <a:pPr marL="285750" indent="-285750">
              <a:buFont typeface="Arial" panose="020B0604020202020204" pitchFamily="34" charset="0"/>
              <a:buChar char="•"/>
            </a:pPr>
            <a:r>
              <a:rPr lang="en-US" dirty="0"/>
              <a:t>Builds an iteratively probabilistic model that maps hyperparameters, after the random search we set ranges</a:t>
            </a:r>
          </a:p>
          <a:p>
            <a:pPr marL="285750" indent="-285750">
              <a:buFont typeface="Arial" panose="020B0604020202020204" pitchFamily="34" charset="0"/>
              <a:buChar char="•"/>
            </a:pPr>
            <a:r>
              <a:rPr lang="en-US" dirty="0"/>
              <a:t>More efficient as it explored promising hyperparameter values</a:t>
            </a:r>
          </a:p>
          <a:p>
            <a:pPr marL="285750" indent="-285750">
              <a:buFont typeface="Arial" panose="020B0604020202020204" pitchFamily="34" charset="0"/>
              <a:buChar char="•"/>
            </a:pPr>
            <a:r>
              <a:rPr lang="en-US" dirty="0"/>
              <a:t>Less computationally expensive than grid search</a:t>
            </a:r>
          </a:p>
        </p:txBody>
      </p:sp>
    </p:spTree>
    <p:extLst>
      <p:ext uri="{BB962C8B-B14F-4D97-AF65-F5344CB8AC3E}">
        <p14:creationId xmlns:p14="http://schemas.microsoft.com/office/powerpoint/2010/main" val="17682938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4A57-24DA-2BCA-DD0C-710C22E2F3D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904C09-2DA0-56C8-4C72-DF73F87FE5D8}"/>
              </a:ext>
            </a:extLst>
          </p:cNvPr>
          <p:cNvSpPr>
            <a:spLocks noGrp="1"/>
          </p:cNvSpPr>
          <p:nvPr>
            <p:ph type="sldNum" sz="quarter" idx="12"/>
          </p:nvPr>
        </p:nvSpPr>
        <p:spPr/>
        <p:txBody>
          <a:bodyPr/>
          <a:lstStyle/>
          <a:p>
            <a:fld id="{6BAD6A8B-B5C3-4437-A9DE-A8C2149171DD}" type="slidenum">
              <a:rPr lang="en-AU" smtClean="0"/>
              <a:t>30</a:t>
            </a:fld>
            <a:endParaRPr lang="en-AU"/>
          </a:p>
        </p:txBody>
      </p:sp>
      <p:sp>
        <p:nvSpPr>
          <p:cNvPr id="5" name="Title 1">
            <a:extLst>
              <a:ext uri="{FF2B5EF4-FFF2-40B4-BE49-F238E27FC236}">
                <a16:creationId xmlns:a16="http://schemas.microsoft.com/office/drawing/2014/main" id="{ABFABC12-97FE-C105-00AB-CC4435DF15FC}"/>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sz="3800" dirty="0"/>
              <a:t>Fine Tuning Process for </a:t>
            </a:r>
            <a:r>
              <a:rPr lang="en-GB" sz="3800" dirty="0" err="1"/>
              <a:t>DeBERTa</a:t>
            </a:r>
            <a:r>
              <a:rPr lang="en-GB" sz="3800" dirty="0"/>
              <a:t>-Large</a:t>
            </a:r>
            <a:endParaRPr lang="en-AU" sz="3800" dirty="0"/>
          </a:p>
        </p:txBody>
      </p:sp>
      <p:cxnSp>
        <p:nvCxnSpPr>
          <p:cNvPr id="6" name="Google Shape;119;g12f20562990_0_39">
            <a:extLst>
              <a:ext uri="{FF2B5EF4-FFF2-40B4-BE49-F238E27FC236}">
                <a16:creationId xmlns:a16="http://schemas.microsoft.com/office/drawing/2014/main" id="{EF3C6B22-D530-5DB7-A9DF-E45D5263F4B2}"/>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7" name="Google Shape;176;p6">
            <a:extLst>
              <a:ext uri="{FF2B5EF4-FFF2-40B4-BE49-F238E27FC236}">
                <a16:creationId xmlns:a16="http://schemas.microsoft.com/office/drawing/2014/main" id="{3C758BF0-C243-DC7B-CBC9-83C07208BAD1}"/>
              </a:ext>
            </a:extLst>
          </p:cNvPr>
          <p:cNvSpPr txBox="1"/>
          <p:nvPr/>
        </p:nvSpPr>
        <p:spPr>
          <a:xfrm>
            <a:off x="360693" y="769727"/>
            <a:ext cx="11144034" cy="307736"/>
          </a:xfrm>
          <a:prstGeom prst="rect">
            <a:avLst/>
          </a:prstGeom>
          <a:noFill/>
          <a:ln>
            <a:noFill/>
          </a:ln>
        </p:spPr>
        <p:txBody>
          <a:bodyPr spcFirstLastPara="1" wrap="square" lIns="91425" tIns="45700" rIns="91425" bIns="45700" anchor="t" anchorCtr="0">
            <a:spAutoFit/>
          </a:bodyPr>
          <a:lstStyle/>
          <a:p>
            <a:pPr>
              <a:buSzPts val="2800"/>
            </a:pPr>
            <a:r>
              <a:rPr lang="en-AU" sz="1400" i="1" dirty="0">
                <a:solidFill>
                  <a:schemeClr val="accent3">
                    <a:lumMod val="60000"/>
                    <a:lumOff val="40000"/>
                  </a:schemeClr>
                </a:solidFill>
              </a:rPr>
              <a:t>The process of fine-tuning involved random search, then optimised search with more optimised parameters …</a:t>
            </a:r>
            <a:endParaRPr lang="en-US" sz="1400" b="1" i="1" u="none" strike="noStrike" cap="none" dirty="0">
              <a:solidFill>
                <a:schemeClr val="accent3">
                  <a:lumMod val="60000"/>
                  <a:lumOff val="40000"/>
                </a:schemeClr>
              </a:solidFill>
              <a:latin typeface="+mn-lt"/>
              <a:ea typeface="Avenir"/>
              <a:cs typeface="Avenir"/>
            </a:endParaRPr>
          </a:p>
        </p:txBody>
      </p:sp>
      <p:graphicFrame>
        <p:nvGraphicFramePr>
          <p:cNvPr id="3" name="Table 2">
            <a:extLst>
              <a:ext uri="{FF2B5EF4-FFF2-40B4-BE49-F238E27FC236}">
                <a16:creationId xmlns:a16="http://schemas.microsoft.com/office/drawing/2014/main" id="{3F1ED111-1E29-4E85-D12B-9F01DB034AC4}"/>
              </a:ext>
            </a:extLst>
          </p:cNvPr>
          <p:cNvGraphicFramePr>
            <a:graphicFrameLocks noGrp="1"/>
          </p:cNvGraphicFramePr>
          <p:nvPr>
            <p:extLst>
              <p:ext uri="{D42A27DB-BD31-4B8C-83A1-F6EECF244321}">
                <p14:modId xmlns:p14="http://schemas.microsoft.com/office/powerpoint/2010/main" val="1325546633"/>
              </p:ext>
            </p:extLst>
          </p:nvPr>
        </p:nvGraphicFramePr>
        <p:xfrm>
          <a:off x="360693" y="1608562"/>
          <a:ext cx="7183107" cy="4107180"/>
        </p:xfrm>
        <a:graphic>
          <a:graphicData uri="http://schemas.openxmlformats.org/drawingml/2006/table">
            <a:tbl>
              <a:tblPr/>
              <a:tblGrid>
                <a:gridCol w="296359">
                  <a:extLst>
                    <a:ext uri="{9D8B030D-6E8A-4147-A177-3AD203B41FA5}">
                      <a16:colId xmlns:a16="http://schemas.microsoft.com/office/drawing/2014/main" val="941011028"/>
                    </a:ext>
                  </a:extLst>
                </a:gridCol>
                <a:gridCol w="730283">
                  <a:extLst>
                    <a:ext uri="{9D8B030D-6E8A-4147-A177-3AD203B41FA5}">
                      <a16:colId xmlns:a16="http://schemas.microsoft.com/office/drawing/2014/main" val="2005814559"/>
                    </a:ext>
                  </a:extLst>
                </a:gridCol>
                <a:gridCol w="562676">
                  <a:extLst>
                    <a:ext uri="{9D8B030D-6E8A-4147-A177-3AD203B41FA5}">
                      <a16:colId xmlns:a16="http://schemas.microsoft.com/office/drawing/2014/main" val="1373541785"/>
                    </a:ext>
                  </a:extLst>
                </a:gridCol>
                <a:gridCol w="430986">
                  <a:extLst>
                    <a:ext uri="{9D8B030D-6E8A-4147-A177-3AD203B41FA5}">
                      <a16:colId xmlns:a16="http://schemas.microsoft.com/office/drawing/2014/main" val="2161867514"/>
                    </a:ext>
                  </a:extLst>
                </a:gridCol>
                <a:gridCol w="634508">
                  <a:extLst>
                    <a:ext uri="{9D8B030D-6E8A-4147-A177-3AD203B41FA5}">
                      <a16:colId xmlns:a16="http://schemas.microsoft.com/office/drawing/2014/main" val="2694004653"/>
                    </a:ext>
                  </a:extLst>
                </a:gridCol>
                <a:gridCol w="897888">
                  <a:extLst>
                    <a:ext uri="{9D8B030D-6E8A-4147-A177-3AD203B41FA5}">
                      <a16:colId xmlns:a16="http://schemas.microsoft.com/office/drawing/2014/main" val="1453540679"/>
                    </a:ext>
                  </a:extLst>
                </a:gridCol>
                <a:gridCol w="1005635">
                  <a:extLst>
                    <a:ext uri="{9D8B030D-6E8A-4147-A177-3AD203B41FA5}">
                      <a16:colId xmlns:a16="http://schemas.microsoft.com/office/drawing/2014/main" val="4249030533"/>
                    </a:ext>
                  </a:extLst>
                </a:gridCol>
                <a:gridCol w="754227">
                  <a:extLst>
                    <a:ext uri="{9D8B030D-6E8A-4147-A177-3AD203B41FA5}">
                      <a16:colId xmlns:a16="http://schemas.microsoft.com/office/drawing/2014/main" val="2992916707"/>
                    </a:ext>
                  </a:extLst>
                </a:gridCol>
                <a:gridCol w="1870545">
                  <a:extLst>
                    <a:ext uri="{9D8B030D-6E8A-4147-A177-3AD203B41FA5}">
                      <a16:colId xmlns:a16="http://schemas.microsoft.com/office/drawing/2014/main" val="3039445815"/>
                    </a:ext>
                  </a:extLst>
                </a:gridCol>
              </a:tblGrid>
              <a:tr h="200025">
                <a:tc>
                  <a:txBody>
                    <a:bodyPr/>
                    <a:lstStyle/>
                    <a:p>
                      <a:pPr rtl="0" fontAlgn="b"/>
                      <a:r>
                        <a:rPr lang="en-AU" sz="1100" b="1" dirty="0">
                          <a:solidFill>
                            <a:srgbClr val="FFFFFF"/>
                          </a:solidFill>
                          <a:effectLst/>
                          <a:latin typeface="Calibri" panose="020F0502020204030204" pitchFamily="34" charset="0"/>
                        </a:rPr>
                        <a:t>Trial</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rtl="0" fontAlgn="b"/>
                      <a:r>
                        <a:rPr lang="en-AU" sz="1100" b="1" dirty="0">
                          <a:solidFill>
                            <a:srgbClr val="FFFFFF"/>
                          </a:solidFill>
                          <a:effectLst/>
                          <a:latin typeface="Calibri" panose="020F0502020204030204" pitchFamily="34" charset="0"/>
                        </a:rPr>
                        <a:t>Learning Rate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rtl="0" fontAlgn="b"/>
                      <a:r>
                        <a:rPr lang="en-AU" sz="1100" b="1" dirty="0">
                          <a:solidFill>
                            <a:srgbClr val="FFFFFF"/>
                          </a:solidFill>
                          <a:effectLst/>
                          <a:latin typeface="Calibri" panose="020F0502020204030204" pitchFamily="34" charset="0"/>
                        </a:rPr>
                        <a:t>Batch Size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rtl="0" fontAlgn="b"/>
                      <a:r>
                        <a:rPr lang="en-AU" sz="1100" b="1" dirty="0">
                          <a:solidFill>
                            <a:srgbClr val="FFFFFF"/>
                          </a:solidFill>
                          <a:effectLst/>
                          <a:latin typeface="Calibri" panose="020F0502020204030204" pitchFamily="34" charset="0"/>
                        </a:rPr>
                        <a:t>Epochs</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rtl="0" fontAlgn="b"/>
                      <a:r>
                        <a:rPr lang="en-AU" sz="1100" b="1" dirty="0">
                          <a:solidFill>
                            <a:srgbClr val="FFFFFF"/>
                          </a:solidFill>
                          <a:effectLst/>
                          <a:latin typeface="Calibri" panose="020F0502020204030204" pitchFamily="34" charset="0"/>
                        </a:rPr>
                        <a:t>Max Length</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rtl="0" fontAlgn="b"/>
                      <a:r>
                        <a:rPr lang="en-AU" sz="1100" b="1" dirty="0">
                          <a:solidFill>
                            <a:srgbClr val="FFFFFF"/>
                          </a:solidFill>
                          <a:effectLst/>
                          <a:latin typeface="Calibri" panose="020F0502020204030204" pitchFamily="34" charset="0"/>
                        </a:rPr>
                        <a:t>Hidden Dropout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rtl="0" fontAlgn="b"/>
                      <a:r>
                        <a:rPr lang="en-AU" sz="1100" b="1" dirty="0">
                          <a:solidFill>
                            <a:srgbClr val="FFFFFF"/>
                          </a:solidFill>
                          <a:effectLst/>
                          <a:latin typeface="Calibri" panose="020F0502020204030204" pitchFamily="34" charset="0"/>
                        </a:rPr>
                        <a:t>Attention Dropout</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rtl="0" fontAlgn="b"/>
                      <a:r>
                        <a:rPr lang="en-AU" sz="1100" b="1">
                          <a:solidFill>
                            <a:srgbClr val="FFFFFF"/>
                          </a:solidFill>
                          <a:effectLst/>
                          <a:latin typeface="Calibri" panose="020F0502020204030204" pitchFamily="34" charset="0"/>
                        </a:rPr>
                        <a:t>Test Accuracy</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tc>
                  <a:txBody>
                    <a:bodyPr/>
                    <a:lstStyle/>
                    <a:p>
                      <a:pPr rtl="0" fontAlgn="b"/>
                      <a:r>
                        <a:rPr lang="en-AU" sz="1100" b="1" dirty="0">
                          <a:solidFill>
                            <a:srgbClr val="FFFFFF"/>
                          </a:solidFill>
                          <a:effectLst/>
                          <a:latin typeface="Calibri" panose="020F0502020204030204" pitchFamily="34" charset="0"/>
                        </a:rPr>
                        <a:t>Test F1 Score</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201F4E"/>
                    </a:solidFill>
                  </a:tcPr>
                </a:tc>
                <a:extLst>
                  <a:ext uri="{0D108BD9-81ED-4DB2-BD59-A6C34878D82A}">
                    <a16:rowId xmlns:a16="http://schemas.microsoft.com/office/drawing/2014/main" val="4166387382"/>
                  </a:ext>
                </a:extLst>
              </a:tr>
              <a:tr h="200025">
                <a:tc>
                  <a:txBody>
                    <a:bodyPr/>
                    <a:lstStyle/>
                    <a:p>
                      <a:pPr algn="r" rtl="0" fontAlgn="b"/>
                      <a:r>
                        <a:rPr lang="en-AU" sz="1100" b="0">
                          <a:effectLst/>
                          <a:latin typeface="Calibri" panose="020F0502020204030204" pitchFamily="34" charset="0"/>
                        </a:rPr>
                        <a:t>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1.00E-05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128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0.514112903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0.475532808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663507916"/>
                  </a:ext>
                </a:extLst>
              </a:tr>
              <a:tr h="200025">
                <a:tc>
                  <a:txBody>
                    <a:bodyPr/>
                    <a:lstStyle/>
                    <a:p>
                      <a:pPr algn="r" rtl="0" fontAlgn="b"/>
                      <a:r>
                        <a:rPr lang="en-AU" sz="1100" b="0">
                          <a:effectLst/>
                          <a:latin typeface="Calibri" panose="020F0502020204030204" pitchFamily="34" charset="0"/>
                        </a:rPr>
                        <a:t>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3.00E-05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128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dirty="0">
                          <a:effectLst/>
                          <a:latin typeface="Calibri" panose="020F0502020204030204" pitchFamily="34" charset="0"/>
                        </a:rPr>
                        <a:t>0.2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dirty="0">
                          <a:effectLst/>
                          <a:latin typeface="Calibri" panose="020F0502020204030204" pitchFamily="34" charset="0"/>
                        </a:rPr>
                        <a:t>0.2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0.737903226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dirty="0">
                          <a:effectLst/>
                          <a:latin typeface="Calibri" panose="020F0502020204030204" pitchFamily="34" charset="0"/>
                        </a:rPr>
                        <a:t>0.738384111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36850380"/>
                  </a:ext>
                </a:extLst>
              </a:tr>
              <a:tr h="200025">
                <a:tc>
                  <a:txBody>
                    <a:bodyPr/>
                    <a:lstStyle/>
                    <a:p>
                      <a:pPr algn="r" rtl="0" fontAlgn="b"/>
                      <a:r>
                        <a:rPr lang="en-AU" sz="1100" b="0">
                          <a:effectLst/>
                          <a:latin typeface="Calibri" panose="020F0502020204030204" pitchFamily="34" charset="0"/>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2.00E-05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256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0.747983871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dirty="0">
                          <a:effectLst/>
                          <a:latin typeface="Calibri" panose="020F0502020204030204" pitchFamily="34" charset="0"/>
                        </a:rPr>
                        <a:t>0.748117281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890620884"/>
                  </a:ext>
                </a:extLst>
              </a:tr>
              <a:tr h="200025">
                <a:tc>
                  <a:txBody>
                    <a:bodyPr/>
                    <a:lstStyle/>
                    <a:p>
                      <a:pPr algn="r" rtl="0" fontAlgn="b"/>
                      <a:r>
                        <a:rPr lang="en-AU" sz="1100" b="0">
                          <a:effectLst/>
                          <a:latin typeface="Calibri" panose="020F0502020204030204" pitchFamily="34" charset="0"/>
                        </a:rPr>
                        <a:t>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1.00E-05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128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0.752016129</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dirty="0">
                          <a:effectLst/>
                          <a:latin typeface="Calibri" panose="020F0502020204030204" pitchFamily="34" charset="0"/>
                        </a:rPr>
                        <a:t>0.750811226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49637888"/>
                  </a:ext>
                </a:extLst>
              </a:tr>
              <a:tr h="200025">
                <a:tc>
                  <a:txBody>
                    <a:bodyPr/>
                    <a:lstStyle/>
                    <a:p>
                      <a:pPr algn="r" rtl="0" fontAlgn="b"/>
                      <a:r>
                        <a:rPr lang="en-AU" sz="1100" b="0">
                          <a:effectLst/>
                          <a:latin typeface="Calibri" panose="020F0502020204030204" pitchFamily="34" charset="0"/>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1.00E-05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256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0.737903226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0.737606474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946972704"/>
                  </a:ext>
                </a:extLst>
              </a:tr>
              <a:tr h="200025">
                <a:tc>
                  <a:txBody>
                    <a:bodyPr/>
                    <a:lstStyle/>
                    <a:p>
                      <a:pPr algn="r" rtl="0" fontAlgn="b"/>
                      <a:r>
                        <a:rPr lang="en-AU" sz="1100" b="0">
                          <a:effectLst/>
                          <a:latin typeface="Calibri" panose="020F0502020204030204" pitchFamily="34" charset="0"/>
                        </a:rPr>
                        <a:t>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1.00E-05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256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0.731854839</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0.732716836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540355170"/>
                  </a:ext>
                </a:extLst>
              </a:tr>
              <a:tr h="200025">
                <a:tc>
                  <a:txBody>
                    <a:bodyPr/>
                    <a:lstStyle/>
                    <a:p>
                      <a:pPr algn="r" rtl="0" fontAlgn="b"/>
                      <a:r>
                        <a:rPr lang="en-AU" sz="1100" b="0">
                          <a:effectLst/>
                          <a:latin typeface="Calibri" panose="020F0502020204030204" pitchFamily="34" charset="0"/>
                        </a:rPr>
                        <a:t>7</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1.00E-05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128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0.719758065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0.718901159</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406066679"/>
                  </a:ext>
                </a:extLst>
              </a:tr>
              <a:tr h="200025">
                <a:tc>
                  <a:txBody>
                    <a:bodyPr/>
                    <a:lstStyle/>
                    <a:p>
                      <a:pPr algn="r" rtl="0" fontAlgn="b"/>
                      <a:r>
                        <a:rPr lang="en-AU" sz="1100" b="0">
                          <a:effectLst/>
                          <a:latin typeface="Calibri" panose="020F0502020204030204" pitchFamily="34" charset="0"/>
                        </a:rPr>
                        <a:t>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algn="r" rtl="0" fontAlgn="b"/>
                      <a:r>
                        <a:rPr lang="en-AU" sz="1100" b="0">
                          <a:effectLst/>
                          <a:latin typeface="Calibri" panose="020F0502020204030204" pitchFamily="34" charset="0"/>
                        </a:rPr>
                        <a:t>3.00E-05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algn="r" rtl="0" fontAlgn="b"/>
                      <a:r>
                        <a:rPr lang="en-AU" sz="1100" b="0">
                          <a:effectLst/>
                          <a:latin typeface="Calibri" panose="020F0502020204030204" pitchFamily="34" charset="0"/>
                        </a:rPr>
                        <a:t>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algn="r" rtl="0" fontAlgn="b"/>
                      <a:r>
                        <a:rPr lang="en-AU" sz="1100" b="0">
                          <a:effectLst/>
                          <a:latin typeface="Calibri" panose="020F0502020204030204" pitchFamily="34" charset="0"/>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algn="r" rtl="0" fontAlgn="b"/>
                      <a:r>
                        <a:rPr lang="en-AU" sz="1100" b="0">
                          <a:effectLst/>
                          <a:latin typeface="Calibri" panose="020F0502020204030204" pitchFamily="34" charset="0"/>
                        </a:rPr>
                        <a:t>256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algn="r" rtl="0" fontAlgn="b"/>
                      <a:r>
                        <a:rPr lang="en-AU" sz="1100" b="0">
                          <a:effectLst/>
                          <a:latin typeface="Calibri" panose="020F0502020204030204" pitchFamily="34" charset="0"/>
                        </a:rPr>
                        <a:t>0.2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algn="r" rtl="0" fontAlgn="b"/>
                      <a:r>
                        <a:rPr lang="en-AU" sz="1100" b="0">
                          <a:effectLst/>
                          <a:latin typeface="Calibri" panose="020F0502020204030204" pitchFamily="34" charset="0"/>
                        </a:rPr>
                        <a:t>0.745967742</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tc>
                  <a:txBody>
                    <a:bodyPr/>
                    <a:lstStyle/>
                    <a:p>
                      <a:pPr algn="r" rtl="0" fontAlgn="b"/>
                      <a:r>
                        <a:rPr lang="en-AU" sz="1100" b="0">
                          <a:effectLst/>
                          <a:latin typeface="Calibri" panose="020F0502020204030204" pitchFamily="34" charset="0"/>
                        </a:rPr>
                        <a:t>0.745317183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9EAD3"/>
                    </a:solidFill>
                  </a:tcPr>
                </a:tc>
                <a:extLst>
                  <a:ext uri="{0D108BD9-81ED-4DB2-BD59-A6C34878D82A}">
                    <a16:rowId xmlns:a16="http://schemas.microsoft.com/office/drawing/2014/main" val="1388542136"/>
                  </a:ext>
                </a:extLst>
              </a:tr>
              <a:tr h="200025">
                <a:tc>
                  <a:txBody>
                    <a:bodyPr/>
                    <a:lstStyle/>
                    <a:p>
                      <a:pPr algn="r" rtl="0" fontAlgn="b"/>
                      <a:r>
                        <a:rPr lang="en-AU" sz="1100" b="0">
                          <a:effectLst/>
                          <a:latin typeface="Calibri" panose="020F0502020204030204" pitchFamily="34" charset="0"/>
                        </a:rPr>
                        <a:t>9</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1.00E-05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256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0.741935484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0.741859184</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368885134"/>
                  </a:ext>
                </a:extLst>
              </a:tr>
              <a:tr h="200025">
                <a:tc>
                  <a:txBody>
                    <a:bodyPr/>
                    <a:lstStyle/>
                    <a:p>
                      <a:pPr algn="r" rtl="0" fontAlgn="b"/>
                      <a:r>
                        <a:rPr lang="en-AU" sz="1100" b="0">
                          <a:effectLst/>
                          <a:latin typeface="Calibri" panose="020F0502020204030204" pitchFamily="34" charset="0"/>
                        </a:rPr>
                        <a:t>10</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2.00E-05</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dirty="0">
                          <a:effectLst/>
                          <a:latin typeface="Calibri" panose="020F0502020204030204" pitchFamily="34" charset="0"/>
                        </a:rPr>
                        <a:t>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3</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256</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a:effectLst/>
                          <a:latin typeface="Calibri" panose="020F0502020204030204" pitchFamily="34" charset="0"/>
                        </a:rPr>
                        <a:t>0.1</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dirty="0">
                          <a:effectLst/>
                          <a:latin typeface="Calibri" panose="020F0502020204030204" pitchFamily="34" charset="0"/>
                        </a:rPr>
                        <a:t>0.733870968</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tc>
                  <a:txBody>
                    <a:bodyPr/>
                    <a:lstStyle/>
                    <a:p>
                      <a:pPr algn="r" rtl="0" fontAlgn="b"/>
                      <a:r>
                        <a:rPr lang="en-AU" sz="1100" b="0" dirty="0">
                          <a:effectLst/>
                          <a:latin typeface="Calibri" panose="020F0502020204030204" pitchFamily="34" charset="0"/>
                        </a:rPr>
                        <a:t>0.734802007</a:t>
                      </a:r>
                    </a:p>
                  </a:txBody>
                  <a:tcPr marL="28575" marR="28575" marT="19050" marB="19050"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91785489"/>
                  </a:ext>
                </a:extLst>
              </a:tr>
            </a:tbl>
          </a:graphicData>
        </a:graphic>
      </p:graphicFrame>
      <p:sp>
        <p:nvSpPr>
          <p:cNvPr id="10" name="TextBox 9">
            <a:extLst>
              <a:ext uri="{FF2B5EF4-FFF2-40B4-BE49-F238E27FC236}">
                <a16:creationId xmlns:a16="http://schemas.microsoft.com/office/drawing/2014/main" id="{3B6D4FE5-E85B-3498-5959-C895FDBFBBF7}"/>
              </a:ext>
            </a:extLst>
          </p:cNvPr>
          <p:cNvSpPr txBox="1"/>
          <p:nvPr/>
        </p:nvSpPr>
        <p:spPr>
          <a:xfrm>
            <a:off x="361370" y="1187636"/>
            <a:ext cx="1781193" cy="369332"/>
          </a:xfrm>
          <a:prstGeom prst="rect">
            <a:avLst/>
          </a:prstGeom>
          <a:noFill/>
        </p:spPr>
        <p:txBody>
          <a:bodyPr wrap="none" rtlCol="0">
            <a:spAutoFit/>
          </a:bodyPr>
          <a:lstStyle/>
          <a:p>
            <a:r>
              <a:rPr lang="en-US" b="1" dirty="0"/>
              <a:t>Random Search  </a:t>
            </a:r>
          </a:p>
        </p:txBody>
      </p:sp>
      <p:sp>
        <p:nvSpPr>
          <p:cNvPr id="11" name="Arrow: Right 5">
            <a:extLst>
              <a:ext uri="{FF2B5EF4-FFF2-40B4-BE49-F238E27FC236}">
                <a16:creationId xmlns:a16="http://schemas.microsoft.com/office/drawing/2014/main" id="{F4DEBB2C-ED71-8989-35F1-DF4A23D1ADB0}"/>
              </a:ext>
            </a:extLst>
          </p:cNvPr>
          <p:cNvSpPr/>
          <p:nvPr/>
        </p:nvSpPr>
        <p:spPr>
          <a:xfrm>
            <a:off x="7640622" y="2555369"/>
            <a:ext cx="217516" cy="1747261"/>
          </a:xfrm>
          <a:prstGeom prst="rightArrow">
            <a:avLst>
              <a:gd name="adj1" fmla="val 19679"/>
              <a:gd name="adj2" fmla="val 100000"/>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TextBox 13">
            <a:extLst>
              <a:ext uri="{FF2B5EF4-FFF2-40B4-BE49-F238E27FC236}">
                <a16:creationId xmlns:a16="http://schemas.microsoft.com/office/drawing/2014/main" id="{D92B2FB2-4596-CE60-4A7B-0D8C223BCCAB}"/>
              </a:ext>
            </a:extLst>
          </p:cNvPr>
          <p:cNvSpPr txBox="1"/>
          <p:nvPr/>
        </p:nvSpPr>
        <p:spPr>
          <a:xfrm>
            <a:off x="274900" y="6016798"/>
            <a:ext cx="4836837" cy="369332"/>
          </a:xfrm>
          <a:prstGeom prst="rect">
            <a:avLst/>
          </a:prstGeom>
          <a:noFill/>
        </p:spPr>
        <p:txBody>
          <a:bodyPr wrap="none" rtlCol="0">
            <a:spAutoFit/>
          </a:bodyPr>
          <a:lstStyle/>
          <a:p>
            <a:r>
              <a:rPr lang="en-US" dirty="0"/>
              <a:t>Note, this random search process took 26 hours…</a:t>
            </a:r>
          </a:p>
        </p:txBody>
      </p:sp>
      <p:pic>
        <p:nvPicPr>
          <p:cNvPr id="15" name="Picture 14">
            <a:extLst>
              <a:ext uri="{FF2B5EF4-FFF2-40B4-BE49-F238E27FC236}">
                <a16:creationId xmlns:a16="http://schemas.microsoft.com/office/drawing/2014/main" id="{7FC10568-D846-27C2-7524-DCACD02393A8}"/>
              </a:ext>
            </a:extLst>
          </p:cNvPr>
          <p:cNvPicPr>
            <a:picLocks noChangeAspect="1"/>
          </p:cNvPicPr>
          <p:nvPr/>
        </p:nvPicPr>
        <p:blipFill>
          <a:blip r:embed="rId2"/>
          <a:stretch>
            <a:fillRect/>
          </a:stretch>
        </p:blipFill>
        <p:spPr>
          <a:xfrm>
            <a:off x="7858137" y="2372102"/>
            <a:ext cx="4333863" cy="2689608"/>
          </a:xfrm>
          <a:prstGeom prst="rect">
            <a:avLst/>
          </a:prstGeom>
        </p:spPr>
      </p:pic>
      <p:sp>
        <p:nvSpPr>
          <p:cNvPr id="17" name="TextBox 16">
            <a:extLst>
              <a:ext uri="{FF2B5EF4-FFF2-40B4-BE49-F238E27FC236}">
                <a16:creationId xmlns:a16="http://schemas.microsoft.com/office/drawing/2014/main" id="{C843BDA9-CFDE-B075-8E76-52FCB91C39BE}"/>
              </a:ext>
            </a:extLst>
          </p:cNvPr>
          <p:cNvSpPr txBox="1">
            <a:spLocks noChangeAspect="1"/>
          </p:cNvSpPr>
          <p:nvPr/>
        </p:nvSpPr>
        <p:spPr>
          <a:xfrm>
            <a:off x="10284241" y="2555369"/>
            <a:ext cx="503077" cy="2291796"/>
          </a:xfrm>
          <a:prstGeom prst="rect">
            <a:avLst/>
          </a:prstGeom>
          <a:noFill/>
          <a:ln w="34925">
            <a:solidFill>
              <a:srgbClr val="92D050"/>
            </a:solidFill>
          </a:ln>
        </p:spPr>
        <p:txBody>
          <a:bodyPr wrap="square" rtlCol="0">
            <a:spAutoFit/>
          </a:bodyPr>
          <a:lstStyle/>
          <a:p>
            <a:endParaRPr lang="en-US" dirty="0"/>
          </a:p>
        </p:txBody>
      </p:sp>
      <p:sp>
        <p:nvSpPr>
          <p:cNvPr id="18" name="TextBox 17">
            <a:extLst>
              <a:ext uri="{FF2B5EF4-FFF2-40B4-BE49-F238E27FC236}">
                <a16:creationId xmlns:a16="http://schemas.microsoft.com/office/drawing/2014/main" id="{D50EBFBB-E531-8940-999B-D74D3EB7084D}"/>
              </a:ext>
            </a:extLst>
          </p:cNvPr>
          <p:cNvSpPr txBox="1"/>
          <p:nvPr/>
        </p:nvSpPr>
        <p:spPr>
          <a:xfrm>
            <a:off x="8024813" y="5647466"/>
            <a:ext cx="3642344" cy="369332"/>
          </a:xfrm>
          <a:prstGeom prst="rect">
            <a:avLst/>
          </a:prstGeom>
          <a:noFill/>
        </p:spPr>
        <p:txBody>
          <a:bodyPr wrap="none" rtlCol="0">
            <a:spAutoFit/>
          </a:bodyPr>
          <a:lstStyle/>
          <a:p>
            <a:r>
              <a:rPr lang="en-US" dirty="0"/>
              <a:t>Failed to </a:t>
            </a:r>
            <a:r>
              <a:rPr lang="en-US" dirty="0" err="1"/>
              <a:t>generalise</a:t>
            </a:r>
            <a:r>
              <a:rPr lang="en-US" dirty="0"/>
              <a:t> to other test sets</a:t>
            </a:r>
          </a:p>
        </p:txBody>
      </p:sp>
      <p:sp>
        <p:nvSpPr>
          <p:cNvPr id="22" name="TextBox 21">
            <a:extLst>
              <a:ext uri="{FF2B5EF4-FFF2-40B4-BE49-F238E27FC236}">
                <a16:creationId xmlns:a16="http://schemas.microsoft.com/office/drawing/2014/main" id="{B9F234FA-2603-82E2-7CF8-AE060F262276}"/>
              </a:ext>
            </a:extLst>
          </p:cNvPr>
          <p:cNvSpPr txBox="1"/>
          <p:nvPr/>
        </p:nvSpPr>
        <p:spPr>
          <a:xfrm>
            <a:off x="8024813" y="1253347"/>
            <a:ext cx="6100762" cy="369332"/>
          </a:xfrm>
          <a:prstGeom prst="rect">
            <a:avLst/>
          </a:prstGeom>
          <a:noFill/>
        </p:spPr>
        <p:txBody>
          <a:bodyPr wrap="square">
            <a:spAutoFit/>
          </a:bodyPr>
          <a:lstStyle/>
          <a:p>
            <a:r>
              <a:rPr lang="en-US" b="1" dirty="0"/>
              <a:t>Post Bayesian </a:t>
            </a:r>
            <a:r>
              <a:rPr lang="en-US" b="1" dirty="0" err="1"/>
              <a:t>Optimisation</a:t>
            </a:r>
            <a:endParaRPr lang="en-US" b="1" dirty="0"/>
          </a:p>
        </p:txBody>
      </p:sp>
    </p:spTree>
    <p:extLst>
      <p:ext uri="{BB962C8B-B14F-4D97-AF65-F5344CB8AC3E}">
        <p14:creationId xmlns:p14="http://schemas.microsoft.com/office/powerpoint/2010/main" val="3343932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B3CEA-FABC-0764-1ACB-F2E2FF24AC6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F0D4420-2AE6-4339-C581-FAF81EA708C6}"/>
              </a:ext>
            </a:extLst>
          </p:cNvPr>
          <p:cNvSpPr>
            <a:spLocks noGrp="1"/>
          </p:cNvSpPr>
          <p:nvPr>
            <p:ph type="sldNum" sz="quarter" idx="12"/>
          </p:nvPr>
        </p:nvSpPr>
        <p:spPr/>
        <p:txBody>
          <a:bodyPr/>
          <a:lstStyle/>
          <a:p>
            <a:fld id="{6BAD6A8B-B5C3-4437-A9DE-A8C2149171DD}" type="slidenum">
              <a:rPr lang="en-AU" smtClean="0"/>
              <a:t>31</a:t>
            </a:fld>
            <a:endParaRPr lang="en-AU"/>
          </a:p>
        </p:txBody>
      </p:sp>
      <p:sp>
        <p:nvSpPr>
          <p:cNvPr id="5" name="Title 1">
            <a:extLst>
              <a:ext uri="{FF2B5EF4-FFF2-40B4-BE49-F238E27FC236}">
                <a16:creationId xmlns:a16="http://schemas.microsoft.com/office/drawing/2014/main" id="{72FFE281-65F6-A8BC-9EAC-A27B8F05C0F4}"/>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sz="3800" dirty="0"/>
              <a:t>Stacking Considerations</a:t>
            </a:r>
            <a:endParaRPr lang="en-AU" sz="3800" dirty="0"/>
          </a:p>
        </p:txBody>
      </p:sp>
      <p:cxnSp>
        <p:nvCxnSpPr>
          <p:cNvPr id="6" name="Google Shape;119;g12f20562990_0_39">
            <a:extLst>
              <a:ext uri="{FF2B5EF4-FFF2-40B4-BE49-F238E27FC236}">
                <a16:creationId xmlns:a16="http://schemas.microsoft.com/office/drawing/2014/main" id="{C05C2AC1-094C-1EA6-B6B5-3F39CE158963}"/>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7" name="Google Shape;176;p6">
            <a:extLst>
              <a:ext uri="{FF2B5EF4-FFF2-40B4-BE49-F238E27FC236}">
                <a16:creationId xmlns:a16="http://schemas.microsoft.com/office/drawing/2014/main" id="{05EAC537-9899-DD40-F252-56D4EC25A2C2}"/>
              </a:ext>
            </a:extLst>
          </p:cNvPr>
          <p:cNvSpPr txBox="1"/>
          <p:nvPr/>
        </p:nvSpPr>
        <p:spPr>
          <a:xfrm>
            <a:off x="360693" y="769727"/>
            <a:ext cx="11144034" cy="307736"/>
          </a:xfrm>
          <a:prstGeom prst="rect">
            <a:avLst/>
          </a:prstGeom>
          <a:noFill/>
          <a:ln>
            <a:noFill/>
          </a:ln>
        </p:spPr>
        <p:txBody>
          <a:bodyPr spcFirstLastPara="1" wrap="square" lIns="91425" tIns="45700" rIns="91425" bIns="45700" anchor="t" anchorCtr="0">
            <a:spAutoFit/>
          </a:bodyPr>
          <a:lstStyle/>
          <a:p>
            <a:pPr>
              <a:buSzPts val="2800"/>
            </a:pPr>
            <a:r>
              <a:rPr lang="en-AU" sz="1400" i="1" dirty="0">
                <a:solidFill>
                  <a:schemeClr val="accent3">
                    <a:lumMod val="60000"/>
                    <a:lumOff val="40000"/>
                  </a:schemeClr>
                </a:solidFill>
              </a:rPr>
              <a:t>The process of stacking was initially proposed to help enhance and further the current outcomes…</a:t>
            </a:r>
            <a:endParaRPr lang="en-US" sz="1400" b="1" i="1" u="none" strike="noStrike" cap="none" dirty="0">
              <a:solidFill>
                <a:schemeClr val="accent3">
                  <a:lumMod val="60000"/>
                  <a:lumOff val="40000"/>
                </a:schemeClr>
              </a:solidFill>
              <a:latin typeface="+mn-lt"/>
              <a:ea typeface="Avenir"/>
              <a:cs typeface="Avenir"/>
            </a:endParaRPr>
          </a:p>
        </p:txBody>
      </p:sp>
      <p:graphicFrame>
        <p:nvGraphicFramePr>
          <p:cNvPr id="10" name="Table 9">
            <a:extLst>
              <a:ext uri="{FF2B5EF4-FFF2-40B4-BE49-F238E27FC236}">
                <a16:creationId xmlns:a16="http://schemas.microsoft.com/office/drawing/2014/main" id="{103EB390-DB50-6C1C-6263-8D6F6DF8824D}"/>
              </a:ext>
            </a:extLst>
          </p:cNvPr>
          <p:cNvGraphicFramePr>
            <a:graphicFrameLocks noGrp="1"/>
          </p:cNvGraphicFramePr>
          <p:nvPr>
            <p:extLst>
              <p:ext uri="{D42A27DB-BD31-4B8C-83A1-F6EECF244321}">
                <p14:modId xmlns:p14="http://schemas.microsoft.com/office/powerpoint/2010/main" val="1594644991"/>
              </p:ext>
            </p:extLst>
          </p:nvPr>
        </p:nvGraphicFramePr>
        <p:xfrm>
          <a:off x="360693" y="1371250"/>
          <a:ext cx="10515600" cy="3407236"/>
        </p:xfrm>
        <a:graphic>
          <a:graphicData uri="http://schemas.openxmlformats.org/drawingml/2006/table">
            <a:tbl>
              <a:tblPr/>
              <a:tblGrid>
                <a:gridCol w="1604585">
                  <a:extLst>
                    <a:ext uri="{9D8B030D-6E8A-4147-A177-3AD203B41FA5}">
                      <a16:colId xmlns:a16="http://schemas.microsoft.com/office/drawing/2014/main" val="3325231149"/>
                    </a:ext>
                  </a:extLst>
                </a:gridCol>
                <a:gridCol w="2785940">
                  <a:extLst>
                    <a:ext uri="{9D8B030D-6E8A-4147-A177-3AD203B41FA5}">
                      <a16:colId xmlns:a16="http://schemas.microsoft.com/office/drawing/2014/main" val="1145815833"/>
                    </a:ext>
                  </a:extLst>
                </a:gridCol>
                <a:gridCol w="2140901">
                  <a:extLst>
                    <a:ext uri="{9D8B030D-6E8A-4147-A177-3AD203B41FA5}">
                      <a16:colId xmlns:a16="http://schemas.microsoft.com/office/drawing/2014/main" val="1781165815"/>
                    </a:ext>
                  </a:extLst>
                </a:gridCol>
                <a:gridCol w="3984174">
                  <a:extLst>
                    <a:ext uri="{9D8B030D-6E8A-4147-A177-3AD203B41FA5}">
                      <a16:colId xmlns:a16="http://schemas.microsoft.com/office/drawing/2014/main" val="1073997293"/>
                    </a:ext>
                  </a:extLst>
                </a:gridCol>
              </a:tblGrid>
              <a:tr h="209957">
                <a:tc>
                  <a:txBody>
                    <a:bodyPr/>
                    <a:lstStyle/>
                    <a:p>
                      <a:pPr algn="l" fontAlgn="b"/>
                      <a:r>
                        <a:rPr lang="en-AU" sz="1200" b="1" i="0" u="none" strike="noStrike" dirty="0">
                          <a:solidFill>
                            <a:srgbClr val="FFFFFF"/>
                          </a:solidFill>
                          <a:effectLst/>
                          <a:latin typeface="Arial" panose="020B0604020202020204" pitchFamily="34" charset="0"/>
                          <a:cs typeface="Arial" panose="020B0604020202020204" pitchFamily="34" charset="0"/>
                        </a:rPr>
                        <a:t>Stacking Consideration</a:t>
                      </a:r>
                    </a:p>
                  </a:txBody>
                  <a:tcPr marL="5329" marR="5329" marT="5329" marB="0" anchor="b">
                    <a:lnL>
                      <a:noFill/>
                    </a:lnL>
                    <a:lnR>
                      <a:noFill/>
                    </a:lnR>
                    <a:lnT>
                      <a:noFill/>
                    </a:lnT>
                    <a:lnB>
                      <a:noFill/>
                    </a:lnB>
                    <a:solidFill>
                      <a:srgbClr val="002060"/>
                    </a:solidFill>
                  </a:tcPr>
                </a:tc>
                <a:tc>
                  <a:txBody>
                    <a:bodyPr/>
                    <a:lstStyle/>
                    <a:p>
                      <a:pPr algn="l" fontAlgn="b"/>
                      <a:r>
                        <a:rPr lang="en-AU" sz="1200" b="1" i="0" u="none" strike="noStrike">
                          <a:solidFill>
                            <a:srgbClr val="FFFFFF"/>
                          </a:solidFill>
                          <a:effectLst/>
                          <a:latin typeface="Arial" panose="020B0604020202020204" pitchFamily="34" charset="0"/>
                          <a:cs typeface="Arial" panose="020B0604020202020204" pitchFamily="34" charset="0"/>
                        </a:rPr>
                        <a:t>Description</a:t>
                      </a:r>
                    </a:p>
                  </a:txBody>
                  <a:tcPr marL="5329" marR="5329" marT="5329" marB="0" anchor="b">
                    <a:lnL>
                      <a:noFill/>
                    </a:lnL>
                    <a:lnR>
                      <a:noFill/>
                    </a:lnR>
                    <a:lnT>
                      <a:noFill/>
                    </a:lnT>
                    <a:lnB>
                      <a:noFill/>
                    </a:lnB>
                    <a:solidFill>
                      <a:srgbClr val="002060"/>
                    </a:solidFill>
                  </a:tcPr>
                </a:tc>
                <a:tc>
                  <a:txBody>
                    <a:bodyPr/>
                    <a:lstStyle/>
                    <a:p>
                      <a:pPr algn="l" fontAlgn="b"/>
                      <a:r>
                        <a:rPr lang="en-AU" sz="1200" b="1" i="0" u="none" strike="noStrike">
                          <a:solidFill>
                            <a:srgbClr val="FFFFFF"/>
                          </a:solidFill>
                          <a:effectLst/>
                          <a:latin typeface="Arial" panose="020B0604020202020204" pitchFamily="34" charset="0"/>
                          <a:cs typeface="Arial" panose="020B0604020202020204" pitchFamily="34" charset="0"/>
                        </a:rPr>
                        <a:t>Supporting Study</a:t>
                      </a:r>
                    </a:p>
                  </a:txBody>
                  <a:tcPr marL="5329" marR="5329" marT="5329" marB="0" anchor="b">
                    <a:lnL>
                      <a:noFill/>
                    </a:lnL>
                    <a:lnR>
                      <a:noFill/>
                    </a:lnR>
                    <a:lnT>
                      <a:noFill/>
                    </a:lnT>
                    <a:lnB>
                      <a:noFill/>
                    </a:lnB>
                    <a:solidFill>
                      <a:srgbClr val="002060"/>
                    </a:solidFill>
                  </a:tcPr>
                </a:tc>
                <a:tc>
                  <a:txBody>
                    <a:bodyPr/>
                    <a:lstStyle/>
                    <a:p>
                      <a:pPr algn="l" fontAlgn="b"/>
                      <a:r>
                        <a:rPr lang="en-AU" sz="1200" b="1" i="0" u="none" strike="noStrike">
                          <a:solidFill>
                            <a:srgbClr val="FFFFFF"/>
                          </a:solidFill>
                          <a:effectLst/>
                          <a:latin typeface="Arial" panose="020B0604020202020204" pitchFamily="34" charset="0"/>
                          <a:cs typeface="Arial" panose="020B0604020202020204" pitchFamily="34" charset="0"/>
                        </a:rPr>
                        <a:t>Application to Model Combinations</a:t>
                      </a:r>
                    </a:p>
                  </a:txBody>
                  <a:tcPr marL="5329" marR="5329" marT="5329" marB="0" anchor="b">
                    <a:lnL>
                      <a:noFill/>
                    </a:lnL>
                    <a:lnR>
                      <a:noFill/>
                    </a:lnR>
                    <a:lnT>
                      <a:noFill/>
                    </a:lnT>
                    <a:lnB>
                      <a:noFill/>
                    </a:lnB>
                    <a:solidFill>
                      <a:srgbClr val="002060"/>
                    </a:solidFill>
                  </a:tcPr>
                </a:tc>
                <a:extLst>
                  <a:ext uri="{0D108BD9-81ED-4DB2-BD59-A6C34878D82A}">
                    <a16:rowId xmlns:a16="http://schemas.microsoft.com/office/drawing/2014/main" val="1125591934"/>
                  </a:ext>
                </a:extLst>
              </a:tr>
              <a:tr h="926154">
                <a:tc rowSpan="2">
                  <a:txBody>
                    <a:bodyPr/>
                    <a:lstStyle/>
                    <a:p>
                      <a:pPr algn="l" fontAlgn="b"/>
                      <a:r>
                        <a:rPr lang="en-AU" sz="1200" b="1" i="0" u="none" strike="noStrike">
                          <a:solidFill>
                            <a:srgbClr val="000000"/>
                          </a:solidFill>
                          <a:effectLst/>
                          <a:latin typeface="Arial" panose="020B0604020202020204" pitchFamily="34" charset="0"/>
                          <a:cs typeface="Arial" panose="020B0604020202020204" pitchFamily="34" charset="0"/>
                        </a:rPr>
                        <a:t>Model Complementarity</a:t>
                      </a:r>
                    </a:p>
                  </a:txBody>
                  <a:tcPr marL="5329" marR="5329" marT="5329" marB="0" anchor="b">
                    <a:lnL>
                      <a:noFill/>
                    </a:lnL>
                    <a:lnR>
                      <a:noFill/>
                    </a:lnR>
                    <a:lnT>
                      <a:noFill/>
                    </a:lnT>
                    <a:lnB>
                      <a:noFill/>
                    </a:lnB>
                    <a:noFill/>
                  </a:tcPr>
                </a:tc>
                <a:tc rowSpan="2">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Combining models that capture different linguistic features enhances performance.</a:t>
                      </a:r>
                    </a:p>
                  </a:txBody>
                  <a:tcPr marL="5329" marR="5329" marT="5329" marB="0" anchor="b">
                    <a:lnL>
                      <a:noFill/>
                    </a:lnL>
                    <a:lnR>
                      <a:noFill/>
                    </a:lnR>
                    <a:lnT>
                      <a:noFill/>
                    </a:lnT>
                    <a:lnB>
                      <a:noFill/>
                    </a:lnB>
                    <a:noFill/>
                  </a:tcPr>
                </a:tc>
                <a:tc>
                  <a:txBody>
                    <a:bodyPr/>
                    <a:lstStyle/>
                    <a:p>
                      <a:pPr algn="l" fontAlgn="b"/>
                      <a:r>
                        <a:rPr lang="en-AU" sz="1200" b="0" i="0" u="none" strike="noStrike">
                          <a:solidFill>
                            <a:srgbClr val="000000"/>
                          </a:solidFill>
                          <a:effectLst/>
                          <a:latin typeface="Arial" panose="020B0604020202020204" pitchFamily="34" charset="0"/>
                          <a:cs typeface="Arial" panose="020B0604020202020204" pitchFamily="34" charset="0"/>
                        </a:rPr>
                        <a:t>"Natural Language Inference with Transformer Ensembles and Explainability Techniques" </a:t>
                      </a:r>
                    </a:p>
                  </a:txBody>
                  <a:tcPr marL="5329" marR="5329" marT="5329" marB="0" anchor="b">
                    <a:lnL>
                      <a:noFill/>
                    </a:lnL>
                    <a:lnR>
                      <a:noFill/>
                    </a:lnR>
                    <a:lnT>
                      <a:noFill/>
                    </a:lnT>
                    <a:lnB>
                      <a:noFill/>
                    </a:lnB>
                    <a:noFill/>
                  </a:tcPr>
                </a:tc>
                <a:tc rowSpan="2">
                  <a:txBody>
                    <a:bodyPr/>
                    <a:lstStyle/>
                    <a:p>
                      <a:pPr algn="l" fontAlgn="b"/>
                      <a:r>
                        <a:rPr lang="en-AU" sz="1200" b="0" i="0" u="none" strike="noStrike" dirty="0" err="1">
                          <a:solidFill>
                            <a:srgbClr val="000000"/>
                          </a:solidFill>
                          <a:effectLst/>
                          <a:latin typeface="Arial" panose="020B0604020202020204" pitchFamily="34" charset="0"/>
                          <a:cs typeface="Arial" panose="020B0604020202020204" pitchFamily="34" charset="0"/>
                        </a:rPr>
                        <a:t>RoBERTa</a:t>
                      </a:r>
                      <a:r>
                        <a:rPr lang="en-AU" sz="1200" b="0" i="0" u="none" strike="noStrike" dirty="0">
                          <a:solidFill>
                            <a:srgbClr val="000000"/>
                          </a:solidFill>
                          <a:effectLst/>
                          <a:latin typeface="Arial" panose="020B0604020202020204" pitchFamily="34" charset="0"/>
                          <a:cs typeface="Arial" panose="020B0604020202020204" pitchFamily="34" charset="0"/>
                        </a:rPr>
                        <a:t>-large and </a:t>
                      </a:r>
                      <a:r>
                        <a:rPr lang="en-AU" sz="1200" b="0" i="0" u="none" strike="noStrike" dirty="0" err="1">
                          <a:solidFill>
                            <a:srgbClr val="000000"/>
                          </a:solidFill>
                          <a:effectLst/>
                          <a:latin typeface="Arial" panose="020B0604020202020204" pitchFamily="34" charset="0"/>
                          <a:cs typeface="Arial" panose="020B0604020202020204" pitchFamily="34" charset="0"/>
                        </a:rPr>
                        <a:t>DeBERTa</a:t>
                      </a:r>
                      <a:r>
                        <a:rPr lang="en-AU" sz="1200" b="0" i="0" u="none" strike="noStrike" dirty="0">
                          <a:solidFill>
                            <a:srgbClr val="000000"/>
                          </a:solidFill>
                          <a:effectLst/>
                          <a:latin typeface="Arial" panose="020B0604020202020204" pitchFamily="34" charset="0"/>
                          <a:cs typeface="Arial" panose="020B0604020202020204" pitchFamily="34" charset="0"/>
                        </a:rPr>
                        <a:t> have distinct architectures; stacking them can harness their unique strengths. Similarly, FOMC-</a:t>
                      </a:r>
                      <a:r>
                        <a:rPr lang="en-AU" sz="1200" b="0" i="0" u="none" strike="noStrike" dirty="0" err="1">
                          <a:solidFill>
                            <a:srgbClr val="000000"/>
                          </a:solidFill>
                          <a:effectLst/>
                          <a:latin typeface="Arial" panose="020B0604020202020204" pitchFamily="34" charset="0"/>
                          <a:cs typeface="Arial" panose="020B0604020202020204" pitchFamily="34" charset="0"/>
                        </a:rPr>
                        <a:t>RoBERTa</a:t>
                      </a:r>
                      <a:r>
                        <a:rPr lang="en-AU" sz="1200" b="0" i="0" u="none" strike="noStrike" dirty="0">
                          <a:solidFill>
                            <a:srgbClr val="000000"/>
                          </a:solidFill>
                          <a:effectLst/>
                          <a:latin typeface="Arial" panose="020B0604020202020204" pitchFamily="34" charset="0"/>
                          <a:cs typeface="Arial" panose="020B0604020202020204" pitchFamily="34" charset="0"/>
                        </a:rPr>
                        <a:t> (domain-specific) combined with </a:t>
                      </a:r>
                      <a:r>
                        <a:rPr lang="en-AU" sz="1200" b="0" i="0" u="none" strike="noStrike" dirty="0" err="1">
                          <a:solidFill>
                            <a:srgbClr val="000000"/>
                          </a:solidFill>
                          <a:effectLst/>
                          <a:latin typeface="Arial" panose="020B0604020202020204" pitchFamily="34" charset="0"/>
                          <a:cs typeface="Arial" panose="020B0604020202020204" pitchFamily="34" charset="0"/>
                        </a:rPr>
                        <a:t>RoBERTa</a:t>
                      </a:r>
                      <a:r>
                        <a:rPr lang="en-AU" sz="1200" b="0" i="0" u="none" strike="noStrike" dirty="0">
                          <a:solidFill>
                            <a:srgbClr val="000000"/>
                          </a:solidFill>
                          <a:effectLst/>
                          <a:latin typeface="Arial" panose="020B0604020202020204" pitchFamily="34" charset="0"/>
                          <a:cs typeface="Arial" panose="020B0604020202020204" pitchFamily="34" charset="0"/>
                        </a:rPr>
                        <a:t>-large (general-purpose) balances domain adaptation with general language understanding.</a:t>
                      </a:r>
                    </a:p>
                  </a:txBody>
                  <a:tcPr marL="5329" marR="5329" marT="5329" marB="0" anchor="b">
                    <a:lnL>
                      <a:noFill/>
                    </a:lnL>
                    <a:lnR>
                      <a:noFill/>
                    </a:lnR>
                    <a:lnT>
                      <a:noFill/>
                    </a:lnT>
                    <a:lnB>
                      <a:noFill/>
                    </a:lnB>
                    <a:noFill/>
                  </a:tcPr>
                </a:tc>
                <a:extLst>
                  <a:ext uri="{0D108BD9-81ED-4DB2-BD59-A6C34878D82A}">
                    <a16:rowId xmlns:a16="http://schemas.microsoft.com/office/drawing/2014/main" val="1234756750"/>
                  </a:ext>
                </a:extLst>
              </a:tr>
              <a:tr h="113682">
                <a:tc vMerge="1">
                  <a:txBody>
                    <a:bodyPr/>
                    <a:lstStyle/>
                    <a:p>
                      <a:endParaRPr lang="en-US"/>
                    </a:p>
                  </a:txBody>
                  <a:tcPr/>
                </a:tc>
                <a:tc vMerge="1">
                  <a:txBody>
                    <a:bodyPr/>
                    <a:lstStyle/>
                    <a:p>
                      <a:endParaRPr lang="en-US"/>
                    </a:p>
                  </a:txBody>
                  <a:tcPr/>
                </a:tc>
                <a:tc>
                  <a:txBody>
                    <a:bodyPr/>
                    <a:lstStyle/>
                    <a:p>
                      <a:pPr algn="l" fontAlgn="b"/>
                      <a:r>
                        <a:rPr lang="en-AU" sz="1200" b="0" i="0" u="sng" strike="noStrike">
                          <a:solidFill>
                            <a:srgbClr val="467886"/>
                          </a:solidFill>
                          <a:effectLst/>
                          <a:latin typeface="Arial" panose="020B0604020202020204" pitchFamily="34" charset="0"/>
                          <a:cs typeface="Arial" panose="020B0604020202020204" pitchFamily="34" charset="0"/>
                          <a:hlinkClick r:id="rId2"/>
                        </a:rPr>
                        <a:t>ArXiv</a:t>
                      </a:r>
                      <a:endParaRPr lang="en-AU" sz="1200" b="0" i="0" u="sng" strike="noStrike">
                        <a:solidFill>
                          <a:srgbClr val="467886"/>
                        </a:solidFill>
                        <a:effectLst/>
                        <a:latin typeface="Arial" panose="020B0604020202020204" pitchFamily="34" charset="0"/>
                        <a:cs typeface="Arial" panose="020B0604020202020204" pitchFamily="34" charset="0"/>
                      </a:endParaRPr>
                    </a:p>
                  </a:txBody>
                  <a:tcPr marL="5329" marR="5329" marT="5329" marB="0" anchor="b">
                    <a:lnL>
                      <a:noFill/>
                    </a:lnL>
                    <a:lnR>
                      <a:noFill/>
                    </a:lnR>
                    <a:lnT>
                      <a:noFill/>
                    </a:lnT>
                    <a:lnB>
                      <a:noFill/>
                    </a:lnB>
                    <a:noFill/>
                  </a:tcPr>
                </a:tc>
                <a:tc vMerge="1">
                  <a:txBody>
                    <a:bodyPr/>
                    <a:lstStyle/>
                    <a:p>
                      <a:endParaRPr lang="en-US"/>
                    </a:p>
                  </a:txBody>
                  <a:tcPr/>
                </a:tc>
                <a:extLst>
                  <a:ext uri="{0D108BD9-81ED-4DB2-BD59-A6C34878D82A}">
                    <a16:rowId xmlns:a16="http://schemas.microsoft.com/office/drawing/2014/main" val="418209559"/>
                  </a:ext>
                </a:extLst>
              </a:tr>
              <a:tr h="823840">
                <a:tc rowSpan="2">
                  <a:txBody>
                    <a:bodyPr/>
                    <a:lstStyle/>
                    <a:p>
                      <a:pPr algn="l" fontAlgn="b"/>
                      <a:r>
                        <a:rPr lang="en-AU" sz="1200" b="1" i="0" u="none" strike="noStrike">
                          <a:solidFill>
                            <a:srgbClr val="000000"/>
                          </a:solidFill>
                          <a:effectLst/>
                          <a:latin typeface="Arial" panose="020B0604020202020204" pitchFamily="34" charset="0"/>
                          <a:cs typeface="Arial" panose="020B0604020202020204" pitchFamily="34" charset="0"/>
                        </a:rPr>
                        <a:t>Stacking Architecture</a:t>
                      </a:r>
                    </a:p>
                  </a:txBody>
                  <a:tcPr marL="5329" marR="5329" marT="5329" marB="0" anchor="b">
                    <a:lnL>
                      <a:noFill/>
                    </a:lnL>
                    <a:lnR>
                      <a:noFill/>
                    </a:lnR>
                    <a:lnT>
                      <a:noFill/>
                    </a:lnT>
                    <a:lnB>
                      <a:noFill/>
                    </a:lnB>
                    <a:noFill/>
                  </a:tcPr>
                </a:tc>
                <a:tc rowSpan="2">
                  <a:txBody>
                    <a:bodyPr/>
                    <a:lstStyle/>
                    <a:p>
                      <a:pPr algn="l" fontAlgn="b"/>
                      <a:r>
                        <a:rPr lang="en-AU" sz="1200" b="0" i="0" u="none" strike="noStrike">
                          <a:solidFill>
                            <a:srgbClr val="000000"/>
                          </a:solidFill>
                          <a:effectLst/>
                          <a:latin typeface="Arial" panose="020B0604020202020204" pitchFamily="34" charset="0"/>
                          <a:cs typeface="Arial" panose="020B0604020202020204" pitchFamily="34" charset="0"/>
                        </a:rPr>
                        <a:t>The meta-learner should effectively integrate base model outputs. Logistic regression or shallow neural networks are commonly used.</a:t>
                      </a:r>
                    </a:p>
                  </a:txBody>
                  <a:tcPr marL="5329" marR="5329" marT="5329" marB="0" anchor="b">
                    <a:lnL>
                      <a:noFill/>
                    </a:lnL>
                    <a:lnR>
                      <a:noFill/>
                    </a:lnR>
                    <a:lnT>
                      <a:noFill/>
                    </a:lnT>
                    <a:lnB>
                      <a:noFill/>
                    </a:lnB>
                    <a:noFill/>
                  </a:tcPr>
                </a:tc>
                <a:tc>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"Optimizing Multi-Class Text Classification: A Diverse Stacking Ensemble Framework" </a:t>
                      </a:r>
                    </a:p>
                  </a:txBody>
                  <a:tcPr marL="5329" marR="5329" marT="5329" marB="0" anchor="b">
                    <a:lnL>
                      <a:noFill/>
                    </a:lnL>
                    <a:lnR>
                      <a:noFill/>
                    </a:lnR>
                    <a:lnT>
                      <a:noFill/>
                    </a:lnT>
                    <a:lnB>
                      <a:noFill/>
                    </a:lnB>
                    <a:noFill/>
                  </a:tcPr>
                </a:tc>
                <a:tc rowSpan="2">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Utilizing a logistic regression meta-learner can effectively combine outputs from </a:t>
                      </a:r>
                      <a:r>
                        <a:rPr lang="en-AU" sz="1200" b="0" i="0" u="none" strike="noStrike" dirty="0" err="1">
                          <a:solidFill>
                            <a:srgbClr val="000000"/>
                          </a:solidFill>
                          <a:effectLst/>
                          <a:latin typeface="Arial" panose="020B0604020202020204" pitchFamily="34" charset="0"/>
                          <a:cs typeface="Arial" panose="020B0604020202020204" pitchFamily="34" charset="0"/>
                        </a:rPr>
                        <a:t>RoBERTa</a:t>
                      </a:r>
                      <a:r>
                        <a:rPr lang="en-AU" sz="1200" b="0" i="0" u="none" strike="noStrike" dirty="0">
                          <a:solidFill>
                            <a:srgbClr val="000000"/>
                          </a:solidFill>
                          <a:effectLst/>
                          <a:latin typeface="Arial" panose="020B0604020202020204" pitchFamily="34" charset="0"/>
                          <a:cs typeface="Arial" panose="020B0604020202020204" pitchFamily="34" charset="0"/>
                        </a:rPr>
                        <a:t>-large and </a:t>
                      </a:r>
                      <a:r>
                        <a:rPr lang="en-AU" sz="1200" b="0" i="0" u="none" strike="noStrike" dirty="0" err="1">
                          <a:solidFill>
                            <a:srgbClr val="000000"/>
                          </a:solidFill>
                          <a:effectLst/>
                          <a:latin typeface="Arial" panose="020B0604020202020204" pitchFamily="34" charset="0"/>
                          <a:cs typeface="Arial" panose="020B0604020202020204" pitchFamily="34" charset="0"/>
                        </a:rPr>
                        <a:t>DeBERTa</a:t>
                      </a:r>
                      <a:r>
                        <a:rPr lang="en-AU" sz="1200" b="0" i="0" u="none" strike="noStrike" dirty="0">
                          <a:solidFill>
                            <a:srgbClr val="000000"/>
                          </a:solidFill>
                          <a:effectLst/>
                          <a:latin typeface="Arial" panose="020B0604020202020204" pitchFamily="34" charset="0"/>
                          <a:cs typeface="Arial" panose="020B0604020202020204" pitchFamily="34" charset="0"/>
                        </a:rPr>
                        <a:t>, as well as FOMC-</a:t>
                      </a:r>
                      <a:r>
                        <a:rPr lang="en-AU" sz="1200" b="0" i="0" u="none" strike="noStrike" dirty="0" err="1">
                          <a:solidFill>
                            <a:srgbClr val="000000"/>
                          </a:solidFill>
                          <a:effectLst/>
                          <a:latin typeface="Arial" panose="020B0604020202020204" pitchFamily="34" charset="0"/>
                          <a:cs typeface="Arial" panose="020B0604020202020204" pitchFamily="34" charset="0"/>
                        </a:rPr>
                        <a:t>RoBERTa</a:t>
                      </a:r>
                      <a:r>
                        <a:rPr lang="en-AU" sz="1200" b="0" i="0" u="none" strike="noStrike" dirty="0">
                          <a:solidFill>
                            <a:srgbClr val="000000"/>
                          </a:solidFill>
                          <a:effectLst/>
                          <a:latin typeface="Arial" panose="020B0604020202020204" pitchFamily="34" charset="0"/>
                          <a:cs typeface="Arial" panose="020B0604020202020204" pitchFamily="34" charset="0"/>
                        </a:rPr>
                        <a:t> and </a:t>
                      </a:r>
                      <a:r>
                        <a:rPr lang="en-AU" sz="1200" b="0" i="0" u="none" strike="noStrike" dirty="0" err="1">
                          <a:solidFill>
                            <a:srgbClr val="000000"/>
                          </a:solidFill>
                          <a:effectLst/>
                          <a:latin typeface="Arial" panose="020B0604020202020204" pitchFamily="34" charset="0"/>
                          <a:cs typeface="Arial" panose="020B0604020202020204" pitchFamily="34" charset="0"/>
                        </a:rPr>
                        <a:t>RoBERTa</a:t>
                      </a:r>
                      <a:r>
                        <a:rPr lang="en-AU" sz="1200" b="0" i="0" u="none" strike="noStrike" dirty="0">
                          <a:solidFill>
                            <a:srgbClr val="000000"/>
                          </a:solidFill>
                          <a:effectLst/>
                          <a:latin typeface="Arial" panose="020B0604020202020204" pitchFamily="34" charset="0"/>
                          <a:cs typeface="Arial" panose="020B0604020202020204" pitchFamily="34" charset="0"/>
                        </a:rPr>
                        <a:t>-large, ensuring balanced integration of their predictions.</a:t>
                      </a:r>
                    </a:p>
                  </a:txBody>
                  <a:tcPr marL="5329" marR="5329" marT="5329" marB="0" anchor="b">
                    <a:lnL>
                      <a:noFill/>
                    </a:lnL>
                    <a:lnR>
                      <a:noFill/>
                    </a:lnR>
                    <a:lnT>
                      <a:noFill/>
                    </a:lnT>
                    <a:lnB>
                      <a:noFill/>
                    </a:lnB>
                    <a:noFill/>
                  </a:tcPr>
                </a:tc>
                <a:extLst>
                  <a:ext uri="{0D108BD9-81ED-4DB2-BD59-A6C34878D82A}">
                    <a16:rowId xmlns:a16="http://schemas.microsoft.com/office/drawing/2014/main" val="3089179934"/>
                  </a:ext>
                </a:extLst>
              </a:tr>
              <a:tr h="113682">
                <a:tc vMerge="1">
                  <a:txBody>
                    <a:bodyPr/>
                    <a:lstStyle/>
                    <a:p>
                      <a:endParaRPr lang="en-US"/>
                    </a:p>
                  </a:txBody>
                  <a:tcPr/>
                </a:tc>
                <a:tc vMerge="1">
                  <a:txBody>
                    <a:bodyPr/>
                    <a:lstStyle/>
                    <a:p>
                      <a:endParaRPr lang="en-US"/>
                    </a:p>
                  </a:txBody>
                  <a:tcPr/>
                </a:tc>
                <a:tc>
                  <a:txBody>
                    <a:bodyPr/>
                    <a:lstStyle/>
                    <a:p>
                      <a:pPr algn="l" fontAlgn="b"/>
                      <a:r>
                        <a:rPr lang="en-AU" sz="1200" b="0" i="0" u="sng" strike="noStrike">
                          <a:solidFill>
                            <a:srgbClr val="467886"/>
                          </a:solidFill>
                          <a:effectLst/>
                          <a:latin typeface="Arial" panose="020B0604020202020204" pitchFamily="34" charset="0"/>
                          <a:cs typeface="Arial" panose="020B0604020202020204" pitchFamily="34" charset="0"/>
                          <a:hlinkClick r:id="rId2"/>
                        </a:rPr>
                        <a:t>ArXiv</a:t>
                      </a:r>
                      <a:endParaRPr lang="en-AU" sz="1200" b="0" i="0" u="sng" strike="noStrike">
                        <a:solidFill>
                          <a:srgbClr val="467886"/>
                        </a:solidFill>
                        <a:effectLst/>
                        <a:latin typeface="Arial" panose="020B0604020202020204" pitchFamily="34" charset="0"/>
                        <a:cs typeface="Arial" panose="020B0604020202020204" pitchFamily="34" charset="0"/>
                      </a:endParaRPr>
                    </a:p>
                  </a:txBody>
                  <a:tcPr marL="5329" marR="5329" marT="5329" marB="0" anchor="b">
                    <a:lnL>
                      <a:noFill/>
                    </a:lnL>
                    <a:lnR>
                      <a:noFill/>
                    </a:lnR>
                    <a:lnT>
                      <a:noFill/>
                    </a:lnT>
                    <a:lnB>
                      <a:noFill/>
                    </a:lnB>
                    <a:noFill/>
                  </a:tcPr>
                </a:tc>
                <a:tc vMerge="1">
                  <a:txBody>
                    <a:bodyPr/>
                    <a:lstStyle/>
                    <a:p>
                      <a:endParaRPr lang="en-US"/>
                    </a:p>
                  </a:txBody>
                  <a:tcPr/>
                </a:tc>
                <a:extLst>
                  <a:ext uri="{0D108BD9-81ED-4DB2-BD59-A6C34878D82A}">
                    <a16:rowId xmlns:a16="http://schemas.microsoft.com/office/drawing/2014/main" val="2130153638"/>
                  </a:ext>
                </a:extLst>
              </a:tr>
              <a:tr h="721526">
                <a:tc rowSpan="2">
                  <a:txBody>
                    <a:bodyPr/>
                    <a:lstStyle/>
                    <a:p>
                      <a:pPr algn="l" fontAlgn="b"/>
                      <a:r>
                        <a:rPr lang="en-AU" sz="1200" b="1" i="0" u="none" strike="noStrike" dirty="0">
                          <a:solidFill>
                            <a:srgbClr val="000000"/>
                          </a:solidFill>
                          <a:effectLst/>
                          <a:latin typeface="Arial" panose="020B0604020202020204" pitchFamily="34" charset="0"/>
                          <a:cs typeface="Arial" panose="020B0604020202020204" pitchFamily="34" charset="0"/>
                        </a:rPr>
                        <a:t>Avoiding Overfitting</a:t>
                      </a:r>
                    </a:p>
                  </a:txBody>
                  <a:tcPr marL="5329" marR="5329" marT="5329" marB="0" anchor="b">
                    <a:lnL>
                      <a:noFill/>
                    </a:lnL>
                    <a:lnR>
                      <a:noFill/>
                    </a:lnR>
                    <a:lnT>
                      <a:noFill/>
                    </a:lnT>
                    <a:lnB>
                      <a:noFill/>
                    </a:lnB>
                    <a:noFill/>
                  </a:tcPr>
                </a:tc>
                <a:tc rowSpan="2">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Ensuring base models generalize well and their errors are uncorrelated is crucial. Cross-validation during stacking helps mitigate overfitting.</a:t>
                      </a:r>
                    </a:p>
                  </a:txBody>
                  <a:tcPr marL="5329" marR="5329" marT="5329" marB="0" anchor="b">
                    <a:lnL>
                      <a:noFill/>
                    </a:lnL>
                    <a:lnR>
                      <a:noFill/>
                    </a:lnR>
                    <a:lnT>
                      <a:noFill/>
                    </a:lnT>
                    <a:lnB>
                      <a:noFill/>
                    </a:lnB>
                    <a:noFill/>
                  </a:tcPr>
                </a:tc>
                <a:tc>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"Improving Academic Skills Assessment with NLP and Ensemble Learning" </a:t>
                      </a:r>
                    </a:p>
                  </a:txBody>
                  <a:tcPr marL="5329" marR="5329" marT="5329" marB="0" anchor="b">
                    <a:lnL>
                      <a:noFill/>
                    </a:lnL>
                    <a:lnR>
                      <a:noFill/>
                    </a:lnR>
                    <a:lnT>
                      <a:noFill/>
                    </a:lnT>
                    <a:lnB>
                      <a:noFill/>
                    </a:lnB>
                    <a:noFill/>
                  </a:tcPr>
                </a:tc>
                <a:tc rowSpan="2">
                  <a:txBody>
                    <a:bodyPr/>
                    <a:lstStyle/>
                    <a:p>
                      <a:pPr algn="l" fontAlgn="b"/>
                      <a:r>
                        <a:rPr lang="en-AU" sz="1200" b="0" i="0" u="none" strike="noStrike" dirty="0">
                          <a:solidFill>
                            <a:srgbClr val="000000"/>
                          </a:solidFill>
                          <a:effectLst/>
                          <a:latin typeface="Arial" panose="020B0604020202020204" pitchFamily="34" charset="0"/>
                          <a:cs typeface="Arial" panose="020B0604020202020204" pitchFamily="34" charset="0"/>
                        </a:rPr>
                        <a:t>Implementing cross-validation in stacking </a:t>
                      </a:r>
                      <a:r>
                        <a:rPr lang="en-AU" sz="1200" b="0" i="0" u="none" strike="noStrike" dirty="0" err="1">
                          <a:solidFill>
                            <a:srgbClr val="000000"/>
                          </a:solidFill>
                          <a:effectLst/>
                          <a:latin typeface="Arial" panose="020B0604020202020204" pitchFamily="34" charset="0"/>
                          <a:cs typeface="Arial" panose="020B0604020202020204" pitchFamily="34" charset="0"/>
                        </a:rPr>
                        <a:t>RoBERTa</a:t>
                      </a:r>
                      <a:r>
                        <a:rPr lang="en-AU" sz="1200" b="0" i="0" u="none" strike="noStrike" dirty="0">
                          <a:solidFill>
                            <a:srgbClr val="000000"/>
                          </a:solidFill>
                          <a:effectLst/>
                          <a:latin typeface="Arial" panose="020B0604020202020204" pitchFamily="34" charset="0"/>
                          <a:cs typeface="Arial" panose="020B0604020202020204" pitchFamily="34" charset="0"/>
                        </a:rPr>
                        <a:t>-large with </a:t>
                      </a:r>
                      <a:r>
                        <a:rPr lang="en-AU" sz="1200" b="0" i="0" u="none" strike="noStrike" dirty="0" err="1">
                          <a:solidFill>
                            <a:srgbClr val="000000"/>
                          </a:solidFill>
                          <a:effectLst/>
                          <a:latin typeface="Arial" panose="020B0604020202020204" pitchFamily="34" charset="0"/>
                          <a:cs typeface="Arial" panose="020B0604020202020204" pitchFamily="34" charset="0"/>
                        </a:rPr>
                        <a:t>DeBERTa</a:t>
                      </a:r>
                      <a:r>
                        <a:rPr lang="en-AU" sz="1200" b="0" i="0" u="none" strike="noStrike" dirty="0">
                          <a:solidFill>
                            <a:srgbClr val="000000"/>
                          </a:solidFill>
                          <a:effectLst/>
                          <a:latin typeface="Arial" panose="020B0604020202020204" pitchFamily="34" charset="0"/>
                          <a:cs typeface="Arial" panose="020B0604020202020204" pitchFamily="34" charset="0"/>
                        </a:rPr>
                        <a:t>, and FOMC-</a:t>
                      </a:r>
                      <a:r>
                        <a:rPr lang="en-AU" sz="1200" b="0" i="0" u="none" strike="noStrike" dirty="0" err="1">
                          <a:solidFill>
                            <a:srgbClr val="000000"/>
                          </a:solidFill>
                          <a:effectLst/>
                          <a:latin typeface="Arial" panose="020B0604020202020204" pitchFamily="34" charset="0"/>
                          <a:cs typeface="Arial" panose="020B0604020202020204" pitchFamily="34" charset="0"/>
                        </a:rPr>
                        <a:t>RoBERTa</a:t>
                      </a:r>
                      <a:r>
                        <a:rPr lang="en-AU" sz="1200" b="0" i="0" u="none" strike="noStrike" dirty="0">
                          <a:solidFill>
                            <a:srgbClr val="000000"/>
                          </a:solidFill>
                          <a:effectLst/>
                          <a:latin typeface="Arial" panose="020B0604020202020204" pitchFamily="34" charset="0"/>
                          <a:cs typeface="Arial" panose="020B0604020202020204" pitchFamily="34" charset="0"/>
                        </a:rPr>
                        <a:t> with </a:t>
                      </a:r>
                      <a:r>
                        <a:rPr lang="en-AU" sz="1200" b="0" i="0" u="none" strike="noStrike" dirty="0" err="1">
                          <a:solidFill>
                            <a:srgbClr val="000000"/>
                          </a:solidFill>
                          <a:effectLst/>
                          <a:latin typeface="Arial" panose="020B0604020202020204" pitchFamily="34" charset="0"/>
                          <a:cs typeface="Arial" panose="020B0604020202020204" pitchFamily="34" charset="0"/>
                        </a:rPr>
                        <a:t>RoBERTa</a:t>
                      </a:r>
                      <a:r>
                        <a:rPr lang="en-AU" sz="1200" b="0" i="0" u="none" strike="noStrike" dirty="0">
                          <a:solidFill>
                            <a:srgbClr val="000000"/>
                          </a:solidFill>
                          <a:effectLst/>
                          <a:latin typeface="Arial" panose="020B0604020202020204" pitchFamily="34" charset="0"/>
                          <a:cs typeface="Arial" panose="020B0604020202020204" pitchFamily="34" charset="0"/>
                        </a:rPr>
                        <a:t>-large, can reduce overfitting risks by ensuring the meta-learner is robust.</a:t>
                      </a:r>
                    </a:p>
                  </a:txBody>
                  <a:tcPr marL="5329" marR="5329" marT="5329" marB="0" anchor="b">
                    <a:lnL>
                      <a:noFill/>
                    </a:lnL>
                    <a:lnR>
                      <a:noFill/>
                    </a:lnR>
                    <a:lnT>
                      <a:noFill/>
                    </a:lnT>
                    <a:lnB>
                      <a:noFill/>
                    </a:lnB>
                    <a:noFill/>
                  </a:tcPr>
                </a:tc>
                <a:extLst>
                  <a:ext uri="{0D108BD9-81ED-4DB2-BD59-A6C34878D82A}">
                    <a16:rowId xmlns:a16="http://schemas.microsoft.com/office/drawing/2014/main" val="1686104731"/>
                  </a:ext>
                </a:extLst>
              </a:tr>
              <a:tr h="113682">
                <a:tc vMerge="1">
                  <a:txBody>
                    <a:bodyPr/>
                    <a:lstStyle/>
                    <a:p>
                      <a:endParaRPr lang="en-US"/>
                    </a:p>
                  </a:txBody>
                  <a:tcPr/>
                </a:tc>
                <a:tc vMerge="1">
                  <a:txBody>
                    <a:bodyPr/>
                    <a:lstStyle/>
                    <a:p>
                      <a:endParaRPr lang="en-US"/>
                    </a:p>
                  </a:txBody>
                  <a:tcPr/>
                </a:tc>
                <a:tc>
                  <a:txBody>
                    <a:bodyPr/>
                    <a:lstStyle/>
                    <a:p>
                      <a:pPr algn="l" fontAlgn="b"/>
                      <a:r>
                        <a:rPr lang="en-AU" sz="1200" b="0" i="0" u="sng" strike="noStrike" dirty="0">
                          <a:solidFill>
                            <a:srgbClr val="467886"/>
                          </a:solidFill>
                          <a:effectLst/>
                          <a:latin typeface="Arial" panose="020B0604020202020204" pitchFamily="34" charset="0"/>
                          <a:cs typeface="Arial" panose="020B0604020202020204" pitchFamily="34" charset="0"/>
                          <a:hlinkClick r:id="rId3"/>
                        </a:rPr>
                        <a:t>ArXiv</a:t>
                      </a:r>
                      <a:endParaRPr lang="en-AU" sz="1200" b="0" i="0" u="sng" strike="noStrike" dirty="0">
                        <a:solidFill>
                          <a:srgbClr val="467886"/>
                        </a:solidFill>
                        <a:effectLst/>
                        <a:latin typeface="Arial" panose="020B0604020202020204" pitchFamily="34" charset="0"/>
                        <a:cs typeface="Arial" panose="020B0604020202020204" pitchFamily="34" charset="0"/>
                      </a:endParaRPr>
                    </a:p>
                  </a:txBody>
                  <a:tcPr marL="5329" marR="5329" marT="5329" marB="0" anchor="b">
                    <a:lnL>
                      <a:noFill/>
                    </a:lnL>
                    <a:lnR>
                      <a:noFill/>
                    </a:lnR>
                    <a:lnT>
                      <a:noFill/>
                    </a:lnT>
                    <a:lnB>
                      <a:noFill/>
                    </a:lnB>
                    <a:noFill/>
                  </a:tcPr>
                </a:tc>
                <a:tc vMerge="1">
                  <a:txBody>
                    <a:bodyPr/>
                    <a:lstStyle/>
                    <a:p>
                      <a:endParaRPr lang="en-US"/>
                    </a:p>
                  </a:txBody>
                  <a:tcPr/>
                </a:tc>
                <a:extLst>
                  <a:ext uri="{0D108BD9-81ED-4DB2-BD59-A6C34878D82A}">
                    <a16:rowId xmlns:a16="http://schemas.microsoft.com/office/drawing/2014/main" val="3045466656"/>
                  </a:ext>
                </a:extLst>
              </a:tr>
            </a:tbl>
          </a:graphicData>
        </a:graphic>
      </p:graphicFrame>
    </p:spTree>
    <p:extLst>
      <p:ext uri="{BB962C8B-B14F-4D97-AF65-F5344CB8AC3E}">
        <p14:creationId xmlns:p14="http://schemas.microsoft.com/office/powerpoint/2010/main" val="2646850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C705C868-4D7E-B28A-12B7-B12D96862522}"/>
              </a:ext>
            </a:extLst>
          </p:cNvPr>
          <p:cNvSpPr>
            <a:spLocks noGrp="1"/>
          </p:cNvSpPr>
          <p:nvPr>
            <p:ph type="sldNum" sz="quarter" idx="12"/>
          </p:nvPr>
        </p:nvSpPr>
        <p:spPr>
          <a:xfrm>
            <a:off x="8610600" y="6356350"/>
            <a:ext cx="2743200" cy="365125"/>
          </a:xfrm>
        </p:spPr>
        <p:txBody>
          <a:bodyPr/>
          <a:lstStyle/>
          <a:p>
            <a:fld id="{6BAD6A8B-B5C3-4437-A9DE-A8C2149171DD}" type="slidenum">
              <a:rPr lang="en-AU" smtClean="0"/>
              <a:t>32</a:t>
            </a:fld>
            <a:endParaRPr lang="en-AU"/>
          </a:p>
        </p:txBody>
      </p:sp>
      <p:sp>
        <p:nvSpPr>
          <p:cNvPr id="6" name="Title 1">
            <a:extLst>
              <a:ext uri="{FF2B5EF4-FFF2-40B4-BE49-F238E27FC236}">
                <a16:creationId xmlns:a16="http://schemas.microsoft.com/office/drawing/2014/main" id="{ED33BB5D-13D6-8634-2440-A0455D9C24F1}"/>
              </a:ext>
            </a:extLst>
          </p:cNvPr>
          <p:cNvSpPr txBox="1">
            <a:spLocks/>
          </p:cNvSpPr>
          <p:nvPr/>
        </p:nvSpPr>
        <p:spPr>
          <a:xfrm>
            <a:off x="231648" y="136525"/>
            <a:ext cx="11631168" cy="83883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Roboto" panose="02000000000000000000" pitchFamily="2" charset="0"/>
                <a:cs typeface="Arial" panose="020B0604020202020204" pitchFamily="34" charset="0"/>
              </a:defRPr>
            </a:lvl1pPr>
          </a:lstStyle>
          <a:p>
            <a:r>
              <a:rPr lang="en-GB" sz="3800" dirty="0"/>
              <a:t>Bibliography</a:t>
            </a:r>
            <a:endParaRPr lang="en-AU" sz="3800" dirty="0"/>
          </a:p>
        </p:txBody>
      </p:sp>
      <p:cxnSp>
        <p:nvCxnSpPr>
          <p:cNvPr id="7" name="Google Shape;119;g12f20562990_0_39">
            <a:extLst>
              <a:ext uri="{FF2B5EF4-FFF2-40B4-BE49-F238E27FC236}">
                <a16:creationId xmlns:a16="http://schemas.microsoft.com/office/drawing/2014/main" id="{36BDB59A-FB25-6E37-C9DC-33E5145652E1}"/>
              </a:ext>
            </a:extLst>
          </p:cNvPr>
          <p:cNvCxnSpPr>
            <a:cxnSpLocks/>
          </p:cNvCxnSpPr>
          <p:nvPr/>
        </p:nvCxnSpPr>
        <p:spPr>
          <a:xfrm>
            <a:off x="360695" y="841202"/>
            <a:ext cx="11144100" cy="0"/>
          </a:xfrm>
          <a:prstGeom prst="straightConnector1">
            <a:avLst/>
          </a:prstGeom>
          <a:noFill/>
          <a:ln w="9525" cap="flat" cmpd="sng">
            <a:solidFill>
              <a:srgbClr val="7F7F7F"/>
            </a:solidFill>
            <a:prstDash val="solid"/>
            <a:miter lim="800000"/>
            <a:headEnd type="none" w="sm" len="sm"/>
            <a:tailEnd type="none" w="sm" len="sm"/>
          </a:ln>
        </p:spPr>
      </p:cxnSp>
      <p:sp>
        <p:nvSpPr>
          <p:cNvPr id="13" name="TextBox 12">
            <a:extLst>
              <a:ext uri="{FF2B5EF4-FFF2-40B4-BE49-F238E27FC236}">
                <a16:creationId xmlns:a16="http://schemas.microsoft.com/office/drawing/2014/main" id="{A178AF46-1A3D-5858-2393-1AD188500D51}"/>
              </a:ext>
            </a:extLst>
          </p:cNvPr>
          <p:cNvSpPr txBox="1"/>
          <p:nvPr/>
        </p:nvSpPr>
        <p:spPr>
          <a:xfrm>
            <a:off x="329184" y="672013"/>
            <a:ext cx="11273147" cy="6247864"/>
          </a:xfrm>
          <a:prstGeom prst="rect">
            <a:avLst/>
          </a:prstGeom>
          <a:noFill/>
        </p:spPr>
        <p:txBody>
          <a:bodyPr wrap="square" rtlCol="0">
            <a:spAutoFit/>
          </a:bodyPr>
          <a:lstStyle/>
          <a:p>
            <a:pPr>
              <a:spcAft>
                <a:spcPts val="1000"/>
              </a:spcAft>
            </a:pPr>
            <a:r>
              <a:rPr lang="en-US" sz="1200" dirty="0">
                <a:effectLst/>
                <a:latin typeface="Arial" panose="020B0604020202020204" pitchFamily="34" charset="0"/>
                <a:ea typeface="MS Mincho" panose="02020609040205080304" pitchFamily="49" charset="-128"/>
                <a:cs typeface="Arial" panose="020B0604020202020204" pitchFamily="34" charset="0"/>
              </a:rPr>
              <a:t> </a:t>
            </a:r>
            <a:endParaRPr lang="en-AU" sz="1200" dirty="0">
              <a:effectLst/>
              <a:latin typeface="Arial" panose="020B0604020202020204" pitchFamily="34" charset="0"/>
              <a:ea typeface="MS Mincho" panose="02020609040205080304" pitchFamily="49" charset="-128"/>
              <a:cs typeface="Arial" panose="020B0604020202020204" pitchFamily="34" charset="0"/>
            </a:endParaRPr>
          </a:p>
          <a:p>
            <a:pPr marL="342900" lvl="0" indent="-342900">
              <a:spcAft>
                <a:spcPts val="1000"/>
              </a:spcAft>
              <a:buFont typeface="+mj-lt"/>
              <a:buAutoNum type="arabicPeriod"/>
              <a:tabLst>
                <a:tab pos="457200" algn="l"/>
              </a:tabLst>
            </a:pPr>
            <a:r>
              <a:rPr lang="en-AU" sz="1200" dirty="0" err="1">
                <a:effectLst/>
                <a:latin typeface="Arial" panose="020B0604020202020204" pitchFamily="34" charset="0"/>
                <a:ea typeface="MS Mincho" panose="02020609040205080304" pitchFamily="49" charset="-128"/>
                <a:cs typeface="Arial" panose="020B0604020202020204" pitchFamily="34" charset="0"/>
              </a:rPr>
              <a:t>Araci</a:t>
            </a:r>
            <a:r>
              <a:rPr lang="en-AU" sz="1200" dirty="0">
                <a:effectLst/>
                <a:latin typeface="Arial" panose="020B0604020202020204" pitchFamily="34" charset="0"/>
                <a:ea typeface="MS Mincho" panose="02020609040205080304" pitchFamily="49" charset="-128"/>
                <a:cs typeface="Arial" panose="020B0604020202020204" pitchFamily="34" charset="0"/>
              </a:rPr>
              <a:t>, D., 2019. </a:t>
            </a:r>
            <a:r>
              <a:rPr lang="en-AU" sz="1200" dirty="0" err="1">
                <a:effectLst/>
                <a:latin typeface="Arial" panose="020B0604020202020204" pitchFamily="34" charset="0"/>
                <a:ea typeface="MS Mincho" panose="02020609040205080304" pitchFamily="49" charset="-128"/>
                <a:cs typeface="Arial" panose="020B0604020202020204" pitchFamily="34" charset="0"/>
              </a:rPr>
              <a:t>FinBERT</a:t>
            </a:r>
            <a:r>
              <a:rPr lang="en-AU" sz="1200" dirty="0">
                <a:effectLst/>
                <a:latin typeface="Arial" panose="020B0604020202020204" pitchFamily="34" charset="0"/>
                <a:ea typeface="MS Mincho" panose="02020609040205080304" pitchFamily="49" charset="-128"/>
                <a:cs typeface="Arial" panose="020B0604020202020204" pitchFamily="34" charset="0"/>
              </a:rPr>
              <a:t>: A Pretrained Language Model for Financial Communications. </a:t>
            </a:r>
            <a:r>
              <a:rPr lang="en-AU" sz="1200" i="1" dirty="0" err="1">
                <a:effectLst/>
                <a:latin typeface="Arial" panose="020B0604020202020204" pitchFamily="34" charset="0"/>
                <a:ea typeface="MS Mincho" panose="02020609040205080304" pitchFamily="49" charset="-128"/>
                <a:cs typeface="Arial" panose="020B0604020202020204" pitchFamily="34" charset="0"/>
              </a:rPr>
              <a:t>arXiv</a:t>
            </a:r>
            <a:r>
              <a:rPr lang="en-AU" sz="1200" i="1" dirty="0">
                <a:effectLst/>
                <a:latin typeface="Arial" panose="020B0604020202020204" pitchFamily="34" charset="0"/>
                <a:ea typeface="MS Mincho" panose="02020609040205080304" pitchFamily="49" charset="-128"/>
                <a:cs typeface="Arial" panose="020B0604020202020204" pitchFamily="34" charset="0"/>
              </a:rPr>
              <a:t> preprint arXiv:1908.10063</a:t>
            </a:r>
            <a:r>
              <a:rPr lang="en-AU" sz="1200" dirty="0">
                <a:effectLst/>
                <a:latin typeface="Arial" panose="020B0604020202020204" pitchFamily="34" charset="0"/>
                <a:ea typeface="MS Mincho" panose="02020609040205080304" pitchFamily="49" charset="-128"/>
                <a:cs typeface="Arial" panose="020B0604020202020204" pitchFamily="34" charset="0"/>
              </a:rPr>
              <a:t>. Available at: </a:t>
            </a:r>
            <a:r>
              <a:rPr lang="en-AU" sz="1200" u="sng" dirty="0">
                <a:solidFill>
                  <a:srgbClr val="0000FF"/>
                </a:solidFill>
                <a:effectLst/>
                <a:latin typeface="Arial" panose="020B0604020202020204" pitchFamily="34" charset="0"/>
                <a:ea typeface="MS Mincho" panose="02020609040205080304" pitchFamily="49" charset="-128"/>
                <a:cs typeface="Arial" panose="020B0604020202020204" pitchFamily="34" charset="0"/>
                <a:hlinkClick r:id="rId2"/>
              </a:rPr>
              <a:t>https://arxiv.org/abs/1908.10063</a:t>
            </a:r>
            <a:r>
              <a:rPr lang="en-AU" sz="1200" dirty="0">
                <a:effectLst/>
                <a:latin typeface="Arial" panose="020B0604020202020204" pitchFamily="34" charset="0"/>
                <a:ea typeface="MS Mincho" panose="02020609040205080304" pitchFamily="49" charset="-128"/>
                <a:cs typeface="Arial" panose="020B0604020202020204" pitchFamily="34" charset="0"/>
              </a:rPr>
              <a:t>.</a:t>
            </a:r>
          </a:p>
          <a:p>
            <a:pPr marL="342900" lvl="0" indent="-342900">
              <a:spcAft>
                <a:spcPts val="1000"/>
              </a:spcAft>
              <a:buFont typeface="+mj-lt"/>
              <a:buAutoNum type="arabicPeriod"/>
              <a:tabLst>
                <a:tab pos="457200" algn="l"/>
              </a:tabLst>
            </a:pPr>
            <a:r>
              <a:rPr lang="en-AU" sz="1200" dirty="0">
                <a:effectLst/>
                <a:latin typeface="Arial" panose="020B0604020202020204" pitchFamily="34" charset="0"/>
                <a:ea typeface="MS Mincho" panose="02020609040205080304" pitchFamily="49" charset="-128"/>
                <a:cs typeface="Arial" panose="020B0604020202020204" pitchFamily="34" charset="0"/>
              </a:rPr>
              <a:t>Han, X., 2023. Qwen-7B: A 7-Billion-Parameter Transformer Model for Financial Sentiment Analysis. </a:t>
            </a:r>
            <a:r>
              <a:rPr lang="en-AU" sz="1200" i="1" dirty="0" err="1">
                <a:effectLst/>
                <a:latin typeface="Arial" panose="020B0604020202020204" pitchFamily="34" charset="0"/>
                <a:ea typeface="MS Mincho" panose="02020609040205080304" pitchFamily="49" charset="-128"/>
                <a:cs typeface="Arial" panose="020B0604020202020204" pitchFamily="34" charset="0"/>
              </a:rPr>
              <a:t>arXiv</a:t>
            </a:r>
            <a:r>
              <a:rPr lang="en-AU" sz="1200" i="1" dirty="0">
                <a:effectLst/>
                <a:latin typeface="Arial" panose="020B0604020202020204" pitchFamily="34" charset="0"/>
                <a:ea typeface="MS Mincho" panose="02020609040205080304" pitchFamily="49" charset="-128"/>
                <a:cs typeface="Arial" panose="020B0604020202020204" pitchFamily="34" charset="0"/>
              </a:rPr>
              <a:t> preprint arXiv:2308.10063</a:t>
            </a:r>
            <a:r>
              <a:rPr lang="en-AU" sz="1200" dirty="0">
                <a:effectLst/>
                <a:latin typeface="Arial" panose="020B0604020202020204" pitchFamily="34" charset="0"/>
                <a:ea typeface="MS Mincho" panose="02020609040205080304" pitchFamily="49" charset="-128"/>
                <a:cs typeface="Arial" panose="020B0604020202020204" pitchFamily="34" charset="0"/>
              </a:rPr>
              <a:t>. Available at: </a:t>
            </a:r>
            <a:r>
              <a:rPr lang="en-AU" sz="1200" u="sng" dirty="0">
                <a:solidFill>
                  <a:srgbClr val="0000FF"/>
                </a:solidFill>
                <a:effectLst/>
                <a:latin typeface="Arial" panose="020B0604020202020204" pitchFamily="34" charset="0"/>
                <a:ea typeface="MS Mincho" panose="02020609040205080304" pitchFamily="49" charset="-128"/>
                <a:cs typeface="Arial" panose="020B0604020202020204" pitchFamily="34" charset="0"/>
                <a:hlinkClick r:id="rId3"/>
              </a:rPr>
              <a:t>https://arxiv.org/abs/2308.10063</a:t>
            </a:r>
            <a:r>
              <a:rPr lang="en-AU" sz="1200" dirty="0">
                <a:effectLst/>
                <a:latin typeface="Arial" panose="020B0604020202020204" pitchFamily="34" charset="0"/>
                <a:ea typeface="MS Mincho" panose="02020609040205080304" pitchFamily="49" charset="-128"/>
                <a:cs typeface="Arial" panose="020B0604020202020204" pitchFamily="34" charset="0"/>
              </a:rPr>
              <a:t>.</a:t>
            </a:r>
          </a:p>
          <a:p>
            <a:pPr marL="342900" lvl="0" indent="-342900">
              <a:spcAft>
                <a:spcPts val="1000"/>
              </a:spcAft>
              <a:buFont typeface="+mj-lt"/>
              <a:buAutoNum type="arabicPeriod"/>
              <a:tabLst>
                <a:tab pos="457200" algn="l"/>
              </a:tabLst>
            </a:pPr>
            <a:r>
              <a:rPr lang="en-AU" sz="1200" dirty="0">
                <a:effectLst/>
                <a:latin typeface="Arial" panose="020B0604020202020204" pitchFamily="34" charset="0"/>
                <a:ea typeface="MS Mincho" panose="02020609040205080304" pitchFamily="49" charset="-128"/>
                <a:cs typeface="Arial" panose="020B0604020202020204" pitchFamily="34" charset="0"/>
              </a:rPr>
              <a:t>He, P., Liu, X., Gao, J. and Chen, W., 2021. </a:t>
            </a:r>
            <a:r>
              <a:rPr lang="en-AU" sz="1200" dirty="0" err="1">
                <a:effectLst/>
                <a:latin typeface="Arial" panose="020B0604020202020204" pitchFamily="34" charset="0"/>
                <a:ea typeface="MS Mincho" panose="02020609040205080304" pitchFamily="49" charset="-128"/>
                <a:cs typeface="Arial" panose="020B0604020202020204" pitchFamily="34" charset="0"/>
              </a:rPr>
              <a:t>DeBERTa</a:t>
            </a:r>
            <a:r>
              <a:rPr lang="en-AU" sz="1200" dirty="0">
                <a:effectLst/>
                <a:latin typeface="Arial" panose="020B0604020202020204" pitchFamily="34" charset="0"/>
                <a:ea typeface="MS Mincho" panose="02020609040205080304" pitchFamily="49" charset="-128"/>
                <a:cs typeface="Arial" panose="020B0604020202020204" pitchFamily="34" charset="0"/>
              </a:rPr>
              <a:t>: Decoding-enhanced BERT with Disentangled Attention. </a:t>
            </a:r>
            <a:r>
              <a:rPr lang="en-AU" sz="1200" i="1" dirty="0" err="1">
                <a:effectLst/>
                <a:latin typeface="Arial" panose="020B0604020202020204" pitchFamily="34" charset="0"/>
                <a:ea typeface="MS Mincho" panose="02020609040205080304" pitchFamily="49" charset="-128"/>
                <a:cs typeface="Arial" panose="020B0604020202020204" pitchFamily="34" charset="0"/>
              </a:rPr>
              <a:t>arXiv</a:t>
            </a:r>
            <a:r>
              <a:rPr lang="en-AU" sz="1200" i="1" dirty="0">
                <a:effectLst/>
                <a:latin typeface="Arial" panose="020B0604020202020204" pitchFamily="34" charset="0"/>
                <a:ea typeface="MS Mincho" panose="02020609040205080304" pitchFamily="49" charset="-128"/>
                <a:cs typeface="Arial" panose="020B0604020202020204" pitchFamily="34" charset="0"/>
              </a:rPr>
              <a:t> preprint arXiv:2006.03654</a:t>
            </a:r>
            <a:r>
              <a:rPr lang="en-AU" sz="1200" dirty="0">
                <a:effectLst/>
                <a:latin typeface="Arial" panose="020B0604020202020204" pitchFamily="34" charset="0"/>
                <a:ea typeface="MS Mincho" panose="02020609040205080304" pitchFamily="49" charset="-128"/>
                <a:cs typeface="Arial" panose="020B0604020202020204" pitchFamily="34" charset="0"/>
              </a:rPr>
              <a:t>. Available at: </a:t>
            </a:r>
            <a:r>
              <a:rPr lang="en-AU" sz="1200" u="sng" dirty="0">
                <a:solidFill>
                  <a:srgbClr val="0000FF"/>
                </a:solidFill>
                <a:effectLst/>
                <a:latin typeface="Arial" panose="020B0604020202020204" pitchFamily="34" charset="0"/>
                <a:ea typeface="MS Mincho" panose="02020609040205080304" pitchFamily="49" charset="-128"/>
                <a:cs typeface="Arial" panose="020B0604020202020204" pitchFamily="34" charset="0"/>
                <a:hlinkClick r:id="rId4"/>
              </a:rPr>
              <a:t>https://arxiv.org/abs/2006.03654</a:t>
            </a:r>
            <a:r>
              <a:rPr lang="en-AU" sz="1200" dirty="0">
                <a:effectLst/>
                <a:latin typeface="Arial" panose="020B0604020202020204" pitchFamily="34" charset="0"/>
                <a:ea typeface="MS Mincho" panose="02020609040205080304" pitchFamily="49" charset="-128"/>
                <a:cs typeface="Arial" panose="020B0604020202020204" pitchFamily="34" charset="0"/>
              </a:rPr>
              <a:t>.</a:t>
            </a:r>
          </a:p>
          <a:p>
            <a:pPr marL="342900" lvl="0" indent="-342900">
              <a:spcAft>
                <a:spcPts val="1000"/>
              </a:spcAft>
              <a:buFont typeface="+mj-lt"/>
              <a:buAutoNum type="arabicPeriod"/>
              <a:tabLst>
                <a:tab pos="457200" algn="l"/>
              </a:tabLst>
            </a:pPr>
            <a:r>
              <a:rPr lang="en-AU" sz="1200" dirty="0">
                <a:effectLst/>
                <a:latin typeface="Arial" panose="020B0604020202020204" pitchFamily="34" charset="0"/>
                <a:ea typeface="MS Mincho" panose="02020609040205080304" pitchFamily="49" charset="-128"/>
                <a:cs typeface="Arial" panose="020B0604020202020204" pitchFamily="34" charset="0"/>
              </a:rPr>
              <a:t>Howard, J. and Ruder, S., 2018. Universal Language Model Fine-Tuning for Text Classification. </a:t>
            </a:r>
            <a:r>
              <a:rPr lang="en-AU" sz="1200" i="1" dirty="0">
                <a:effectLst/>
                <a:latin typeface="Arial" panose="020B0604020202020204" pitchFamily="34" charset="0"/>
                <a:ea typeface="MS Mincho" panose="02020609040205080304" pitchFamily="49" charset="-128"/>
                <a:cs typeface="Arial" panose="020B0604020202020204" pitchFamily="34" charset="0"/>
              </a:rPr>
              <a:t>Proceedings of the 56th Annual Meeting of the Association for Computational Linguistics (Volume 1: Long Papers)</a:t>
            </a:r>
            <a:r>
              <a:rPr lang="en-AU" sz="1200" dirty="0">
                <a:effectLst/>
                <a:latin typeface="Arial" panose="020B0604020202020204" pitchFamily="34" charset="0"/>
                <a:ea typeface="MS Mincho" panose="02020609040205080304" pitchFamily="49" charset="-128"/>
                <a:cs typeface="Arial" panose="020B0604020202020204" pitchFamily="34" charset="0"/>
              </a:rPr>
              <a:t>, pp.328-339. Available at: </a:t>
            </a:r>
            <a:r>
              <a:rPr lang="en-AU" sz="1200" u="sng" dirty="0">
                <a:solidFill>
                  <a:srgbClr val="0000FF"/>
                </a:solidFill>
                <a:effectLst/>
                <a:latin typeface="Arial" panose="020B0604020202020204" pitchFamily="34" charset="0"/>
                <a:ea typeface="MS Mincho" panose="02020609040205080304" pitchFamily="49" charset="-128"/>
                <a:cs typeface="Arial" panose="020B0604020202020204" pitchFamily="34" charset="0"/>
                <a:hlinkClick r:id="rId5"/>
              </a:rPr>
              <a:t>https://aclanthology.org/P18-1031/</a:t>
            </a:r>
            <a:r>
              <a:rPr lang="en-AU" sz="1200" dirty="0">
                <a:effectLst/>
                <a:latin typeface="Arial" panose="020B0604020202020204" pitchFamily="34" charset="0"/>
                <a:ea typeface="MS Mincho" panose="02020609040205080304" pitchFamily="49" charset="-128"/>
                <a:cs typeface="Arial" panose="020B0604020202020204" pitchFamily="34" charset="0"/>
              </a:rPr>
              <a:t>.</a:t>
            </a:r>
          </a:p>
          <a:p>
            <a:pPr marL="342900" lvl="0" indent="-342900">
              <a:spcAft>
                <a:spcPts val="1000"/>
              </a:spcAft>
              <a:buFont typeface="+mj-lt"/>
              <a:buAutoNum type="arabicPeriod"/>
              <a:tabLst>
                <a:tab pos="457200" algn="l"/>
              </a:tabLst>
            </a:pPr>
            <a:r>
              <a:rPr lang="en-AU" sz="1200" dirty="0">
                <a:effectLst/>
                <a:latin typeface="Arial" panose="020B0604020202020204" pitchFamily="34" charset="0"/>
                <a:ea typeface="MS Mincho" panose="02020609040205080304" pitchFamily="49" charset="-128"/>
                <a:cs typeface="Arial" panose="020B0604020202020204" pitchFamily="34" charset="0"/>
              </a:rPr>
              <a:t>Krishnan, A., 2023. Optimizing Multi-Class Text Classification: A Diverse Stacking Ensemble Framework Utilizing Transformers. </a:t>
            </a:r>
            <a:r>
              <a:rPr lang="en-AU" sz="1200" i="1" dirty="0">
                <a:effectLst/>
                <a:latin typeface="Arial" panose="020B0604020202020204" pitchFamily="34" charset="0"/>
                <a:ea typeface="MS Mincho" panose="02020609040205080304" pitchFamily="49" charset="-128"/>
                <a:cs typeface="Arial" panose="020B0604020202020204" pitchFamily="34" charset="0"/>
              </a:rPr>
              <a:t>Big Data Mining and Analytics</a:t>
            </a:r>
            <a:r>
              <a:rPr lang="en-AU" sz="1200" dirty="0">
                <a:effectLst/>
                <a:latin typeface="Arial" panose="020B0604020202020204" pitchFamily="34" charset="0"/>
                <a:ea typeface="MS Mincho" panose="02020609040205080304" pitchFamily="49" charset="-128"/>
                <a:cs typeface="Arial" panose="020B0604020202020204" pitchFamily="34" charset="0"/>
              </a:rPr>
              <a:t>. Available at: </a:t>
            </a:r>
            <a:r>
              <a:rPr lang="en-AU" sz="1200" u="sng" dirty="0">
                <a:solidFill>
                  <a:srgbClr val="0000FF"/>
                </a:solidFill>
                <a:effectLst/>
                <a:latin typeface="Arial" panose="020B0604020202020204" pitchFamily="34" charset="0"/>
                <a:ea typeface="MS Mincho" panose="02020609040205080304" pitchFamily="49" charset="-128"/>
                <a:cs typeface="Arial" panose="020B0604020202020204" pitchFamily="34" charset="0"/>
                <a:hlinkClick r:id="rId6"/>
              </a:rPr>
              <a:t>https://arxiv.org/abs/2308.11519</a:t>
            </a:r>
            <a:r>
              <a:rPr lang="en-AU" sz="1200" dirty="0">
                <a:effectLst/>
                <a:latin typeface="Arial" panose="020B0604020202020204" pitchFamily="34" charset="0"/>
                <a:ea typeface="MS Mincho" panose="02020609040205080304" pitchFamily="49" charset="-128"/>
                <a:cs typeface="Arial" panose="020B0604020202020204" pitchFamily="34" charset="0"/>
              </a:rPr>
              <a:t>.</a:t>
            </a:r>
          </a:p>
          <a:p>
            <a:pPr marL="342900" lvl="0" indent="-342900">
              <a:spcAft>
                <a:spcPts val="1000"/>
              </a:spcAft>
              <a:buFont typeface="+mj-lt"/>
              <a:buAutoNum type="arabicPeriod"/>
              <a:tabLst>
                <a:tab pos="457200" algn="l"/>
              </a:tabLst>
            </a:pPr>
            <a:r>
              <a:rPr lang="en-AU" sz="1200" dirty="0">
                <a:effectLst/>
                <a:latin typeface="Arial" panose="020B0604020202020204" pitchFamily="34" charset="0"/>
                <a:ea typeface="MS Mincho" panose="02020609040205080304" pitchFamily="49" charset="-128"/>
                <a:cs typeface="Arial" panose="020B0604020202020204" pitchFamily="34" charset="0"/>
              </a:rPr>
              <a:t>Liu, Y., Ott, M., Goyal, N., Du, J., Joshi, M., Chen, D., Levy, O., Lewis, M., </a:t>
            </a:r>
            <a:r>
              <a:rPr lang="en-AU" sz="1200" dirty="0" err="1">
                <a:effectLst/>
                <a:latin typeface="Arial" panose="020B0604020202020204" pitchFamily="34" charset="0"/>
                <a:ea typeface="MS Mincho" panose="02020609040205080304" pitchFamily="49" charset="-128"/>
                <a:cs typeface="Arial" panose="020B0604020202020204" pitchFamily="34" charset="0"/>
              </a:rPr>
              <a:t>Zettlemoyer</a:t>
            </a:r>
            <a:r>
              <a:rPr lang="en-AU" sz="1200" dirty="0">
                <a:effectLst/>
                <a:latin typeface="Arial" panose="020B0604020202020204" pitchFamily="34" charset="0"/>
                <a:ea typeface="MS Mincho" panose="02020609040205080304" pitchFamily="49" charset="-128"/>
                <a:cs typeface="Arial" panose="020B0604020202020204" pitchFamily="34" charset="0"/>
              </a:rPr>
              <a:t>, L. and </a:t>
            </a:r>
            <a:r>
              <a:rPr lang="en-AU" sz="1200" dirty="0" err="1">
                <a:effectLst/>
                <a:latin typeface="Arial" panose="020B0604020202020204" pitchFamily="34" charset="0"/>
                <a:ea typeface="MS Mincho" panose="02020609040205080304" pitchFamily="49" charset="-128"/>
                <a:cs typeface="Arial" panose="020B0604020202020204" pitchFamily="34" charset="0"/>
              </a:rPr>
              <a:t>Stoyanov</a:t>
            </a:r>
            <a:r>
              <a:rPr lang="en-AU" sz="1200" dirty="0">
                <a:effectLst/>
                <a:latin typeface="Arial" panose="020B0604020202020204" pitchFamily="34" charset="0"/>
                <a:ea typeface="MS Mincho" panose="02020609040205080304" pitchFamily="49" charset="-128"/>
                <a:cs typeface="Arial" panose="020B0604020202020204" pitchFamily="34" charset="0"/>
              </a:rPr>
              <a:t>, V., 2019. </a:t>
            </a:r>
            <a:r>
              <a:rPr lang="en-AU" sz="1200" dirty="0" err="1">
                <a:effectLst/>
                <a:latin typeface="Arial" panose="020B0604020202020204" pitchFamily="34" charset="0"/>
                <a:ea typeface="MS Mincho" panose="02020609040205080304" pitchFamily="49" charset="-128"/>
                <a:cs typeface="Arial" panose="020B0604020202020204" pitchFamily="34" charset="0"/>
              </a:rPr>
              <a:t>RoBERTa</a:t>
            </a:r>
            <a:r>
              <a:rPr lang="en-AU" sz="1200" dirty="0">
                <a:effectLst/>
                <a:latin typeface="Arial" panose="020B0604020202020204" pitchFamily="34" charset="0"/>
                <a:ea typeface="MS Mincho" panose="02020609040205080304" pitchFamily="49" charset="-128"/>
                <a:cs typeface="Arial" panose="020B0604020202020204" pitchFamily="34" charset="0"/>
              </a:rPr>
              <a:t>: A Robustly Optimized BERT Pretraining Approach. </a:t>
            </a:r>
            <a:r>
              <a:rPr lang="en-AU" sz="1200" i="1" dirty="0" err="1">
                <a:effectLst/>
                <a:latin typeface="Arial" panose="020B0604020202020204" pitchFamily="34" charset="0"/>
                <a:ea typeface="MS Mincho" panose="02020609040205080304" pitchFamily="49" charset="-128"/>
                <a:cs typeface="Arial" panose="020B0604020202020204" pitchFamily="34" charset="0"/>
              </a:rPr>
              <a:t>arXiv</a:t>
            </a:r>
            <a:r>
              <a:rPr lang="en-AU" sz="1200" i="1" dirty="0">
                <a:effectLst/>
                <a:latin typeface="Arial" panose="020B0604020202020204" pitchFamily="34" charset="0"/>
                <a:ea typeface="MS Mincho" panose="02020609040205080304" pitchFamily="49" charset="-128"/>
                <a:cs typeface="Arial" panose="020B0604020202020204" pitchFamily="34" charset="0"/>
              </a:rPr>
              <a:t> preprint arXiv:1907.11692</a:t>
            </a:r>
            <a:r>
              <a:rPr lang="en-AU" sz="1200" dirty="0">
                <a:effectLst/>
                <a:latin typeface="Arial" panose="020B0604020202020204" pitchFamily="34" charset="0"/>
                <a:ea typeface="MS Mincho" panose="02020609040205080304" pitchFamily="49" charset="-128"/>
                <a:cs typeface="Arial" panose="020B0604020202020204" pitchFamily="34" charset="0"/>
              </a:rPr>
              <a:t>. Available at: </a:t>
            </a:r>
            <a:r>
              <a:rPr lang="en-AU" sz="1200" u="sng" dirty="0">
                <a:solidFill>
                  <a:srgbClr val="0000FF"/>
                </a:solidFill>
                <a:effectLst/>
                <a:latin typeface="Arial" panose="020B0604020202020204" pitchFamily="34" charset="0"/>
                <a:ea typeface="MS Mincho" panose="02020609040205080304" pitchFamily="49" charset="-128"/>
                <a:cs typeface="Arial" panose="020B0604020202020204" pitchFamily="34" charset="0"/>
                <a:hlinkClick r:id="rId7"/>
              </a:rPr>
              <a:t>https://arxiv.org/abs/1907.11692</a:t>
            </a:r>
            <a:r>
              <a:rPr lang="en-AU" sz="1200" dirty="0">
                <a:effectLst/>
                <a:latin typeface="Arial" panose="020B0604020202020204" pitchFamily="34" charset="0"/>
                <a:ea typeface="MS Mincho" panose="02020609040205080304" pitchFamily="49" charset="-128"/>
                <a:cs typeface="Arial" panose="020B0604020202020204" pitchFamily="34" charset="0"/>
              </a:rPr>
              <a:t>.</a:t>
            </a:r>
          </a:p>
          <a:p>
            <a:pPr marL="342900" lvl="0" indent="-342900">
              <a:spcAft>
                <a:spcPts val="1000"/>
              </a:spcAft>
              <a:buFont typeface="+mj-lt"/>
              <a:buAutoNum type="arabicPeriod"/>
              <a:tabLst>
                <a:tab pos="457200" algn="l"/>
              </a:tabLst>
            </a:pPr>
            <a:r>
              <a:rPr lang="en-AU" sz="1200" dirty="0">
                <a:effectLst/>
                <a:latin typeface="Arial" panose="020B0604020202020204" pitchFamily="34" charset="0"/>
                <a:ea typeface="MS Mincho" panose="02020609040205080304" pitchFamily="49" charset="-128"/>
                <a:cs typeface="Arial" panose="020B0604020202020204" pitchFamily="34" charset="0"/>
              </a:rPr>
              <a:t>Loughran, T. and McDonald, B., 2011. When is a Liability not a Liability? Textual Analysis, Dictionaries, and 10-Ks. </a:t>
            </a:r>
            <a:r>
              <a:rPr lang="en-AU" sz="1200" i="1" dirty="0">
                <a:effectLst/>
                <a:latin typeface="Arial" panose="020B0604020202020204" pitchFamily="34" charset="0"/>
                <a:ea typeface="MS Mincho" panose="02020609040205080304" pitchFamily="49" charset="-128"/>
                <a:cs typeface="Arial" panose="020B0604020202020204" pitchFamily="34" charset="0"/>
              </a:rPr>
              <a:t>The Journal of Finance</a:t>
            </a:r>
            <a:r>
              <a:rPr lang="en-AU" sz="1200" dirty="0">
                <a:effectLst/>
                <a:latin typeface="Arial" panose="020B0604020202020204" pitchFamily="34" charset="0"/>
                <a:ea typeface="MS Mincho" panose="02020609040205080304" pitchFamily="49" charset="-128"/>
                <a:cs typeface="Arial" panose="020B0604020202020204" pitchFamily="34" charset="0"/>
              </a:rPr>
              <a:t>, 66(1), pp.35-65. Available at: </a:t>
            </a:r>
            <a:r>
              <a:rPr lang="en-AU" sz="1200" u="sng" dirty="0">
                <a:solidFill>
                  <a:srgbClr val="0000FF"/>
                </a:solidFill>
                <a:effectLst/>
                <a:latin typeface="Arial" panose="020B0604020202020204" pitchFamily="34" charset="0"/>
                <a:ea typeface="MS Mincho" panose="02020609040205080304" pitchFamily="49" charset="-128"/>
                <a:cs typeface="Arial" panose="020B0604020202020204" pitchFamily="34" charset="0"/>
                <a:hlinkClick r:id="rId8"/>
              </a:rPr>
              <a:t>https://www.jstor.org/stable/29789771</a:t>
            </a:r>
            <a:r>
              <a:rPr lang="en-AU" sz="1200" dirty="0">
                <a:effectLst/>
                <a:latin typeface="Arial" panose="020B0604020202020204" pitchFamily="34" charset="0"/>
                <a:ea typeface="MS Mincho" panose="02020609040205080304" pitchFamily="49" charset="-128"/>
                <a:cs typeface="Arial" panose="020B0604020202020204" pitchFamily="34" charset="0"/>
              </a:rPr>
              <a:t>.</a:t>
            </a:r>
          </a:p>
          <a:p>
            <a:pPr marL="342900" lvl="0" indent="-342900">
              <a:spcAft>
                <a:spcPts val="1000"/>
              </a:spcAft>
              <a:buFont typeface="+mj-lt"/>
              <a:buAutoNum type="arabicPeriod"/>
              <a:tabLst>
                <a:tab pos="457200" algn="l"/>
              </a:tabLst>
            </a:pPr>
            <a:r>
              <a:rPr lang="en-AU" sz="1200" dirty="0">
                <a:effectLst/>
                <a:latin typeface="Arial" panose="020B0604020202020204" pitchFamily="34" charset="0"/>
                <a:ea typeface="MS Mincho" panose="02020609040205080304" pitchFamily="49" charset="-128"/>
                <a:cs typeface="Arial" panose="020B0604020202020204" pitchFamily="34" charset="0"/>
              </a:rPr>
              <a:t>Luo, H. and Specia, L., 2024. From Understanding to Utilization: A Survey on Explainability for Large Language Models. </a:t>
            </a:r>
            <a:r>
              <a:rPr lang="en-AU" sz="1200" i="1" dirty="0" err="1">
                <a:effectLst/>
                <a:latin typeface="Arial" panose="020B0604020202020204" pitchFamily="34" charset="0"/>
                <a:ea typeface="MS Mincho" panose="02020609040205080304" pitchFamily="49" charset="-128"/>
                <a:cs typeface="Arial" panose="020B0604020202020204" pitchFamily="34" charset="0"/>
              </a:rPr>
              <a:t>arXiv</a:t>
            </a:r>
            <a:r>
              <a:rPr lang="en-AU" sz="1200" i="1" dirty="0">
                <a:effectLst/>
                <a:latin typeface="Arial" panose="020B0604020202020204" pitchFamily="34" charset="0"/>
                <a:ea typeface="MS Mincho" panose="02020609040205080304" pitchFamily="49" charset="-128"/>
                <a:cs typeface="Arial" panose="020B0604020202020204" pitchFamily="34" charset="0"/>
              </a:rPr>
              <a:t> preprint arXiv:2401.12874v2</a:t>
            </a:r>
            <a:r>
              <a:rPr lang="en-AU" sz="1200" dirty="0">
                <a:effectLst/>
                <a:latin typeface="Arial" panose="020B0604020202020204" pitchFamily="34" charset="0"/>
                <a:ea typeface="MS Mincho" panose="02020609040205080304" pitchFamily="49" charset="-128"/>
                <a:cs typeface="Arial" panose="020B0604020202020204" pitchFamily="34" charset="0"/>
              </a:rPr>
              <a:t>. Available at: </a:t>
            </a:r>
            <a:r>
              <a:rPr lang="en-AU" sz="1200" u="sng" dirty="0">
                <a:solidFill>
                  <a:srgbClr val="0000FF"/>
                </a:solidFill>
                <a:effectLst/>
                <a:latin typeface="Arial" panose="020B0604020202020204" pitchFamily="34" charset="0"/>
                <a:ea typeface="MS Mincho" panose="02020609040205080304" pitchFamily="49" charset="-128"/>
                <a:cs typeface="Arial" panose="020B0604020202020204" pitchFamily="34" charset="0"/>
                <a:hlinkClick r:id="rId9"/>
              </a:rPr>
              <a:t>https://arxiv.org/abs/2401.12874v2</a:t>
            </a:r>
            <a:r>
              <a:rPr lang="en-AU" sz="1200" dirty="0">
                <a:effectLst/>
                <a:latin typeface="Arial" panose="020B0604020202020204" pitchFamily="34" charset="0"/>
                <a:ea typeface="MS Mincho" panose="02020609040205080304" pitchFamily="49" charset="-128"/>
                <a:cs typeface="Arial" panose="020B0604020202020204" pitchFamily="34" charset="0"/>
              </a:rPr>
              <a:t>.</a:t>
            </a:r>
          </a:p>
          <a:p>
            <a:pPr marL="342900" lvl="0" indent="-342900">
              <a:spcAft>
                <a:spcPts val="1000"/>
              </a:spcAft>
              <a:buFont typeface="+mj-lt"/>
              <a:buAutoNum type="arabicPeriod"/>
              <a:tabLst>
                <a:tab pos="457200" algn="l"/>
              </a:tabLst>
            </a:pPr>
            <a:r>
              <a:rPr lang="en-AU" sz="1200" dirty="0" err="1">
                <a:effectLst/>
                <a:latin typeface="Arial" panose="020B0604020202020204" pitchFamily="34" charset="0"/>
                <a:ea typeface="MS Mincho" panose="02020609040205080304" pitchFamily="49" charset="-128"/>
                <a:cs typeface="Arial" panose="020B0604020202020204" pitchFamily="34" charset="0"/>
              </a:rPr>
              <a:t>Perikos</a:t>
            </a:r>
            <a:r>
              <a:rPr lang="en-AU" sz="1200" dirty="0">
                <a:effectLst/>
                <a:latin typeface="Arial" panose="020B0604020202020204" pitchFamily="34" charset="0"/>
                <a:ea typeface="MS Mincho" panose="02020609040205080304" pitchFamily="49" charset="-128"/>
                <a:cs typeface="Arial" panose="020B0604020202020204" pitchFamily="34" charset="0"/>
              </a:rPr>
              <a:t>, I. and </a:t>
            </a:r>
            <a:r>
              <a:rPr lang="en-AU" sz="1200" dirty="0" err="1">
                <a:effectLst/>
                <a:latin typeface="Arial" panose="020B0604020202020204" pitchFamily="34" charset="0"/>
                <a:ea typeface="MS Mincho" panose="02020609040205080304" pitchFamily="49" charset="-128"/>
                <a:cs typeface="Arial" panose="020B0604020202020204" pitchFamily="34" charset="0"/>
              </a:rPr>
              <a:t>Souli</a:t>
            </a:r>
            <a:r>
              <a:rPr lang="en-AU" sz="1200" dirty="0">
                <a:effectLst/>
                <a:latin typeface="Arial" panose="020B0604020202020204" pitchFamily="34" charset="0"/>
                <a:ea typeface="MS Mincho" panose="02020609040205080304" pitchFamily="49" charset="-128"/>
                <a:cs typeface="Arial" panose="020B0604020202020204" pitchFamily="34" charset="0"/>
              </a:rPr>
              <a:t>, S., 2024. Natural Language Inference with Transformer Ensembles and Explainability Techniques. </a:t>
            </a:r>
            <a:r>
              <a:rPr lang="en-AU" sz="1200" i="1" dirty="0">
                <a:effectLst/>
                <a:latin typeface="Arial" panose="020B0604020202020204" pitchFamily="34" charset="0"/>
                <a:ea typeface="MS Mincho" panose="02020609040205080304" pitchFamily="49" charset="-128"/>
                <a:cs typeface="Arial" panose="020B0604020202020204" pitchFamily="34" charset="0"/>
              </a:rPr>
              <a:t>Electronics</a:t>
            </a:r>
            <a:r>
              <a:rPr lang="en-AU" sz="1200" dirty="0">
                <a:effectLst/>
                <a:latin typeface="Arial" panose="020B0604020202020204" pitchFamily="34" charset="0"/>
                <a:ea typeface="MS Mincho" panose="02020609040205080304" pitchFamily="49" charset="-128"/>
                <a:cs typeface="Arial" panose="020B0604020202020204" pitchFamily="34" charset="0"/>
              </a:rPr>
              <a:t>, 13(19), p.3876. Available at: </a:t>
            </a:r>
            <a:r>
              <a:rPr lang="en-AU" sz="1200" u="sng" dirty="0">
                <a:solidFill>
                  <a:srgbClr val="0000FF"/>
                </a:solidFill>
                <a:effectLst/>
                <a:latin typeface="Arial" panose="020B0604020202020204" pitchFamily="34" charset="0"/>
                <a:ea typeface="MS Mincho" panose="02020609040205080304" pitchFamily="49" charset="-128"/>
                <a:cs typeface="Arial" panose="020B0604020202020204" pitchFamily="34" charset="0"/>
                <a:hlinkClick r:id="rId10"/>
              </a:rPr>
              <a:t>https://www.mdpi.com/2079-9292/13/19/3876</a:t>
            </a:r>
            <a:r>
              <a:rPr lang="en-AU" sz="1200" dirty="0">
                <a:effectLst/>
                <a:latin typeface="Arial" panose="020B0604020202020204" pitchFamily="34" charset="0"/>
                <a:ea typeface="MS Mincho" panose="02020609040205080304" pitchFamily="49" charset="-128"/>
                <a:cs typeface="Arial" panose="020B0604020202020204" pitchFamily="34" charset="0"/>
              </a:rPr>
              <a:t>.</a:t>
            </a:r>
          </a:p>
          <a:p>
            <a:pPr marL="342900" lvl="0" indent="-342900">
              <a:spcAft>
                <a:spcPts val="1000"/>
              </a:spcAft>
              <a:buFont typeface="+mj-lt"/>
              <a:buAutoNum type="arabicPeriod"/>
              <a:tabLst>
                <a:tab pos="457200" algn="l"/>
              </a:tabLst>
            </a:pPr>
            <a:r>
              <a:rPr lang="en-AU" sz="1200" dirty="0">
                <a:effectLst/>
                <a:latin typeface="Arial" panose="020B0604020202020204" pitchFamily="34" charset="0"/>
                <a:ea typeface="MS Mincho" panose="02020609040205080304" pitchFamily="49" charset="-128"/>
                <a:cs typeface="Arial" panose="020B0604020202020204" pitchFamily="34" charset="0"/>
              </a:rPr>
              <a:t>Peters, M.E., Neumann, M., </a:t>
            </a:r>
            <a:r>
              <a:rPr lang="en-AU" sz="1200" dirty="0" err="1">
                <a:effectLst/>
                <a:latin typeface="Arial" panose="020B0604020202020204" pitchFamily="34" charset="0"/>
                <a:ea typeface="MS Mincho" panose="02020609040205080304" pitchFamily="49" charset="-128"/>
                <a:cs typeface="Arial" panose="020B0604020202020204" pitchFamily="34" charset="0"/>
              </a:rPr>
              <a:t>Iyyer</a:t>
            </a:r>
            <a:r>
              <a:rPr lang="en-AU" sz="1200" dirty="0">
                <a:effectLst/>
                <a:latin typeface="Arial" panose="020B0604020202020204" pitchFamily="34" charset="0"/>
                <a:ea typeface="MS Mincho" panose="02020609040205080304" pitchFamily="49" charset="-128"/>
                <a:cs typeface="Arial" panose="020B0604020202020204" pitchFamily="34" charset="0"/>
              </a:rPr>
              <a:t>, M., Gardner, M., Clark, C., Lee, K. and </a:t>
            </a:r>
            <a:r>
              <a:rPr lang="en-AU" sz="1200" dirty="0" err="1">
                <a:effectLst/>
                <a:latin typeface="Arial" panose="020B0604020202020204" pitchFamily="34" charset="0"/>
                <a:ea typeface="MS Mincho" panose="02020609040205080304" pitchFamily="49" charset="-128"/>
                <a:cs typeface="Arial" panose="020B0604020202020204" pitchFamily="34" charset="0"/>
              </a:rPr>
              <a:t>Zettlemoyer</a:t>
            </a:r>
            <a:r>
              <a:rPr lang="en-AU" sz="1200" dirty="0">
                <a:effectLst/>
                <a:latin typeface="Arial" panose="020B0604020202020204" pitchFamily="34" charset="0"/>
                <a:ea typeface="MS Mincho" panose="02020609040205080304" pitchFamily="49" charset="-128"/>
                <a:cs typeface="Arial" panose="020B0604020202020204" pitchFamily="34" charset="0"/>
              </a:rPr>
              <a:t>, L., 2018. Deep Contextualized Word Representations. </a:t>
            </a:r>
            <a:r>
              <a:rPr lang="en-AU" sz="1200" i="1" dirty="0">
                <a:effectLst/>
                <a:latin typeface="Arial" panose="020B0604020202020204" pitchFamily="34" charset="0"/>
                <a:ea typeface="MS Mincho" panose="02020609040205080304" pitchFamily="49" charset="-128"/>
                <a:cs typeface="Arial" panose="020B0604020202020204" pitchFamily="34" charset="0"/>
              </a:rPr>
              <a:t>Proceedings of the 2018 Conference of the North American Chapter of the Association for Computational Linguistics: Human Language Technologies, Volume 1 (Long Papers)</a:t>
            </a:r>
            <a:r>
              <a:rPr lang="en-AU" sz="1200" dirty="0">
                <a:effectLst/>
                <a:latin typeface="Arial" panose="020B0604020202020204" pitchFamily="34" charset="0"/>
                <a:ea typeface="MS Mincho" panose="02020609040205080304" pitchFamily="49" charset="-128"/>
                <a:cs typeface="Arial" panose="020B0604020202020204" pitchFamily="34" charset="0"/>
              </a:rPr>
              <a:t>, pp.2227-2237. Available at: https://</a:t>
            </a:r>
            <a:r>
              <a:rPr lang="en-AU" sz="1200" dirty="0" err="1">
                <a:effectLst/>
                <a:latin typeface="Arial" panose="020B0604020202020204" pitchFamily="34" charset="0"/>
                <a:ea typeface="MS Mincho" panose="02020609040205080304" pitchFamily="49" charset="-128"/>
                <a:cs typeface="Arial" panose="020B0604020202020204" pitchFamily="34" charset="0"/>
              </a:rPr>
              <a:t>aclanthology.org</a:t>
            </a:r>
            <a:r>
              <a:rPr lang="en-AU" sz="1200" dirty="0">
                <a:effectLst/>
                <a:latin typeface="Arial" panose="020B0604020202020204" pitchFamily="34" charset="0"/>
                <a:ea typeface="MS Mincho" panose="02020609040205080304" pitchFamily="49" charset="-128"/>
                <a:cs typeface="Arial" panose="020B0604020202020204" pitchFamily="34" charset="0"/>
              </a:rPr>
              <a:t>/N18-1202/.</a:t>
            </a:r>
          </a:p>
          <a:p>
            <a:pPr marL="342900" lvl="0" indent="-342900">
              <a:spcAft>
                <a:spcPts val="1000"/>
              </a:spcAft>
              <a:buFont typeface="+mj-lt"/>
              <a:buAutoNum type="arabicPeriod"/>
              <a:tabLst>
                <a:tab pos="457200" algn="l"/>
              </a:tabLst>
            </a:pPr>
            <a:r>
              <a:rPr lang="en-AU" sz="1200" dirty="0">
                <a:effectLst/>
                <a:latin typeface="Arial" panose="020B0604020202020204" pitchFamily="34" charset="0"/>
                <a:ea typeface="MS Mincho" panose="02020609040205080304" pitchFamily="49" charset="-128"/>
                <a:cs typeface="Arial" panose="020B0604020202020204" pitchFamily="34" charset="0"/>
              </a:rPr>
              <a:t>Yang, X., Zhang, Y., Chen, D., Zhang, Y., Zhang, Y. and Wang, B., 2022. </a:t>
            </a:r>
            <a:r>
              <a:rPr lang="en-AU" sz="1200" dirty="0" err="1">
                <a:effectLst/>
                <a:latin typeface="Arial" panose="020B0604020202020204" pitchFamily="34" charset="0"/>
                <a:ea typeface="MS Mincho" panose="02020609040205080304" pitchFamily="49" charset="-128"/>
                <a:cs typeface="Arial" panose="020B0604020202020204" pitchFamily="34" charset="0"/>
              </a:rPr>
              <a:t>FinBERT</a:t>
            </a:r>
            <a:r>
              <a:rPr lang="en-AU" sz="1200" dirty="0">
                <a:effectLst/>
                <a:latin typeface="Arial" panose="020B0604020202020204" pitchFamily="34" charset="0"/>
                <a:ea typeface="MS Mincho" panose="02020609040205080304" pitchFamily="49" charset="-128"/>
                <a:cs typeface="Arial" panose="020B0604020202020204" pitchFamily="34" charset="0"/>
              </a:rPr>
              <a:t>: A Pretrained Language Model for Financial Text Mining. </a:t>
            </a:r>
            <a:r>
              <a:rPr lang="en-AU" sz="1200" i="1" dirty="0">
                <a:effectLst/>
                <a:latin typeface="Arial" panose="020B0604020202020204" pitchFamily="34" charset="0"/>
                <a:ea typeface="MS Mincho" panose="02020609040205080304" pitchFamily="49" charset="-128"/>
                <a:cs typeface="Arial" panose="020B0604020202020204" pitchFamily="34" charset="0"/>
              </a:rPr>
              <a:t>IEEE Access</a:t>
            </a:r>
            <a:r>
              <a:rPr lang="en-AU" sz="1200" dirty="0">
                <a:effectLst/>
                <a:latin typeface="Arial" panose="020B0604020202020204" pitchFamily="34" charset="0"/>
                <a:ea typeface="MS Mincho" panose="02020609040205080304" pitchFamily="49" charset="-128"/>
                <a:cs typeface="Arial" panose="020B0604020202020204" pitchFamily="34" charset="0"/>
              </a:rPr>
              <a:t>, 8, pp.171683-171698. Available at: </a:t>
            </a:r>
            <a:r>
              <a:rPr lang="en-AU" sz="1200" u="sng" dirty="0">
                <a:solidFill>
                  <a:srgbClr val="0000FF"/>
                </a:solidFill>
                <a:effectLst/>
                <a:latin typeface="Arial" panose="020B0604020202020204" pitchFamily="34" charset="0"/>
                <a:ea typeface="MS Mincho" panose="02020609040205080304" pitchFamily="49" charset="-128"/>
                <a:cs typeface="Arial" panose="020B0604020202020204" pitchFamily="34" charset="0"/>
                <a:hlinkClick r:id="rId11"/>
              </a:rPr>
              <a:t>https://ieeexplore.ieee.org/document/9206570</a:t>
            </a:r>
            <a:r>
              <a:rPr lang="en-AU" sz="1200" dirty="0">
                <a:effectLst/>
                <a:latin typeface="Arial" panose="020B0604020202020204" pitchFamily="34" charset="0"/>
                <a:ea typeface="MS Mincho" panose="02020609040205080304" pitchFamily="49" charset="-128"/>
                <a:cs typeface="Arial" panose="020B0604020202020204" pitchFamily="34" charset="0"/>
              </a:rPr>
              <a:t>.</a:t>
            </a:r>
          </a:p>
          <a:p>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2814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6796</TotalTime>
  <Words>5125</Words>
  <Application>Microsoft Macintosh PowerPoint</Application>
  <PresentationFormat>Widescreen</PresentationFormat>
  <Paragraphs>1224</Paragraphs>
  <Slides>32</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Avenir</vt:lpstr>
      <vt:lpstr>Calibri</vt:lpstr>
      <vt:lpstr>Calibri Light</vt:lpstr>
      <vt:lpstr>Wingdings</vt:lpstr>
      <vt:lpstr>Office Theme</vt:lpstr>
      <vt:lpstr>PowerPoint Presentation</vt:lpstr>
      <vt:lpstr>Motivation</vt:lpstr>
      <vt:lpstr>Problem Statement</vt:lpstr>
      <vt:lpstr>Literature Review: Overall</vt:lpstr>
      <vt:lpstr>Literature Review</vt:lpstr>
      <vt:lpstr>Literature Review</vt:lpstr>
      <vt:lpstr>Literature Review</vt:lpstr>
      <vt:lpstr>Literature Review</vt:lpstr>
      <vt:lpstr>Literature Review</vt:lpstr>
      <vt:lpstr>Dataset &amp; Data Exploration</vt:lpstr>
      <vt:lpstr>Data Pre-processing</vt:lpstr>
      <vt:lpstr>Method(s)</vt:lpstr>
      <vt:lpstr>Method(s)</vt:lpstr>
      <vt:lpstr>Method(s)</vt:lpstr>
      <vt:lpstr>Results</vt:lpstr>
      <vt:lpstr>PowerPoint Presentation</vt:lpstr>
      <vt:lpstr>PowerPoint Presentation</vt:lpstr>
      <vt:lpstr>Discussion</vt:lpstr>
      <vt:lpstr>Conclusion</vt:lpstr>
      <vt:lpstr>PowerPoint Presentation</vt:lpstr>
      <vt:lpstr>PowerPoint Presentation</vt:lpstr>
      <vt:lpstr>Literature Review – Datasets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Shisheng Zhang</dc:creator>
  <cp:lastModifiedBy>Nigel Li</cp:lastModifiedBy>
  <cp:revision>55</cp:revision>
  <dcterms:created xsi:type="dcterms:W3CDTF">2022-11-14T00:04:04Z</dcterms:created>
  <dcterms:modified xsi:type="dcterms:W3CDTF">2024-11-15T06:42:47Z</dcterms:modified>
</cp:coreProperties>
</file>